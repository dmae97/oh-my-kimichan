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Malgun Gothic"/>
        <a:ea typeface="맑은 고딕"/>
        <a:cs typeface="Malgun Gothic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Malgun Gothic"/>
        <a:ea typeface="맑은 고딕"/>
        <a:cs typeface="Malgun Gothic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Malgun Gothic"/>
        <a:ea typeface="맑은 고딕"/>
        <a:cs typeface="Malgun Gothic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Malgun Gothic"/>
        <a:ea typeface="맑은 고딕"/>
        <a:cs typeface="Malgun Gothic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Malgun Gothic"/>
        <a:ea typeface="맑은 고딕"/>
        <a:cs typeface="Malgun Gothic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Malgun Gothic"/>
        <a:ea typeface="맑은 고딕"/>
        <a:cs typeface="Malgun Gothic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Malgun Gothic"/>
        <a:ea typeface="맑은 고딕"/>
        <a:cs typeface="Malgun Gothic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Malgun Gothic"/>
        <a:ea typeface="맑은 고딕"/>
        <a:cs typeface="Malgun Gothic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Malgun Gothic"/>
        <a:ea typeface="맑은 고딕"/>
        <a:cs typeface="Malgun Gothic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algun Gothic"/>
          <a:ea typeface="맑은 고딕"/>
          <a:cs typeface="Malgun Gothic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Malgun Gothic"/>
          <a:ea typeface="맑은 고딕"/>
          <a:cs typeface="Malgun Gothic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Malgun Gothic"/>
          <a:ea typeface="맑은 고딕"/>
          <a:cs typeface="Malgun Gothic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Malgun Gothic"/>
          <a:ea typeface="맑은 고딕"/>
          <a:cs typeface="Malgun Gothic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Malgun Gothic"/>
          <a:ea typeface="맑은 고딕"/>
          <a:cs typeface="Malgun Gothic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Malgun Gothic"/>
          <a:ea typeface="맑은 고딕"/>
          <a:cs typeface="Malgun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Malgun Gothic"/>
          <a:ea typeface="맑은 고딕"/>
          <a:cs typeface="Malgun Gothic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Malgun Gothic"/>
          <a:ea typeface="맑은 고딕"/>
          <a:cs typeface="Malgun Gothic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Malgun Gothic"/>
          <a:ea typeface="맑은 고딕"/>
          <a:cs typeface="Malgun Gothic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Malgun Gothic"/>
          <a:ea typeface="맑은 고딕"/>
          <a:cs typeface="Malgun Gothic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Malgun Gothic"/>
          <a:ea typeface="맑은 고딕"/>
          <a:cs typeface="Malgun Gothic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Malgun Gothic"/>
          <a:ea typeface="맑은 고딕"/>
          <a:cs typeface="Malgun Gothic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Malgun Gothic"/>
          <a:ea typeface="맑은 고딕"/>
          <a:cs typeface="Malgun Gothic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Malgun Gothic"/>
          <a:ea typeface="맑은 고딕"/>
          <a:cs typeface="Malgun Gothic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Malgun Gothic"/>
          <a:ea typeface="맑은 고딕"/>
          <a:cs typeface="Malgun Gothic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Malgun Gothic"/>
          <a:ea typeface="맑은 고딕"/>
          <a:cs typeface="Malgun Gothic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Malgun Gothic"/>
          <a:ea typeface="맑은 고딕"/>
          <a:cs typeface="Malgun Gothic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Malgun Gothic"/>
          <a:ea typeface="맑은 고딕"/>
          <a:cs typeface="Malgun Gothic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Malgun Gothic"/>
          <a:ea typeface="맑은 고딕"/>
          <a:cs typeface="Malgun Gothic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gg_peak_pil_render/slides/slid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anim_title_microbar"/>
          <p:cNvSpPr/>
          <p:nvPr/>
        </p:nvSpPr>
        <p:spPr>
          <a:xfrm>
            <a:off x="1000125" y="2781300"/>
            <a:ext cx="1857375" cy="28575"/>
          </a:xfrm>
          <a:prstGeom prst="roundRect">
            <a:avLst/>
          </a:prstGeom>
          <a:solidFill>
            <a:srgbClr val="FBBF24">
              <a:alpha val="43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gg_peak_pil_render/slides/slide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anim_toc_row_1"/>
          <p:cNvSpPr/>
          <p:nvPr/>
        </p:nvSpPr>
        <p:spPr>
          <a:xfrm>
            <a:off x="1428750" y="1381125"/>
            <a:ext cx="10096500" cy="25718"/>
          </a:xfrm>
          <a:prstGeom prst="roundRect">
            <a:avLst/>
          </a:prstGeom>
          <a:solidFill>
            <a:srgbClr val="FBBF24">
              <a:alpha val="26000"/>
            </a:srgbClr>
          </a:solidFill>
          <a:ln>
            <a:noFill/>
          </a:ln>
        </p:spPr>
      </p:sp>
      <p:sp>
        <p:nvSpPr>
          <p:cNvPr id="21" name="anim_toc_row_2"/>
          <p:cNvSpPr/>
          <p:nvPr/>
        </p:nvSpPr>
        <p:spPr>
          <a:xfrm>
            <a:off x="1428750" y="2209800"/>
            <a:ext cx="10096500" cy="25718"/>
          </a:xfrm>
          <a:prstGeom prst="roundRect">
            <a:avLst/>
          </a:prstGeom>
          <a:solidFill>
            <a:srgbClr val="FBBF24">
              <a:alpha val="26000"/>
            </a:srgbClr>
          </a:solidFill>
          <a:ln>
            <a:noFill/>
          </a:ln>
        </p:spPr>
      </p:sp>
      <p:sp>
        <p:nvSpPr>
          <p:cNvPr id="22" name="anim_toc_row_3"/>
          <p:cNvSpPr/>
          <p:nvPr/>
        </p:nvSpPr>
        <p:spPr>
          <a:xfrm>
            <a:off x="1428750" y="3038475"/>
            <a:ext cx="10096500" cy="25718"/>
          </a:xfrm>
          <a:prstGeom prst="roundRect">
            <a:avLst/>
          </a:prstGeom>
          <a:solidFill>
            <a:srgbClr val="FBBF24">
              <a:alpha val="26000"/>
            </a:srgbClr>
          </a:solidFill>
          <a:ln>
            <a:noFill/>
          </a:ln>
        </p:spPr>
      </p:sp>
      <p:sp>
        <p:nvSpPr>
          <p:cNvPr id="23" name="anim_toc_row_4"/>
          <p:cNvSpPr/>
          <p:nvPr/>
        </p:nvSpPr>
        <p:spPr>
          <a:xfrm>
            <a:off x="1428750" y="3867150"/>
            <a:ext cx="10096500" cy="25718"/>
          </a:xfrm>
          <a:prstGeom prst="roundRect">
            <a:avLst/>
          </a:prstGeom>
          <a:solidFill>
            <a:srgbClr val="FBBF24">
              <a:alpha val="26000"/>
            </a:srgbClr>
          </a:solidFill>
          <a:ln>
            <a:noFill/>
          </a:ln>
        </p:spPr>
      </p:sp>
      <p:sp>
        <p:nvSpPr>
          <p:cNvPr id="24" name="anim_toc_row_5"/>
          <p:cNvSpPr/>
          <p:nvPr/>
        </p:nvSpPr>
        <p:spPr>
          <a:xfrm>
            <a:off x="1428750" y="4695825"/>
            <a:ext cx="10096500" cy="25718"/>
          </a:xfrm>
          <a:prstGeom prst="roundRect">
            <a:avLst/>
          </a:prstGeom>
          <a:solidFill>
            <a:srgbClr val="FBBF24">
              <a:alpha val="26000"/>
            </a:srgbClr>
          </a:solidFill>
          <a:ln>
            <a:noFill/>
          </a:ln>
        </p:spPr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gg_peak_pil_render/slides/slide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anim_chapter_bar"/>
          <p:cNvSpPr/>
          <p:nvPr/>
        </p:nvSpPr>
        <p:spPr>
          <a:xfrm>
            <a:off x="1000125" y="2476500"/>
            <a:ext cx="876300" cy="38100"/>
          </a:xfrm>
          <a:prstGeom prst="roundRect">
            <a:avLst/>
          </a:prstGeom>
          <a:solidFill>
            <a:srgbClr val="FBBF24">
              <a:alpha val="43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1" name="anim_chapter_orb"/>
          <p:cNvSpPr/>
          <p:nvPr/>
        </p:nvSpPr>
        <p:spPr>
          <a:xfrm>
            <a:off x="8667750" y="4524375"/>
            <a:ext cx="647700" cy="647700"/>
          </a:xfrm>
          <a:prstGeom prst="ellipse">
            <a:avLst/>
          </a:prstGeom>
          <a:solidFill>
            <a:srgbClr val="FBBF24">
              <a:alpha val="2800"/>
            </a:srgbClr>
          </a:solidFill>
          <a:ln w="8890" cap="flat">
            <a:solidFill>
              <a:srgbClr val="FBBF24">
                <a:alpha val="12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gg_peak_pil_render/slides/slide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anim_chart_frame_trend-chart"/>
          <p:cNvSpPr/>
          <p:nvPr/>
        </p:nvSpPr>
        <p:spPr>
          <a:xfrm>
            <a:off x="542925" y="3019425"/>
            <a:ext cx="5010150" cy="2533650"/>
          </a:xfrm>
          <a:prstGeom prst="roundRect">
            <a:avLst/>
          </a:prstGeom>
          <a:noFill/>
          <a:ln w="14605" cap="flat">
            <a:solidFill>
              <a:srgbClr val="FBBF24">
                <a:alpha val="46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1" name="anim_chart_baseline_trend-chart"/>
          <p:cNvSpPr/>
          <p:nvPr/>
        </p:nvSpPr>
        <p:spPr>
          <a:xfrm>
            <a:off x="819150" y="5200650"/>
            <a:ext cx="4457700" cy="111442"/>
          </a:xfrm>
          <a:prstGeom prst="roundRect">
            <a:avLst/>
          </a:prstGeom>
          <a:solidFill>
            <a:srgbClr val="FBBF24">
              <a:alpha val="45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2" name="anim_chart_scan_trend-chart_0"/>
          <p:cNvSpPr/>
          <p:nvPr/>
        </p:nvSpPr>
        <p:spPr>
          <a:xfrm>
            <a:off x="1809750" y="3276600"/>
            <a:ext cx="89154" cy="182880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23" name="anim_chart_scan_trend-chart_1"/>
          <p:cNvSpPr/>
          <p:nvPr/>
        </p:nvSpPr>
        <p:spPr>
          <a:xfrm>
            <a:off x="3147060" y="3276600"/>
            <a:ext cx="89154" cy="182880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24" name="anim_chart_scan_trend-chart_2"/>
          <p:cNvSpPr/>
          <p:nvPr/>
        </p:nvSpPr>
        <p:spPr>
          <a:xfrm>
            <a:off x="4434840" y="3276600"/>
            <a:ext cx="89154" cy="182880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25" name="anim_chart_dot_trend-chart_0"/>
          <p:cNvSpPr/>
          <p:nvPr/>
        </p:nvSpPr>
        <p:spPr>
          <a:xfrm>
            <a:off x="1905953" y="4580572"/>
            <a:ext cx="104775" cy="104775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6" name="anim_chart_dot_trend-chart_1"/>
          <p:cNvSpPr/>
          <p:nvPr/>
        </p:nvSpPr>
        <p:spPr>
          <a:xfrm>
            <a:off x="3391852" y="4184332"/>
            <a:ext cx="104775" cy="104775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7" name="anim_chart_dot_trend-chart_2"/>
          <p:cNvSpPr/>
          <p:nvPr/>
        </p:nvSpPr>
        <p:spPr>
          <a:xfrm>
            <a:off x="4615815" y="3724275"/>
            <a:ext cx="133350" cy="133350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8" name="anim_box_frame_card1-bg"/>
          <p:cNvSpPr/>
          <p:nvPr/>
        </p:nvSpPr>
        <p:spPr>
          <a:xfrm>
            <a:off x="5886450" y="1457325"/>
            <a:ext cx="2895600" cy="1943100"/>
          </a:xfrm>
          <a:prstGeom prst="roundRect">
            <a:avLst/>
          </a:prstGeom>
          <a:noFill/>
          <a:ln w="16510" cap="flat">
            <a:solidFill>
              <a:srgbClr val="FBBF24">
                <a:alpha val="40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9" name="anim_box_bar_card1-bg"/>
          <p:cNvSpPr/>
          <p:nvPr/>
        </p:nvSpPr>
        <p:spPr>
          <a:xfrm>
            <a:off x="6038850" y="1543050"/>
            <a:ext cx="628650" cy="28575"/>
          </a:xfrm>
          <a:prstGeom prst="roundRect">
            <a:avLst/>
          </a:prstGeom>
          <a:solidFill>
            <a:srgbClr val="FBBF24">
              <a:alpha val="36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0" name="anim_box_frame_card2-bg"/>
          <p:cNvSpPr/>
          <p:nvPr/>
        </p:nvSpPr>
        <p:spPr>
          <a:xfrm>
            <a:off x="8934450" y="1457325"/>
            <a:ext cx="2705100" cy="1943100"/>
          </a:xfrm>
          <a:prstGeom prst="roundRect">
            <a:avLst/>
          </a:prstGeom>
          <a:noFill/>
          <a:ln w="16510" cap="flat">
            <a:solidFill>
              <a:srgbClr val="FBBF24">
                <a:alpha val="40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1" name="anim_box_bar_card2-bg"/>
          <p:cNvSpPr/>
          <p:nvPr/>
        </p:nvSpPr>
        <p:spPr>
          <a:xfrm>
            <a:off x="9086850" y="1543050"/>
            <a:ext cx="586740" cy="28575"/>
          </a:xfrm>
          <a:prstGeom prst="roundRect">
            <a:avLst/>
          </a:prstGeom>
          <a:solidFill>
            <a:srgbClr val="FBBF24">
              <a:alpha val="36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2" name="anim_box_frame_card3-bg"/>
          <p:cNvSpPr/>
          <p:nvPr/>
        </p:nvSpPr>
        <p:spPr>
          <a:xfrm>
            <a:off x="5886450" y="3600450"/>
            <a:ext cx="2895600" cy="1943100"/>
          </a:xfrm>
          <a:prstGeom prst="roundRect">
            <a:avLst/>
          </a:prstGeom>
          <a:noFill/>
          <a:ln w="16510" cap="flat">
            <a:solidFill>
              <a:srgbClr val="FBBF24">
                <a:alpha val="40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3" name="anim_box_bar_card3-bg"/>
          <p:cNvSpPr/>
          <p:nvPr/>
        </p:nvSpPr>
        <p:spPr>
          <a:xfrm>
            <a:off x="6038850" y="3686175"/>
            <a:ext cx="628650" cy="28575"/>
          </a:xfrm>
          <a:prstGeom prst="roundRect">
            <a:avLst/>
          </a:prstGeom>
          <a:solidFill>
            <a:srgbClr val="FBBF24">
              <a:alpha val="36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4" name="anim_box_frame_card4-bg"/>
          <p:cNvSpPr/>
          <p:nvPr/>
        </p:nvSpPr>
        <p:spPr>
          <a:xfrm>
            <a:off x="8934450" y="3600450"/>
            <a:ext cx="2705100" cy="1943100"/>
          </a:xfrm>
          <a:prstGeom prst="roundRect">
            <a:avLst/>
          </a:prstGeom>
          <a:noFill/>
          <a:ln w="16510" cap="flat">
            <a:solidFill>
              <a:srgbClr val="FBBF24">
                <a:alpha val="40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5" name="anim_box_bar_card4-bg"/>
          <p:cNvSpPr/>
          <p:nvPr/>
        </p:nvSpPr>
        <p:spPr>
          <a:xfrm>
            <a:off x="9086850" y="3686175"/>
            <a:ext cx="586740" cy="28575"/>
          </a:xfrm>
          <a:prstGeom prst="roundRect">
            <a:avLst/>
          </a:prstGeom>
          <a:solidFill>
            <a:srgbClr val="FBBF24">
              <a:alpha val="36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6" name="mg_cover_trend-chart"/>
          <p:cNvSpPr/>
          <p:nvPr/>
        </p:nvSpPr>
        <p:spPr>
          <a:xfrm>
            <a:off x="571500" y="3048000"/>
            <a:ext cx="4953000" cy="2476500"/>
          </a:xfrm>
          <a:prstGeom prst="rect">
            <a:avLst/>
          </a:prstGeom>
          <a:solidFill>
            <a:srgbClr val="1A1033"/>
          </a:solidFill>
          <a:ln w="12700" cap="flat">
            <a:solidFill>
              <a:srgbClr val="4C1D95"/>
            </a:solidFill>
          </a:ln>
          <a:effectLst>
            <a:glow rad="47625">
              <a:srgbClr val="FBBF24">
                <a:alpha val="26000"/>
              </a:srgbClr>
            </a:glow>
          </a:effectLst>
        </p:spPr>
      </p:sp>
      <p:sp>
        <p:nvSpPr>
          <p:cNvPr id="37" name="mg_title_trend-chart"/>
          <p:cNvSpPr txBox="1"/>
          <p:nvPr/>
        </p:nvSpPr>
        <p:spPr>
          <a:xfrm>
            <a:off x="685800" y="3143250"/>
            <a:ext cx="4724400" cy="2095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400" kern="1200" b="1">
                <a:solidFill>
                  <a:srgbClr val="FFFFFF"/>
                </a:solidFill>
                <a:latin typeface="Malgun Gothic"/>
                <a:ea typeface="맑은 고딕"/>
                <a:cs typeface="Malgun Gothic"/>
              </a:rPr>
              <a:t>산업용 전기요금 상승 추이 (원/kWh)</a:t>
            </a:r>
            <a:endParaRPr lang="ko-KR" sz="14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38" name="mg_grid_trend-chart_80"/>
          <p:cNvSpPr/>
          <p:nvPr/>
        </p:nvSpPr>
        <p:spPr>
          <a:xfrm>
            <a:off x="1123950" y="5124450"/>
            <a:ext cx="4114800" cy="7620"/>
          </a:xfrm>
          <a:prstGeom prst="rect">
            <a:avLst/>
          </a:prstGeom>
          <a:solidFill>
            <a:srgbClr val="4C1D95">
              <a:alpha val="28000"/>
            </a:srgbClr>
          </a:solidFill>
          <a:ln w="0" cap="flat">
            <a:noFill/>
          </a:ln>
        </p:spPr>
      </p:sp>
      <p:sp>
        <p:nvSpPr>
          <p:cNvPr id="39" name="mg_ytick_trend-chart_80"/>
          <p:cNvSpPr txBox="1"/>
          <p:nvPr/>
        </p:nvSpPr>
        <p:spPr>
          <a:xfrm>
            <a:off x="647700" y="5048250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80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0" name="mg_grid_trend-chart_100"/>
          <p:cNvSpPr/>
          <p:nvPr/>
        </p:nvSpPr>
        <p:spPr>
          <a:xfrm>
            <a:off x="1123950" y="4722019"/>
            <a:ext cx="4114800" cy="7620"/>
          </a:xfrm>
          <a:prstGeom prst="rect">
            <a:avLst/>
          </a:prstGeom>
          <a:solidFill>
            <a:srgbClr val="4C1D95">
              <a:alpha val="28000"/>
            </a:srgbClr>
          </a:solidFill>
          <a:ln w="0" cap="flat">
            <a:noFill/>
          </a:ln>
        </p:spPr>
      </p:sp>
      <p:sp>
        <p:nvSpPr>
          <p:cNvPr id="41" name="mg_ytick_trend-chart_100"/>
          <p:cNvSpPr txBox="1"/>
          <p:nvPr/>
        </p:nvSpPr>
        <p:spPr>
          <a:xfrm>
            <a:off x="647700" y="4645819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100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2" name="mg_grid_trend-chart_120"/>
          <p:cNvSpPr/>
          <p:nvPr/>
        </p:nvSpPr>
        <p:spPr>
          <a:xfrm>
            <a:off x="1123950" y="4319588"/>
            <a:ext cx="4114800" cy="7620"/>
          </a:xfrm>
          <a:prstGeom prst="rect">
            <a:avLst/>
          </a:prstGeom>
          <a:solidFill>
            <a:srgbClr val="4C1D95">
              <a:alpha val="28000"/>
            </a:srgbClr>
          </a:solidFill>
          <a:ln w="0" cap="flat">
            <a:noFill/>
          </a:ln>
        </p:spPr>
      </p:sp>
      <p:sp>
        <p:nvSpPr>
          <p:cNvPr id="43" name="mg_ytick_trend-chart_120"/>
          <p:cNvSpPr txBox="1"/>
          <p:nvPr/>
        </p:nvSpPr>
        <p:spPr>
          <a:xfrm>
            <a:off x="647700" y="4243388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120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4" name="mg_grid_trend-chart_140"/>
          <p:cNvSpPr/>
          <p:nvPr/>
        </p:nvSpPr>
        <p:spPr>
          <a:xfrm>
            <a:off x="1123950" y="3917156"/>
            <a:ext cx="4114800" cy="7620"/>
          </a:xfrm>
          <a:prstGeom prst="rect">
            <a:avLst/>
          </a:prstGeom>
          <a:solidFill>
            <a:srgbClr val="4C1D95">
              <a:alpha val="28000"/>
            </a:srgbClr>
          </a:solidFill>
          <a:ln w="0" cap="flat">
            <a:noFill/>
          </a:ln>
        </p:spPr>
      </p:sp>
      <p:sp>
        <p:nvSpPr>
          <p:cNvPr id="45" name="mg_ytick_trend-chart_140"/>
          <p:cNvSpPr txBox="1"/>
          <p:nvPr/>
        </p:nvSpPr>
        <p:spPr>
          <a:xfrm>
            <a:off x="647700" y="3840956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140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6" name="mg_grid_trend-chart_160"/>
          <p:cNvSpPr/>
          <p:nvPr/>
        </p:nvSpPr>
        <p:spPr>
          <a:xfrm>
            <a:off x="1123950" y="3514725"/>
            <a:ext cx="4114800" cy="7620"/>
          </a:xfrm>
          <a:prstGeom prst="rect">
            <a:avLst/>
          </a:prstGeom>
          <a:solidFill>
            <a:srgbClr val="4C1D95">
              <a:alpha val="28000"/>
            </a:srgbClr>
          </a:solidFill>
          <a:ln w="0" cap="flat">
            <a:noFill/>
          </a:ln>
        </p:spPr>
      </p:sp>
      <p:sp>
        <p:nvSpPr>
          <p:cNvPr id="47" name="mg_ytick_trend-chart_160"/>
          <p:cNvSpPr txBox="1"/>
          <p:nvPr/>
        </p:nvSpPr>
        <p:spPr>
          <a:xfrm>
            <a:off x="647700" y="3438525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160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8" name="mg_axis_trend-chart"/>
          <p:cNvSpPr/>
          <p:nvPr/>
        </p:nvSpPr>
        <p:spPr>
          <a:xfrm>
            <a:off x="1123950" y="5124450"/>
            <a:ext cx="4114800" cy="11430"/>
          </a:xfrm>
          <a:prstGeom prst="rect">
            <a:avLst/>
          </a:prstGeom>
          <a:solidFill>
            <a:srgbClr val="4C1D95"/>
          </a:solidFill>
          <a:ln w="0" cap="flat">
            <a:noFill/>
          </a:ln>
        </p:spPr>
      </p:sp>
      <p:sp>
        <p:nvSpPr>
          <p:cNvPr id="49" name="mg_xcat_trend-chart_0"/>
          <p:cNvSpPr txBox="1"/>
          <p:nvPr/>
        </p:nvSpPr>
        <p:spPr>
          <a:xfrm>
            <a:off x="1123950" y="5172075"/>
            <a:ext cx="102870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200" kern="1200">
                <a:solidFill>
                  <a:srgbClr val="FFFFFF"/>
                </a:solidFill>
                <a:latin typeface="Malgun Gothic"/>
                <a:ea typeface="맑은 고딕"/>
                <a:cs typeface="Malgun Gothic"/>
              </a:rPr>
              <a:t>2022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50" name="mg_barseg_trend-chart_0_0_0"/>
          <p:cNvSpPr/>
          <p:nvPr/>
        </p:nvSpPr>
        <p:spPr>
          <a:xfrm>
            <a:off x="1362075" y="5069116"/>
            <a:ext cx="552450" cy="59144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1" name="mg_barseg_trend-chart_0_0_1"/>
          <p:cNvSpPr/>
          <p:nvPr/>
        </p:nvSpPr>
        <p:spPr>
          <a:xfrm>
            <a:off x="1362075" y="5013781"/>
            <a:ext cx="552450" cy="59144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2" name="mg_barseg_trend-chart_0_0_2"/>
          <p:cNvSpPr/>
          <p:nvPr/>
        </p:nvSpPr>
        <p:spPr>
          <a:xfrm>
            <a:off x="1362075" y="4958447"/>
            <a:ext cx="552450" cy="59144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3" name="mg_barseg_trend-chart_0_0_3"/>
          <p:cNvSpPr/>
          <p:nvPr/>
        </p:nvSpPr>
        <p:spPr>
          <a:xfrm>
            <a:off x="1362075" y="4903113"/>
            <a:ext cx="552450" cy="59144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4" name="mg_barlabel_trend-chart_0_0"/>
          <p:cNvSpPr txBox="1"/>
          <p:nvPr/>
        </p:nvSpPr>
        <p:spPr>
          <a:xfrm>
            <a:off x="1190625" y="4674513"/>
            <a:ext cx="89535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400" kern="1200">
                <a:solidFill>
                  <a:srgbClr val="FFFFFF"/>
                </a:solidFill>
                <a:latin typeface="Malgun Gothic"/>
                <a:ea typeface="맑은 고딕"/>
                <a:cs typeface="Malgun Gothic"/>
              </a:rPr>
              <a:t>91</a:t>
            </a:r>
            <a:endParaRPr lang="ko-KR" sz="14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55" name="mg_xcat_trend-chart_1"/>
          <p:cNvSpPr txBox="1"/>
          <p:nvPr/>
        </p:nvSpPr>
        <p:spPr>
          <a:xfrm>
            <a:off x="2152650" y="5172075"/>
            <a:ext cx="102870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200" kern="1200">
                <a:solidFill>
                  <a:srgbClr val="FFFFFF"/>
                </a:solidFill>
                <a:latin typeface="Malgun Gothic"/>
                <a:ea typeface="맑은 고딕"/>
                <a:cs typeface="Malgun Gothic"/>
              </a:rPr>
              <a:t>2023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56" name="mg_barseg_trend-chart_1_0_0"/>
          <p:cNvSpPr/>
          <p:nvPr/>
        </p:nvSpPr>
        <p:spPr>
          <a:xfrm>
            <a:off x="2390775" y="5023842"/>
            <a:ext cx="552450" cy="104418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7" name="mg_barseg_trend-chart_1_0_1"/>
          <p:cNvSpPr/>
          <p:nvPr/>
        </p:nvSpPr>
        <p:spPr>
          <a:xfrm>
            <a:off x="2390775" y="4923234"/>
            <a:ext cx="552450" cy="104418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8" name="mg_barseg_trend-chart_1_0_2"/>
          <p:cNvSpPr/>
          <p:nvPr/>
        </p:nvSpPr>
        <p:spPr>
          <a:xfrm>
            <a:off x="2390775" y="4822627"/>
            <a:ext cx="552450" cy="104418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9" name="mg_barseg_trend-chart_1_0_3"/>
          <p:cNvSpPr/>
          <p:nvPr/>
        </p:nvSpPr>
        <p:spPr>
          <a:xfrm>
            <a:off x="2390775" y="4722019"/>
            <a:ext cx="552450" cy="104418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0" name="mg_barseg_trend-chart_1_0_4"/>
          <p:cNvSpPr/>
          <p:nvPr/>
        </p:nvSpPr>
        <p:spPr>
          <a:xfrm>
            <a:off x="2390775" y="4621411"/>
            <a:ext cx="552450" cy="104418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1" name="mg_barlabel_trend-chart_1_0"/>
          <p:cNvSpPr txBox="1"/>
          <p:nvPr/>
        </p:nvSpPr>
        <p:spPr>
          <a:xfrm>
            <a:off x="2219325" y="4392811"/>
            <a:ext cx="89535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400" kern="1200">
                <a:solidFill>
                  <a:srgbClr val="FFFFFF"/>
                </a:solidFill>
                <a:latin typeface="Malgun Gothic"/>
                <a:ea typeface="맑은 고딕"/>
                <a:cs typeface="Malgun Gothic"/>
              </a:rPr>
              <a:t>105</a:t>
            </a:r>
            <a:endParaRPr lang="ko-KR" sz="14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2" name="mg_xcat_trend-chart_2"/>
          <p:cNvSpPr txBox="1"/>
          <p:nvPr/>
        </p:nvSpPr>
        <p:spPr>
          <a:xfrm>
            <a:off x="3181350" y="5172075"/>
            <a:ext cx="102870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200" kern="1200">
                <a:solidFill>
                  <a:srgbClr val="FFFFFF"/>
                </a:solidFill>
                <a:latin typeface="Malgun Gothic"/>
                <a:ea typeface="맑은 고딕"/>
                <a:cs typeface="Malgun Gothic"/>
              </a:rPr>
              <a:t>2024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3" name="mg_barseg_trend-chart_2_0_0"/>
          <p:cNvSpPr/>
          <p:nvPr/>
        </p:nvSpPr>
        <p:spPr>
          <a:xfrm>
            <a:off x="3419475" y="5015219"/>
            <a:ext cx="552450" cy="11304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4" name="mg_barseg_trend-chart_2_0_1"/>
          <p:cNvSpPr/>
          <p:nvPr/>
        </p:nvSpPr>
        <p:spPr>
          <a:xfrm>
            <a:off x="3419475" y="4905987"/>
            <a:ext cx="552450" cy="11304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5" name="mg_barseg_trend-chart_2_0_2"/>
          <p:cNvSpPr/>
          <p:nvPr/>
        </p:nvSpPr>
        <p:spPr>
          <a:xfrm>
            <a:off x="3419475" y="4796756"/>
            <a:ext cx="552450" cy="11304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6" name="mg_barseg_trend-chart_2_0_3"/>
          <p:cNvSpPr/>
          <p:nvPr/>
        </p:nvSpPr>
        <p:spPr>
          <a:xfrm>
            <a:off x="3419475" y="4687525"/>
            <a:ext cx="552450" cy="11304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7" name="mg_barseg_trend-chart_2_0_4"/>
          <p:cNvSpPr/>
          <p:nvPr/>
        </p:nvSpPr>
        <p:spPr>
          <a:xfrm>
            <a:off x="3419475" y="4578293"/>
            <a:ext cx="552450" cy="11304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8" name="mg_barseg_trend-chart_2_0_5"/>
          <p:cNvSpPr/>
          <p:nvPr/>
        </p:nvSpPr>
        <p:spPr>
          <a:xfrm>
            <a:off x="3419475" y="4469062"/>
            <a:ext cx="552450" cy="11304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9" name="mg_barseg_trend-chart_2_0_6"/>
          <p:cNvSpPr/>
          <p:nvPr/>
        </p:nvSpPr>
        <p:spPr>
          <a:xfrm>
            <a:off x="3419475" y="4359831"/>
            <a:ext cx="552450" cy="11304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0" name="mg_barlabel_trend-chart_2_0"/>
          <p:cNvSpPr txBox="1"/>
          <p:nvPr/>
        </p:nvSpPr>
        <p:spPr>
          <a:xfrm>
            <a:off x="3248025" y="4131231"/>
            <a:ext cx="89535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400" kern="1200">
                <a:solidFill>
                  <a:srgbClr val="FFFFFF"/>
                </a:solidFill>
                <a:latin typeface="Malgun Gothic"/>
                <a:ea typeface="맑은 고딕"/>
                <a:cs typeface="Malgun Gothic"/>
              </a:rPr>
              <a:t>118</a:t>
            </a:r>
            <a:endParaRPr lang="ko-KR" sz="14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71" name="mg_xcat_trend-chart_3"/>
          <p:cNvSpPr txBox="1"/>
          <p:nvPr/>
        </p:nvSpPr>
        <p:spPr>
          <a:xfrm>
            <a:off x="4210050" y="5172075"/>
            <a:ext cx="102870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200" kern="1200">
                <a:solidFill>
                  <a:srgbClr val="FFFFFF"/>
                </a:solidFill>
                <a:latin typeface="Malgun Gothic"/>
                <a:ea typeface="맑은 고딕"/>
                <a:cs typeface="Malgun Gothic"/>
              </a:rPr>
              <a:t>2025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72" name="mg_barseg_trend-chart_3_0_0"/>
          <p:cNvSpPr/>
          <p:nvPr/>
        </p:nvSpPr>
        <p:spPr>
          <a:xfrm>
            <a:off x="4448175" y="5003721"/>
            <a:ext cx="552450" cy="124539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3" name="mg_barseg_trend-chart_3_0_1"/>
          <p:cNvSpPr/>
          <p:nvPr/>
        </p:nvSpPr>
        <p:spPr>
          <a:xfrm>
            <a:off x="4448175" y="4882991"/>
            <a:ext cx="552450" cy="124539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4" name="mg_barseg_trend-chart_3_0_2"/>
          <p:cNvSpPr/>
          <p:nvPr/>
        </p:nvSpPr>
        <p:spPr>
          <a:xfrm>
            <a:off x="4448175" y="4762262"/>
            <a:ext cx="552450" cy="124539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5" name="mg_barseg_trend-chart_3_0_3"/>
          <p:cNvSpPr/>
          <p:nvPr/>
        </p:nvSpPr>
        <p:spPr>
          <a:xfrm>
            <a:off x="4448175" y="4641532"/>
            <a:ext cx="552450" cy="124539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6" name="mg_barseg_trend-chart_3_0_4"/>
          <p:cNvSpPr/>
          <p:nvPr/>
        </p:nvSpPr>
        <p:spPr>
          <a:xfrm>
            <a:off x="4448175" y="4520803"/>
            <a:ext cx="552450" cy="124539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7" name="mg_barseg_trend-chart_3_0_5"/>
          <p:cNvSpPr/>
          <p:nvPr/>
        </p:nvSpPr>
        <p:spPr>
          <a:xfrm>
            <a:off x="4448175" y="4400074"/>
            <a:ext cx="552450" cy="124539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8" name="mg_barseg_trend-chart_3_0_6"/>
          <p:cNvSpPr/>
          <p:nvPr/>
        </p:nvSpPr>
        <p:spPr>
          <a:xfrm>
            <a:off x="4448175" y="4279344"/>
            <a:ext cx="552450" cy="124539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9" name="mg_barseg_trend-chart_3_0_7"/>
          <p:cNvSpPr/>
          <p:nvPr/>
        </p:nvSpPr>
        <p:spPr>
          <a:xfrm>
            <a:off x="4448175" y="4158615"/>
            <a:ext cx="552450" cy="124539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80" name="mg_barlabel_trend-chart_3_0"/>
          <p:cNvSpPr txBox="1"/>
          <p:nvPr/>
        </p:nvSpPr>
        <p:spPr>
          <a:xfrm>
            <a:off x="4276725" y="3930015"/>
            <a:ext cx="89535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400" kern="1200">
                <a:solidFill>
                  <a:srgbClr val="FFFFFF"/>
                </a:solidFill>
                <a:latin typeface="Malgun Gothic"/>
                <a:ea typeface="맑은 고딕"/>
                <a:cs typeface="Malgun Gothic"/>
              </a:rPr>
              <a:t>128</a:t>
            </a:r>
            <a:endParaRPr lang="ko-KR" sz="1400">
              <a:latin typeface="Malgun Gothic"/>
              <a:ea typeface="맑은 고딕"/>
              <a:cs typeface="Malgun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clickEffect" fill="hold">
                <p:childTnLst>
                  <p:par>
                    <p:cTn id="3" nodeType="clickEffect" fill="hold" presetClass="entr" presetID="10" presetSubtype="0">
                      <p:childTnLst>
                        <p:animEffect filter="wipe(up)" transition="in">
                          <p:cBhvr additive="repl">
                            <p:cTn id="4" dur="170" nodeType="clickEffect" fill="hold" presetClass="entr" presetID="10" presetSubtype="0">
                              <p:stCondLst>
                                <p:cond delay="120"/>
                              </p:stCondLst>
                            </p:cTn>
                            <p:tgtEl>
                              <p:spTgt spid="50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5" dur="170" nodeType="clickEffect" fill="hold" presetClass="entr" presetID="10" presetSubtype="0">
                              <p:stCondLst>
                                <p:cond delay="144"/>
                              </p:stCondLst>
                            </p:cTn>
                            <p:tgtEl>
                              <p:spTgt spid="51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6" dur="170" nodeType="clickEffect" fill="hold" presetClass="entr" presetID="10" presetSubtype="0">
                              <p:stCondLst>
                                <p:cond delay="168"/>
                              </p:stCondLst>
                            </p:cTn>
                            <p:tgtEl>
                              <p:spTgt spid="52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7" dur="170" nodeType="clickEffect" fill="hold" presetClass="entr" presetID="10" presetSubtype="0">
                              <p:stCondLst>
                                <p:cond delay="192"/>
                              </p:stCondLst>
                            </p:cTn>
                            <p:tgtEl>
                              <p:spTgt spid="53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8" dur="170" nodeType="clickEffect" fill="hold" presetClass="entr" presetID="10" presetSubtype="0">
                              <p:stCondLst>
                                <p:cond delay="255"/>
                              </p:stCondLst>
                            </p:cTn>
                            <p:tgtEl>
                              <p:spTgt spid="56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9" dur="160" nodeType="clickEffect" fill="hold" presetClass="entr" presetID="10" presetSubtype="0">
                              <p:stCondLst>
                                <p:cond delay="266"/>
                              </p:stCondLst>
                            </p:cTn>
                            <p:tgtEl>
                              <p:spTgt spid="54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0" dur="170" nodeType="clickEffect" fill="hold" presetClass="entr" presetID="10" presetSubtype="0">
                              <p:stCondLst>
                                <p:cond delay="279"/>
                              </p:stCondLst>
                            </p:cTn>
                            <p:tgtEl>
                              <p:spTgt spid="5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1" dur="170" nodeType="clickEffect" fill="hold" presetClass="entr" presetID="10" presetSubtype="0">
                              <p:stCondLst>
                                <p:cond delay="303"/>
                              </p:stCondLst>
                            </p:cTn>
                            <p:tgtEl>
                              <p:spTgt spid="58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2" dur="170" nodeType="clickEffect" fill="hold" presetClass="entr" presetID="10" presetSubtype="0">
                              <p:stCondLst>
                                <p:cond delay="327"/>
                              </p:stCondLst>
                            </p:cTn>
                            <p:tgtEl>
                              <p:spTgt spid="59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3" dur="170" nodeType="clickEffect" fill="hold" presetClass="entr" presetID="10" presetSubtype="0">
                              <p:stCondLst>
                                <p:cond delay="351"/>
                              </p:stCondLst>
                            </p:cTn>
                            <p:tgtEl>
                              <p:spTgt spid="60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4" dur="170" nodeType="clickEffect" fill="hold" presetClass="entr" presetID="10" presetSubtype="0">
                              <p:stCondLst>
                                <p:cond delay="390"/>
                              </p:stCondLst>
                            </p:cTn>
                            <p:tgtEl>
                              <p:spTgt spid="63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5" dur="170" nodeType="clickEffect" fill="hold" presetClass="entr" presetID="10" presetSubtype="0">
                              <p:stCondLst>
                                <p:cond delay="414"/>
                              </p:stCondLst>
                            </p:cTn>
                            <p:tgtEl>
                              <p:spTgt spid="64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16" dur="160" nodeType="clickEffect" fill="hold" presetClass="entr" presetID="10" presetSubtype="0">
                              <p:stCondLst>
                                <p:cond delay="425"/>
                              </p:stCondLst>
                            </p:cTn>
                            <p:tgtEl>
                              <p:spTgt spid="61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7" dur="170" nodeType="clickEffect" fill="hold" presetClass="entr" presetID="10" presetSubtype="0">
                              <p:stCondLst>
                                <p:cond delay="438"/>
                              </p:stCondLst>
                            </p:cTn>
                            <p:tgtEl>
                              <p:spTgt spid="65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8" dur="170" nodeType="clickEffect" fill="hold" presetClass="entr" presetID="10" presetSubtype="0">
                              <p:stCondLst>
                                <p:cond delay="462"/>
                              </p:stCondLst>
                            </p:cTn>
                            <p:tgtEl>
                              <p:spTgt spid="66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9" dur="170" nodeType="clickEffect" fill="hold" presetClass="entr" presetID="10" presetSubtype="0">
                              <p:stCondLst>
                                <p:cond delay="486"/>
                              </p:stCondLst>
                            </p:cTn>
                            <p:tgtEl>
                              <p:spTgt spid="6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0" dur="170" nodeType="clickEffect" fill="hold" presetClass="entr" presetID="10" presetSubtype="0">
                              <p:stCondLst>
                                <p:cond delay="510"/>
                              </p:stCondLst>
                            </p:cTn>
                            <p:tgtEl>
                              <p:spTgt spid="68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1" dur="170" nodeType="clickEffect" fill="hold" presetClass="entr" presetID="10" presetSubtype="0">
                              <p:stCondLst>
                                <p:cond delay="525"/>
                              </p:stCondLst>
                            </p:cTn>
                            <p:tgtEl>
                              <p:spTgt spid="72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2" dur="170" nodeType="clickEffect" fill="hold" presetClass="entr" presetID="10" presetSubtype="0">
                              <p:stCondLst>
                                <p:cond delay="534"/>
                              </p:stCondLst>
                            </p:cTn>
                            <p:tgtEl>
                              <p:spTgt spid="69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3" dur="170" nodeType="clickEffect" fill="hold" presetClass="entr" presetID="10" presetSubtype="0">
                              <p:stCondLst>
                                <p:cond delay="549"/>
                              </p:stCondLst>
                            </p:cTn>
                            <p:tgtEl>
                              <p:spTgt spid="73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4" dur="170" nodeType="clickEffect" fill="hold" presetClass="entr" presetID="10" presetSubtype="0">
                              <p:stCondLst>
                                <p:cond delay="573"/>
                              </p:stCondLst>
                            </p:cTn>
                            <p:tgtEl>
                              <p:spTgt spid="74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5" dur="170" nodeType="clickEffect" fill="hold" presetClass="entr" presetID="10" presetSubtype="0">
                              <p:stCondLst>
                                <p:cond delay="597"/>
                              </p:stCondLst>
                            </p:cTn>
                            <p:tgtEl>
                              <p:spTgt spid="75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26" dur="160" nodeType="clickEffect" fill="hold" presetClass="entr" presetID="10" presetSubtype="0">
                              <p:stCondLst>
                                <p:cond delay="608"/>
                              </p:stCondLst>
                            </p:cTn>
                            <p:tgtEl>
                              <p:spTgt spid="70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7" dur="170" nodeType="clickEffect" fill="hold" presetClass="entr" presetID="10" presetSubtype="0">
                              <p:stCondLst>
                                <p:cond delay="621"/>
                              </p:stCondLst>
                            </p:cTn>
                            <p:tgtEl>
                              <p:spTgt spid="76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8" dur="170" nodeType="clickEffect" fill="hold" presetClass="entr" presetID="10" presetSubtype="0">
                              <p:stCondLst>
                                <p:cond delay="645"/>
                              </p:stCondLst>
                            </p:cTn>
                            <p:tgtEl>
                              <p:spTgt spid="7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9" dur="170" nodeType="clickEffect" fill="hold" presetClass="entr" presetID="10" presetSubtype="0">
                              <p:stCondLst>
                                <p:cond delay="669"/>
                              </p:stCondLst>
                            </p:cTn>
                            <p:tgtEl>
                              <p:spTgt spid="78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0" dur="170" nodeType="clickEffect" fill="hold" presetClass="entr" presetID="10" presetSubtype="0">
                              <p:stCondLst>
                                <p:cond delay="693"/>
                              </p:stCondLst>
                            </p:cTn>
                            <p:tgtEl>
                              <p:spTgt spid="79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31" dur="160" nodeType="clickEffect" fill="hold" presetClass="entr" presetID="10" presetSubtype="0">
                              <p:stCondLst>
                                <p:cond delay="767"/>
                              </p:stCondLst>
                            </p:cTn>
                            <p:tgtEl>
                              <p:spTgt spid="80"/>
                            </p:tgtEl>
                          </p:cBhvr>
                        </p:animEffect>
                      </p:childTnLst>
                    </p:cTn>
                  </p:par>
                </p:childTnLst>
                <p:prevCondLst>
                  <p:cond evt="onPrev">
                    <p:tgtEl>
                      <p:sldTgt/>
                    </p:tgtEl>
                  </p:cond>
                </p:prevCondLst>
                <p:nextCondLst>
                  <p:cond evt="onNext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gg_peak_pil_render/slides/slide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anim_chart_frame_radar-chart"/>
          <p:cNvSpPr/>
          <p:nvPr/>
        </p:nvSpPr>
        <p:spPr>
          <a:xfrm>
            <a:off x="542925" y="1447800"/>
            <a:ext cx="4629150" cy="3676650"/>
          </a:xfrm>
          <a:prstGeom prst="roundRect">
            <a:avLst/>
          </a:prstGeom>
          <a:noFill/>
          <a:ln w="14605" cap="flat">
            <a:solidFill>
              <a:srgbClr val="7C3AED">
                <a:alpha val="26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1" name="anim_radar_focus_radar-chart"/>
          <p:cNvSpPr/>
          <p:nvPr/>
        </p:nvSpPr>
        <p:spPr>
          <a:xfrm>
            <a:off x="1806892" y="2399348"/>
            <a:ext cx="1918335" cy="1918335"/>
          </a:xfrm>
          <a:prstGeom prst="ellipse">
            <a:avLst/>
          </a:prstGeom>
          <a:solidFill>
            <a:srgbClr val="7C3AED">
              <a:alpha val="4500"/>
            </a:srgbClr>
          </a:solidFill>
          <a:ln w="19050" cap="flat">
            <a:solidFill>
              <a:srgbClr val="FBBF24">
                <a:alpha val="30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2" name="anim_radar_node_radar-chart_0"/>
          <p:cNvSpPr/>
          <p:nvPr/>
        </p:nvSpPr>
        <p:spPr>
          <a:xfrm>
            <a:off x="2726055" y="2455259"/>
            <a:ext cx="80010" cy="80010"/>
          </a:xfrm>
          <a:prstGeom prst="ellipse">
            <a:avLst/>
          </a:prstGeom>
          <a:solidFill>
            <a:srgbClr val="FBBF24">
              <a:alpha val="42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3" name="anim_radar_node_radar-chart_1"/>
          <p:cNvSpPr/>
          <p:nvPr/>
        </p:nvSpPr>
        <p:spPr>
          <a:xfrm>
            <a:off x="3550939" y="3126677"/>
            <a:ext cx="80010" cy="80010"/>
          </a:xfrm>
          <a:prstGeom prst="ellipse">
            <a:avLst/>
          </a:prstGeom>
          <a:solidFill>
            <a:srgbClr val="FBBF24">
              <a:alpha val="42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4" name="anim_radar_node_radar-chart_2"/>
          <p:cNvSpPr/>
          <p:nvPr/>
        </p:nvSpPr>
        <p:spPr>
          <a:xfrm>
            <a:off x="3148089" y="4124211"/>
            <a:ext cx="80010" cy="80010"/>
          </a:xfrm>
          <a:prstGeom prst="ellipse">
            <a:avLst/>
          </a:prstGeom>
          <a:solidFill>
            <a:srgbClr val="FBBF24">
              <a:alpha val="42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5" name="anim_radar_node_radar-chart_3"/>
          <p:cNvSpPr/>
          <p:nvPr/>
        </p:nvSpPr>
        <p:spPr>
          <a:xfrm>
            <a:off x="1997088" y="3798094"/>
            <a:ext cx="80010" cy="80010"/>
          </a:xfrm>
          <a:prstGeom prst="ellipse">
            <a:avLst/>
          </a:prstGeom>
          <a:solidFill>
            <a:srgbClr val="FBBF24">
              <a:alpha val="42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6" name="anim_radar_node_radar-chart_4"/>
          <p:cNvSpPr/>
          <p:nvPr/>
        </p:nvSpPr>
        <p:spPr>
          <a:xfrm>
            <a:off x="1920354" y="2973210"/>
            <a:ext cx="80010" cy="80010"/>
          </a:xfrm>
          <a:prstGeom prst="ellipse">
            <a:avLst/>
          </a:prstGeom>
          <a:solidFill>
            <a:srgbClr val="FBBF24">
              <a:alpha val="42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7" name="anim_chart_frame_growth-chart"/>
          <p:cNvSpPr/>
          <p:nvPr/>
        </p:nvSpPr>
        <p:spPr>
          <a:xfrm>
            <a:off x="542925" y="5257800"/>
            <a:ext cx="11106150" cy="1200150"/>
          </a:xfrm>
          <a:prstGeom prst="roundRect">
            <a:avLst/>
          </a:prstGeom>
          <a:noFill/>
          <a:ln w="14605" cap="flat">
            <a:solidFill>
              <a:srgbClr val="FBBF24">
                <a:alpha val="26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8" name="anim_chart_baseline_growth-chart"/>
          <p:cNvSpPr/>
          <p:nvPr/>
        </p:nvSpPr>
        <p:spPr>
          <a:xfrm>
            <a:off x="819150" y="6105525"/>
            <a:ext cx="10553700" cy="57150"/>
          </a:xfrm>
          <a:prstGeom prst="roundRect">
            <a:avLst/>
          </a:prstGeom>
          <a:solidFill>
            <a:srgbClr val="FBBF24">
              <a:alpha val="45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9" name="anim_chart_scan_growth-chart_0"/>
          <p:cNvSpPr/>
          <p:nvPr/>
        </p:nvSpPr>
        <p:spPr>
          <a:xfrm>
            <a:off x="3333750" y="5514975"/>
            <a:ext cx="198882" cy="49530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30" name="anim_chart_scan_growth-chart_1"/>
          <p:cNvSpPr/>
          <p:nvPr/>
        </p:nvSpPr>
        <p:spPr>
          <a:xfrm>
            <a:off x="6316980" y="5514975"/>
            <a:ext cx="198882" cy="49530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31" name="anim_chart_scan_growth-chart_2"/>
          <p:cNvSpPr/>
          <p:nvPr/>
        </p:nvSpPr>
        <p:spPr>
          <a:xfrm>
            <a:off x="9189720" y="5514975"/>
            <a:ext cx="198882" cy="49530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32" name="anim_chart_dot_growth-chart_0"/>
          <p:cNvSpPr/>
          <p:nvPr/>
        </p:nvSpPr>
        <p:spPr>
          <a:xfrm>
            <a:off x="3612832" y="5965508"/>
            <a:ext cx="104775" cy="104775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3" name="anim_chart_dot_growth-chart_1"/>
          <p:cNvSpPr/>
          <p:nvPr/>
        </p:nvSpPr>
        <p:spPr>
          <a:xfrm>
            <a:off x="6927532" y="5782628"/>
            <a:ext cx="104775" cy="104775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4" name="anim_chart_dot_growth-chart_2"/>
          <p:cNvSpPr/>
          <p:nvPr/>
        </p:nvSpPr>
        <p:spPr>
          <a:xfrm>
            <a:off x="9675495" y="5562600"/>
            <a:ext cx="133350" cy="133350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5" name="mg_cover_radar-chart"/>
          <p:cNvSpPr/>
          <p:nvPr/>
        </p:nvSpPr>
        <p:spPr>
          <a:xfrm>
            <a:off x="571500" y="1476375"/>
            <a:ext cx="4572000" cy="36195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E5E7EB"/>
            </a:solidFill>
          </a:ln>
          <a:effectLst>
            <a:outerShdw blurRad="76200" dist="19050" dir="5400000" algn="ctr" rotWithShape="0">
              <a:srgbClr val="000000">
                <a:alpha val="18000"/>
              </a:srgbClr>
            </a:outerShdw>
          </a:effectLst>
        </p:spPr>
      </p:sp>
      <p:sp>
        <p:nvSpPr>
          <p:cNvPr id="36" name="mg_radar_title_radar-chart"/>
          <p:cNvSpPr txBox="1"/>
          <p:nvPr/>
        </p:nvSpPr>
        <p:spPr>
          <a:xfrm>
            <a:off x="685800" y="1571625"/>
            <a:ext cx="4343400" cy="2095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400" kern="1200" b="1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에그피크 시장 진입 동력 지수</a:t>
            </a:r>
            <a:endParaRPr lang="ko-KR" sz="14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37" name="mg_radar_legend_sq_0"/>
          <p:cNvSpPr/>
          <p:nvPr/>
        </p:nvSpPr>
        <p:spPr>
          <a:xfrm>
            <a:off x="1333500" y="1924050"/>
            <a:ext cx="85725" cy="85725"/>
          </a:xfrm>
          <a:prstGeom prst="round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38" name="mg_radar_legend_tx_0"/>
          <p:cNvSpPr txBox="1"/>
          <p:nvPr/>
        </p:nvSpPr>
        <p:spPr>
          <a:xfrm>
            <a:off x="1466850" y="1876425"/>
            <a:ext cx="139065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2023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39" name="mg_radar_legend_sq_1"/>
          <p:cNvSpPr/>
          <p:nvPr/>
        </p:nvSpPr>
        <p:spPr>
          <a:xfrm>
            <a:off x="2857500" y="1924050"/>
            <a:ext cx="85725" cy="85725"/>
          </a:xfrm>
          <a:prstGeom prst="round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40" name="mg_radar_legend_tx_1"/>
          <p:cNvSpPr txBox="1"/>
          <p:nvPr/>
        </p:nvSpPr>
        <p:spPr>
          <a:xfrm>
            <a:off x="2990850" y="1876425"/>
            <a:ext cx="139065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2026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1" name="mg_radar_grid_0.25_0"/>
          <p:cNvSpPr/>
          <p:nvPr/>
        </p:nvSpPr>
        <p:spPr>
          <a:xfrm>
            <a:off x="2857500" y="3304222"/>
            <a:ext cx="235093" cy="135731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42" name="mg_radar_grid_0.25_1"/>
          <p:cNvSpPr/>
          <p:nvPr/>
        </p:nvSpPr>
        <p:spPr>
          <a:xfrm>
            <a:off x="3092593" y="3439954"/>
            <a:ext cx="0" cy="271462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43" name="mg_radar_grid_0.25_2"/>
          <p:cNvSpPr/>
          <p:nvPr/>
        </p:nvSpPr>
        <p:spPr>
          <a:xfrm flipH="1">
            <a:off x="2857500" y="3711416"/>
            <a:ext cx="235093" cy="135731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44" name="mg_radar_grid_0.25_3"/>
          <p:cNvSpPr/>
          <p:nvPr/>
        </p:nvSpPr>
        <p:spPr>
          <a:xfrm flipH="1" flipV="1">
            <a:off x="2622407" y="3711416"/>
            <a:ext cx="235093" cy="135731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45" name="mg_radar_grid_0.25_4"/>
          <p:cNvSpPr/>
          <p:nvPr/>
        </p:nvSpPr>
        <p:spPr>
          <a:xfrm flipV="1">
            <a:off x="2622407" y="3439954"/>
            <a:ext cx="0" cy="271462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46" name="mg_radar_grid_0.25_5"/>
          <p:cNvSpPr/>
          <p:nvPr/>
        </p:nvSpPr>
        <p:spPr>
          <a:xfrm flipV="1">
            <a:off x="2622407" y="3304222"/>
            <a:ext cx="235093" cy="135731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47" name="mg_radar_grid_0.5_0"/>
          <p:cNvSpPr/>
          <p:nvPr/>
        </p:nvSpPr>
        <p:spPr>
          <a:xfrm>
            <a:off x="2857500" y="3032760"/>
            <a:ext cx="470187" cy="271462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48" name="mg_radar_grid_0.5_1"/>
          <p:cNvSpPr/>
          <p:nvPr/>
        </p:nvSpPr>
        <p:spPr>
          <a:xfrm>
            <a:off x="3327687" y="3304222"/>
            <a:ext cx="0" cy="542925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49" name="mg_radar_grid_0.5_2"/>
          <p:cNvSpPr/>
          <p:nvPr/>
        </p:nvSpPr>
        <p:spPr>
          <a:xfrm flipH="1">
            <a:off x="2857500" y="3847148"/>
            <a:ext cx="470187" cy="271462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50" name="mg_radar_grid_0.5_3"/>
          <p:cNvSpPr/>
          <p:nvPr/>
        </p:nvSpPr>
        <p:spPr>
          <a:xfrm flipH="1" flipV="1">
            <a:off x="2387313" y="3847148"/>
            <a:ext cx="470187" cy="271462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51" name="mg_radar_grid_0.5_4"/>
          <p:cNvSpPr/>
          <p:nvPr/>
        </p:nvSpPr>
        <p:spPr>
          <a:xfrm flipV="1">
            <a:off x="2387313" y="3304222"/>
            <a:ext cx="0" cy="542925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52" name="mg_radar_grid_0.5_5"/>
          <p:cNvSpPr/>
          <p:nvPr/>
        </p:nvSpPr>
        <p:spPr>
          <a:xfrm flipV="1">
            <a:off x="2387313" y="3032760"/>
            <a:ext cx="470187" cy="271462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53" name="mg_radar_grid_0.75_0"/>
          <p:cNvSpPr/>
          <p:nvPr/>
        </p:nvSpPr>
        <p:spPr>
          <a:xfrm>
            <a:off x="2857500" y="2761298"/>
            <a:ext cx="705280" cy="407194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54" name="mg_radar_grid_0.75_1"/>
          <p:cNvSpPr/>
          <p:nvPr/>
        </p:nvSpPr>
        <p:spPr>
          <a:xfrm>
            <a:off x="3562780" y="3168491"/>
            <a:ext cx="0" cy="814388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55" name="mg_radar_grid_0.75_2"/>
          <p:cNvSpPr/>
          <p:nvPr/>
        </p:nvSpPr>
        <p:spPr>
          <a:xfrm flipH="1">
            <a:off x="2857500" y="3982879"/>
            <a:ext cx="705280" cy="407194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56" name="mg_radar_grid_0.75_3"/>
          <p:cNvSpPr/>
          <p:nvPr/>
        </p:nvSpPr>
        <p:spPr>
          <a:xfrm flipH="1" flipV="1">
            <a:off x="2152220" y="3982879"/>
            <a:ext cx="705280" cy="407194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57" name="mg_radar_grid_0.75_4"/>
          <p:cNvSpPr/>
          <p:nvPr/>
        </p:nvSpPr>
        <p:spPr>
          <a:xfrm flipH="1" flipV="1">
            <a:off x="2152220" y="3168491"/>
            <a:ext cx="0" cy="814388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58" name="mg_radar_grid_0.75_5"/>
          <p:cNvSpPr/>
          <p:nvPr/>
        </p:nvSpPr>
        <p:spPr>
          <a:xfrm flipV="1">
            <a:off x="2152220" y="2761298"/>
            <a:ext cx="705280" cy="407194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59" name="mg_radar_grid_1.0_0"/>
          <p:cNvSpPr/>
          <p:nvPr/>
        </p:nvSpPr>
        <p:spPr>
          <a:xfrm>
            <a:off x="2857500" y="2489835"/>
            <a:ext cx="940374" cy="542925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60" name="mg_radar_grid_1.0_1"/>
          <p:cNvSpPr/>
          <p:nvPr/>
        </p:nvSpPr>
        <p:spPr>
          <a:xfrm>
            <a:off x="3797874" y="3032760"/>
            <a:ext cx="0" cy="1085850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61" name="mg_radar_grid_1.0_2"/>
          <p:cNvSpPr/>
          <p:nvPr/>
        </p:nvSpPr>
        <p:spPr>
          <a:xfrm flipH="1">
            <a:off x="2857500" y="4118610"/>
            <a:ext cx="940374" cy="542925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62" name="mg_radar_grid_1.0_3"/>
          <p:cNvSpPr/>
          <p:nvPr/>
        </p:nvSpPr>
        <p:spPr>
          <a:xfrm flipH="1" flipV="1">
            <a:off x="1917126" y="4118610"/>
            <a:ext cx="940374" cy="542925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63" name="mg_radar_grid_1.0_4"/>
          <p:cNvSpPr/>
          <p:nvPr/>
        </p:nvSpPr>
        <p:spPr>
          <a:xfrm flipV="1">
            <a:off x="1917126" y="3032760"/>
            <a:ext cx="0" cy="1085850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64" name="mg_radar_grid_1.0_5"/>
          <p:cNvSpPr/>
          <p:nvPr/>
        </p:nvSpPr>
        <p:spPr>
          <a:xfrm flipV="1">
            <a:off x="1917126" y="2489835"/>
            <a:ext cx="940374" cy="542925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65" name="mg_radar_axis_0"/>
          <p:cNvSpPr/>
          <p:nvPr/>
        </p:nvSpPr>
        <p:spPr>
          <a:xfrm flipV="1">
            <a:off x="2857500" y="2489835"/>
            <a:ext cx="0" cy="1085850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66" name="mg_radar_label_0"/>
          <p:cNvSpPr txBox="1"/>
          <p:nvPr/>
        </p:nvSpPr>
        <p:spPr>
          <a:xfrm>
            <a:off x="2362200" y="1975485"/>
            <a:ext cx="990600" cy="3810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전기요금</a:t>
            </a:r>
            <a:endParaRPr lang="ko-KR" sz="1050">
              <a:latin typeface="Malgun Gothic"/>
              <a:ea typeface="맑은 고딕"/>
              <a:cs typeface="Malgun Gothic"/>
            </a:endParaRPr>
          </a:p>
          <a:p>
            <a:pPr algn="ctr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상승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7" name="mg_radar_axis_1"/>
          <p:cNvSpPr/>
          <p:nvPr/>
        </p:nvSpPr>
        <p:spPr>
          <a:xfrm flipV="1">
            <a:off x="2857500" y="3032760"/>
            <a:ext cx="940374" cy="542925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68" name="mg_radar_label_1"/>
          <p:cNvSpPr txBox="1"/>
          <p:nvPr/>
        </p:nvSpPr>
        <p:spPr>
          <a:xfrm>
            <a:off x="4226816" y="2680335"/>
            <a:ext cx="990600" cy="3810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재생에너지</a:t>
            </a:r>
            <a:endParaRPr lang="ko-KR" sz="1050">
              <a:latin typeface="Malgun Gothic"/>
              <a:ea typeface="맑은 고딕"/>
              <a:cs typeface="Malgun Gothic"/>
            </a:endParaRPr>
          </a:p>
          <a:p>
            <a:pPr algn="l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확대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9" name="mg_radar_axis_2"/>
          <p:cNvSpPr/>
          <p:nvPr/>
        </p:nvSpPr>
        <p:spPr>
          <a:xfrm>
            <a:off x="2857500" y="3575685"/>
            <a:ext cx="940374" cy="542925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70" name="mg_radar_label_2"/>
          <p:cNvSpPr txBox="1"/>
          <p:nvPr/>
        </p:nvSpPr>
        <p:spPr>
          <a:xfrm>
            <a:off x="4226816" y="4090035"/>
            <a:ext cx="990600" cy="3810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기업 데이터</a:t>
            </a:r>
            <a:endParaRPr lang="ko-KR" sz="1050">
              <a:latin typeface="Malgun Gothic"/>
              <a:ea typeface="맑은 고딕"/>
              <a:cs typeface="Malgun Gothic"/>
            </a:endParaRPr>
          </a:p>
          <a:p>
            <a:pPr algn="l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축적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71" name="mg_radar_axis_3"/>
          <p:cNvSpPr/>
          <p:nvPr/>
        </p:nvSpPr>
        <p:spPr>
          <a:xfrm>
            <a:off x="2857500" y="3575685"/>
            <a:ext cx="0" cy="1085850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72" name="mg_radar_label_3"/>
          <p:cNvSpPr txBox="1"/>
          <p:nvPr/>
        </p:nvSpPr>
        <p:spPr>
          <a:xfrm>
            <a:off x="2362200" y="4794885"/>
            <a:ext cx="990600" cy="3810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AI 기술</a:t>
            </a:r>
            <a:endParaRPr lang="ko-KR" sz="1050">
              <a:latin typeface="Malgun Gothic"/>
              <a:ea typeface="맑은 고딕"/>
              <a:cs typeface="Malgun Gothic"/>
            </a:endParaRPr>
          </a:p>
          <a:p>
            <a:pPr algn="ctr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성숙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73" name="mg_radar_axis_4"/>
          <p:cNvSpPr/>
          <p:nvPr/>
        </p:nvSpPr>
        <p:spPr>
          <a:xfrm flipH="1">
            <a:off x="1917126" y="3575685"/>
            <a:ext cx="940374" cy="542925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74" name="mg_radar_label_4"/>
          <p:cNvSpPr txBox="1"/>
          <p:nvPr/>
        </p:nvSpPr>
        <p:spPr>
          <a:xfrm>
            <a:off x="497584" y="4090035"/>
            <a:ext cx="990600" cy="3810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절감 니즈</a:t>
            </a:r>
            <a:endParaRPr lang="ko-KR" sz="1050">
              <a:latin typeface="Malgun Gothic"/>
              <a:ea typeface="맑은 고딕"/>
              <a:cs typeface="Malgun Gothic"/>
            </a:endParaRPr>
          </a:p>
          <a:p>
            <a:pPr algn="r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확대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75" name="mg_radar_axis_5"/>
          <p:cNvSpPr/>
          <p:nvPr/>
        </p:nvSpPr>
        <p:spPr>
          <a:xfrm flipH="1" flipV="1">
            <a:off x="1917126" y="3032760"/>
            <a:ext cx="940374" cy="542925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76" name="mg_radar_label_5"/>
          <p:cNvSpPr txBox="1"/>
          <p:nvPr/>
        </p:nvSpPr>
        <p:spPr>
          <a:xfrm>
            <a:off x="497584" y="2680335"/>
            <a:ext cx="990600" cy="3810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정책</a:t>
            </a:r>
            <a:endParaRPr lang="ko-KR" sz="1050">
              <a:latin typeface="Malgun Gothic"/>
              <a:ea typeface="맑은 고딕"/>
              <a:cs typeface="Malgun Gothic"/>
            </a:endParaRPr>
          </a:p>
          <a:p>
            <a:pPr algn="r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지원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77" name="mg_radar_poly_score2023"/>
          <p:cNvSpPr/>
          <p:nvPr/>
        </p:nvSpPr>
        <p:spPr>
          <a:xfrm>
            <a:off x="2246257" y="2924175"/>
            <a:ext cx="1128448" cy="1140142"/>
          </a:xfrm>
          <a:custGeom>
            <a:avLst/>
            <a:gdLst/>
            <a:ahLst/>
            <a:cxnLst/>
            <a:rect l="l" t="t" r="r" b="b"/>
            <a:pathLst>
              <a:path w="1128448" h="1140142">
                <a:moveTo>
                  <a:pt x="611243" y="0"/>
                </a:moveTo>
                <a:lnTo>
                  <a:pt x="1081430" y="380047"/>
                </a:lnTo>
                <a:lnTo>
                  <a:pt x="1128448" y="950119"/>
                </a:lnTo>
                <a:lnTo>
                  <a:pt x="611243" y="1140142"/>
                </a:lnTo>
                <a:lnTo>
                  <a:pt x="0" y="1004411"/>
                </a:lnTo>
                <a:lnTo>
                  <a:pt x="235093" y="434340"/>
                </a:lnTo>
                <a:close/>
              </a:path>
            </a:pathLst>
          </a:custGeom>
          <a:solidFill>
            <a:srgbClr val="9CA3AF">
              <a:alpha val="13000"/>
            </a:srgbClr>
          </a:solidFill>
          <a:ln w="16510" cap="flat">
            <a:solidFill>
              <a:srgbClr val="9CA3AF">
                <a:alpha val="65000"/>
              </a:srgbClr>
            </a:solidFill>
          </a:ln>
        </p:spPr>
      </p:sp>
      <p:sp>
        <p:nvSpPr>
          <p:cNvPr id="78" name="mg_radar_dot_score2023_0"/>
          <p:cNvSpPr/>
          <p:nvPr/>
        </p:nvSpPr>
        <p:spPr>
          <a:xfrm>
            <a:off x="2833688" y="2900362"/>
            <a:ext cx="47625" cy="47625"/>
          </a:xfrm>
          <a:prstGeom prst="ellipse">
            <a:avLst/>
          </a:prstGeom>
          <a:solidFill>
            <a:srgbClr val="9CA3AF"/>
          </a:solidFill>
          <a:ln w="6350" cap="flat">
            <a:solidFill>
              <a:srgbClr val="FFFFFF"/>
            </a:solidFill>
          </a:ln>
        </p:spPr>
      </p:sp>
      <p:sp>
        <p:nvSpPr>
          <p:cNvPr id="79" name="mg_radar_dot_score2023_1"/>
          <p:cNvSpPr/>
          <p:nvPr/>
        </p:nvSpPr>
        <p:spPr>
          <a:xfrm>
            <a:off x="3303874" y="3280410"/>
            <a:ext cx="47625" cy="47625"/>
          </a:xfrm>
          <a:prstGeom prst="ellipse">
            <a:avLst/>
          </a:prstGeom>
          <a:solidFill>
            <a:srgbClr val="9CA3AF"/>
          </a:solidFill>
          <a:ln w="6350" cap="flat">
            <a:solidFill>
              <a:srgbClr val="FFFFFF"/>
            </a:solidFill>
          </a:ln>
        </p:spPr>
      </p:sp>
      <p:sp>
        <p:nvSpPr>
          <p:cNvPr id="80" name="mg_radar_dot_score2023_2"/>
          <p:cNvSpPr/>
          <p:nvPr/>
        </p:nvSpPr>
        <p:spPr>
          <a:xfrm>
            <a:off x="3350893" y="3850481"/>
            <a:ext cx="47625" cy="47625"/>
          </a:xfrm>
          <a:prstGeom prst="ellipse">
            <a:avLst/>
          </a:prstGeom>
          <a:solidFill>
            <a:srgbClr val="9CA3AF"/>
          </a:solidFill>
          <a:ln w="6350" cap="flat">
            <a:solidFill>
              <a:srgbClr val="FFFFFF"/>
            </a:solidFill>
          </a:ln>
        </p:spPr>
      </p:sp>
      <p:sp>
        <p:nvSpPr>
          <p:cNvPr id="81" name="mg_radar_dot_score2023_3"/>
          <p:cNvSpPr/>
          <p:nvPr/>
        </p:nvSpPr>
        <p:spPr>
          <a:xfrm>
            <a:off x="2833688" y="4040505"/>
            <a:ext cx="47625" cy="47625"/>
          </a:xfrm>
          <a:prstGeom prst="ellipse">
            <a:avLst/>
          </a:prstGeom>
          <a:solidFill>
            <a:srgbClr val="9CA3AF"/>
          </a:solidFill>
          <a:ln w="6350" cap="flat">
            <a:solidFill>
              <a:srgbClr val="FFFFFF"/>
            </a:solidFill>
          </a:ln>
        </p:spPr>
      </p:sp>
      <p:sp>
        <p:nvSpPr>
          <p:cNvPr id="82" name="mg_radar_dot_score2023_4"/>
          <p:cNvSpPr/>
          <p:nvPr/>
        </p:nvSpPr>
        <p:spPr>
          <a:xfrm>
            <a:off x="2222445" y="3904774"/>
            <a:ext cx="47625" cy="47625"/>
          </a:xfrm>
          <a:prstGeom prst="ellipse">
            <a:avLst/>
          </a:prstGeom>
          <a:solidFill>
            <a:srgbClr val="9CA3AF"/>
          </a:solidFill>
          <a:ln w="6350" cap="flat">
            <a:solidFill>
              <a:srgbClr val="FFFFFF"/>
            </a:solidFill>
          </a:ln>
        </p:spPr>
      </p:sp>
      <p:sp>
        <p:nvSpPr>
          <p:cNvPr id="83" name="mg_radar_dot_score2023_5"/>
          <p:cNvSpPr/>
          <p:nvPr/>
        </p:nvSpPr>
        <p:spPr>
          <a:xfrm>
            <a:off x="2457538" y="3334702"/>
            <a:ext cx="47625" cy="47625"/>
          </a:xfrm>
          <a:prstGeom prst="ellipse">
            <a:avLst/>
          </a:prstGeom>
          <a:solidFill>
            <a:srgbClr val="9CA3AF"/>
          </a:solidFill>
          <a:ln w="6350" cap="flat">
            <a:solidFill>
              <a:srgbClr val="FFFFFF"/>
            </a:solidFill>
          </a:ln>
        </p:spPr>
      </p:sp>
      <p:sp>
        <p:nvSpPr>
          <p:cNvPr id="84" name="mg_radar_poly_score2026"/>
          <p:cNvSpPr/>
          <p:nvPr/>
        </p:nvSpPr>
        <p:spPr>
          <a:xfrm>
            <a:off x="1935934" y="2544127"/>
            <a:ext cx="1767903" cy="2030540"/>
          </a:xfrm>
          <a:custGeom>
            <a:avLst/>
            <a:gdLst/>
            <a:ahLst/>
            <a:cxnLst/>
            <a:rect l="l" t="t" r="r" b="b"/>
            <a:pathLst>
              <a:path w="1767903" h="2030540">
                <a:moveTo>
                  <a:pt x="921566" y="0"/>
                </a:moveTo>
                <a:lnTo>
                  <a:pt x="1767903" y="542925"/>
                </a:lnTo>
                <a:lnTo>
                  <a:pt x="1720884" y="1493044"/>
                </a:lnTo>
                <a:lnTo>
                  <a:pt x="921566" y="2030540"/>
                </a:lnTo>
                <a:lnTo>
                  <a:pt x="0" y="1563624"/>
                </a:lnTo>
                <a:lnTo>
                  <a:pt x="169267" y="597217"/>
                </a:lnTo>
                <a:close/>
              </a:path>
            </a:pathLst>
          </a:custGeom>
          <a:solidFill>
            <a:srgbClr val="FBBF24">
              <a:alpha val="17000"/>
            </a:srgbClr>
          </a:solidFill>
          <a:ln w="21590" cap="flat">
            <a:solidFill>
              <a:srgbClr val="FBBF24"/>
            </a:solidFill>
          </a:ln>
        </p:spPr>
      </p:sp>
      <p:sp>
        <p:nvSpPr>
          <p:cNvPr id="85" name="mg_radar_dot_score2026_0"/>
          <p:cNvSpPr/>
          <p:nvPr/>
        </p:nvSpPr>
        <p:spPr>
          <a:xfrm>
            <a:off x="2824162" y="2510790"/>
            <a:ext cx="66675" cy="66675"/>
          </a:xfrm>
          <a:prstGeom prst="ellipse">
            <a:avLst/>
          </a:prstGeom>
          <a:solidFill>
            <a:srgbClr val="FBBF24"/>
          </a:solidFill>
          <a:ln w="6350" cap="flat">
            <a:solidFill>
              <a:srgbClr val="FFFFFF"/>
            </a:solidFill>
          </a:ln>
          <a:effectLst>
            <a:glow rad="47625">
              <a:srgbClr val="FBBF24">
                <a:alpha val="26000"/>
              </a:srgbClr>
            </a:glow>
          </a:effectLst>
        </p:spPr>
      </p:sp>
      <p:sp>
        <p:nvSpPr>
          <p:cNvPr id="86" name="mg_radar_dot_score2026_1"/>
          <p:cNvSpPr/>
          <p:nvPr/>
        </p:nvSpPr>
        <p:spPr>
          <a:xfrm>
            <a:off x="3670499" y="3053715"/>
            <a:ext cx="66675" cy="66675"/>
          </a:xfrm>
          <a:prstGeom prst="ellipse">
            <a:avLst/>
          </a:prstGeom>
          <a:solidFill>
            <a:srgbClr val="FBBF24"/>
          </a:solidFill>
          <a:ln w="6350" cap="flat">
            <a:solidFill>
              <a:srgbClr val="FFFFFF"/>
            </a:solidFill>
          </a:ln>
          <a:effectLst>
            <a:glow rad="47625">
              <a:srgbClr val="FBBF24">
                <a:alpha val="26000"/>
              </a:srgbClr>
            </a:glow>
          </a:effectLst>
        </p:spPr>
      </p:sp>
      <p:sp>
        <p:nvSpPr>
          <p:cNvPr id="87" name="mg_radar_dot_score2026_2"/>
          <p:cNvSpPr/>
          <p:nvPr/>
        </p:nvSpPr>
        <p:spPr>
          <a:xfrm>
            <a:off x="3623480" y="4003834"/>
            <a:ext cx="66675" cy="66675"/>
          </a:xfrm>
          <a:prstGeom prst="ellipse">
            <a:avLst/>
          </a:prstGeom>
          <a:solidFill>
            <a:srgbClr val="FBBF24"/>
          </a:solidFill>
          <a:ln w="6350" cap="flat">
            <a:solidFill>
              <a:srgbClr val="FFFFFF"/>
            </a:solidFill>
          </a:ln>
          <a:effectLst>
            <a:glow rad="47625">
              <a:srgbClr val="FBBF24">
                <a:alpha val="26000"/>
              </a:srgbClr>
            </a:glow>
          </a:effectLst>
        </p:spPr>
      </p:sp>
      <p:sp>
        <p:nvSpPr>
          <p:cNvPr id="88" name="mg_radar_dot_score2026_3"/>
          <p:cNvSpPr/>
          <p:nvPr/>
        </p:nvSpPr>
        <p:spPr>
          <a:xfrm>
            <a:off x="2824162" y="4541330"/>
            <a:ext cx="66675" cy="66675"/>
          </a:xfrm>
          <a:prstGeom prst="ellipse">
            <a:avLst/>
          </a:prstGeom>
          <a:solidFill>
            <a:srgbClr val="FBBF24"/>
          </a:solidFill>
          <a:ln w="6350" cap="flat">
            <a:solidFill>
              <a:srgbClr val="FFFFFF"/>
            </a:solidFill>
          </a:ln>
          <a:effectLst>
            <a:glow rad="47625">
              <a:srgbClr val="FBBF24">
                <a:alpha val="26000"/>
              </a:srgbClr>
            </a:glow>
          </a:effectLst>
        </p:spPr>
      </p:sp>
      <p:sp>
        <p:nvSpPr>
          <p:cNvPr id="89" name="mg_radar_dot_score2026_4"/>
          <p:cNvSpPr/>
          <p:nvPr/>
        </p:nvSpPr>
        <p:spPr>
          <a:xfrm>
            <a:off x="1902596" y="4074414"/>
            <a:ext cx="66675" cy="66675"/>
          </a:xfrm>
          <a:prstGeom prst="ellipse">
            <a:avLst/>
          </a:prstGeom>
          <a:solidFill>
            <a:srgbClr val="FBBF24"/>
          </a:solidFill>
          <a:ln w="6350" cap="flat">
            <a:solidFill>
              <a:srgbClr val="FFFFFF"/>
            </a:solidFill>
          </a:ln>
          <a:effectLst>
            <a:glow rad="47625">
              <a:srgbClr val="FBBF24">
                <a:alpha val="26000"/>
              </a:srgbClr>
            </a:glow>
          </a:effectLst>
        </p:spPr>
      </p:sp>
      <p:sp>
        <p:nvSpPr>
          <p:cNvPr id="90" name="mg_radar_dot_score2026_5"/>
          <p:cNvSpPr/>
          <p:nvPr/>
        </p:nvSpPr>
        <p:spPr>
          <a:xfrm>
            <a:off x="2071864" y="3108007"/>
            <a:ext cx="66675" cy="66675"/>
          </a:xfrm>
          <a:prstGeom prst="ellipse">
            <a:avLst/>
          </a:prstGeom>
          <a:solidFill>
            <a:srgbClr val="FBBF24"/>
          </a:solidFill>
          <a:ln w="6350" cap="flat">
            <a:solidFill>
              <a:srgbClr val="FFFFFF"/>
            </a:solidFill>
          </a:ln>
          <a:effectLst>
            <a:glow rad="47625">
              <a:srgbClr val="FBBF24">
                <a:alpha val="26000"/>
              </a:srgbClr>
            </a:glow>
          </a:effectLst>
        </p:spPr>
      </p:sp>
      <p:sp>
        <p:nvSpPr>
          <p:cNvPr id="91" name="mg_cover_growth-chart"/>
          <p:cNvSpPr/>
          <p:nvPr/>
        </p:nvSpPr>
        <p:spPr>
          <a:xfrm>
            <a:off x="571500" y="5286375"/>
            <a:ext cx="11049000" cy="1143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E5E7EB"/>
            </a:solidFill>
          </a:ln>
          <a:effectLst>
            <a:outerShdw blurRad="76200" dist="19050" dir="5400000" algn="ctr" rotWithShape="0">
              <a:srgbClr val="000000">
                <a:alpha val="18000"/>
              </a:srgbClr>
            </a:outerShdw>
          </a:effectLst>
        </p:spPr>
      </p:sp>
      <p:sp>
        <p:nvSpPr>
          <p:cNvPr id="92" name="mg_lg_sq_growth-chart_0"/>
          <p:cNvSpPr/>
          <p:nvPr/>
        </p:nvSpPr>
        <p:spPr>
          <a:xfrm>
            <a:off x="4381500" y="5486400"/>
            <a:ext cx="85725" cy="85725"/>
          </a:xfrm>
          <a:prstGeom prst="round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93" name="mg_lg_tx_growth-chart_0"/>
          <p:cNvSpPr txBox="1"/>
          <p:nvPr/>
        </p:nvSpPr>
        <p:spPr>
          <a:xfrm>
            <a:off x="4514850" y="5438775"/>
            <a:ext cx="156210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2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이전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94" name="mg_lg_sq_growth-chart_1"/>
          <p:cNvSpPr/>
          <p:nvPr/>
        </p:nvSpPr>
        <p:spPr>
          <a:xfrm>
            <a:off x="6096000" y="5486400"/>
            <a:ext cx="85725" cy="85725"/>
          </a:xfrm>
          <a:prstGeom prst="round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95" name="mg_lg_tx_growth-chart_1"/>
          <p:cNvSpPr txBox="1"/>
          <p:nvPr/>
        </p:nvSpPr>
        <p:spPr>
          <a:xfrm>
            <a:off x="6229350" y="5438775"/>
            <a:ext cx="156210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2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현재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96" name="mg_hgrid_growth-chart_0"/>
          <p:cNvSpPr/>
          <p:nvPr/>
        </p:nvSpPr>
        <p:spPr>
          <a:xfrm>
            <a:off x="1857375" y="5657850"/>
            <a:ext cx="7620" cy="571500"/>
          </a:xfrm>
          <a:prstGeom prst="rect">
            <a:avLst/>
          </a:prstGeom>
          <a:solidFill>
            <a:srgbClr val="E5E7EB">
              <a:alpha val="35000"/>
            </a:srgbClr>
          </a:solidFill>
          <a:ln w="0" cap="flat">
            <a:noFill/>
          </a:ln>
        </p:spPr>
      </p:sp>
      <p:sp>
        <p:nvSpPr>
          <p:cNvPr id="97" name="mg_htick_growth-chart_0"/>
          <p:cNvSpPr txBox="1"/>
          <p:nvPr/>
        </p:nvSpPr>
        <p:spPr>
          <a:xfrm>
            <a:off x="1647825" y="6276975"/>
            <a:ext cx="419100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98" name="mg_hgrid_growth-chart_50"/>
          <p:cNvSpPr/>
          <p:nvPr/>
        </p:nvSpPr>
        <p:spPr>
          <a:xfrm>
            <a:off x="6510338" y="5657850"/>
            <a:ext cx="7620" cy="571500"/>
          </a:xfrm>
          <a:prstGeom prst="rect">
            <a:avLst/>
          </a:prstGeom>
          <a:solidFill>
            <a:srgbClr val="E5E7EB">
              <a:alpha val="35000"/>
            </a:srgbClr>
          </a:solidFill>
          <a:ln w="0" cap="flat">
            <a:noFill/>
          </a:ln>
        </p:spPr>
      </p:sp>
      <p:sp>
        <p:nvSpPr>
          <p:cNvPr id="99" name="mg_htick_growth-chart_50"/>
          <p:cNvSpPr txBox="1"/>
          <p:nvPr/>
        </p:nvSpPr>
        <p:spPr>
          <a:xfrm>
            <a:off x="6300788" y="6276975"/>
            <a:ext cx="419100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50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100" name="mg_hgrid_growth-chart_100"/>
          <p:cNvSpPr/>
          <p:nvPr/>
        </p:nvSpPr>
        <p:spPr>
          <a:xfrm>
            <a:off x="11163300" y="5657850"/>
            <a:ext cx="7620" cy="571500"/>
          </a:xfrm>
          <a:prstGeom prst="rect">
            <a:avLst/>
          </a:prstGeom>
          <a:solidFill>
            <a:srgbClr val="E5E7EB">
              <a:alpha val="35000"/>
            </a:srgbClr>
          </a:solidFill>
          <a:ln w="0" cap="flat">
            <a:noFill/>
          </a:ln>
        </p:spPr>
      </p:sp>
      <p:sp>
        <p:nvSpPr>
          <p:cNvPr id="101" name="mg_htick_growth-chart_100"/>
          <p:cNvSpPr txBox="1"/>
          <p:nvPr/>
        </p:nvSpPr>
        <p:spPr>
          <a:xfrm>
            <a:off x="10953750" y="6276975"/>
            <a:ext cx="419100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100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102" name="mg_haxis_growth-chart"/>
          <p:cNvSpPr/>
          <p:nvPr/>
        </p:nvSpPr>
        <p:spPr>
          <a:xfrm>
            <a:off x="1857375" y="6229350"/>
            <a:ext cx="9305925" cy="11430"/>
          </a:xfrm>
          <a:prstGeom prst="rect">
            <a:avLst/>
          </a:prstGeom>
          <a:solidFill>
            <a:srgbClr val="E5E7EB"/>
          </a:solidFill>
          <a:ln w="0" cap="flat">
            <a:noFill/>
          </a:ln>
        </p:spPr>
      </p:sp>
      <p:sp>
        <p:nvSpPr>
          <p:cNvPr id="103" name="mg_hcat_growth-chart_0"/>
          <p:cNvSpPr txBox="1"/>
          <p:nvPr/>
        </p:nvSpPr>
        <p:spPr>
          <a:xfrm>
            <a:off x="647700" y="5671185"/>
            <a:ext cx="1114425" cy="16383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2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재생에너지 비중</a:t>
            </a:r>
            <a:endParaRPr lang="ko-KR" sz="102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104" name="mg_hbarseg_growth-chart_0_0_0"/>
          <p:cNvSpPr/>
          <p:nvPr/>
        </p:nvSpPr>
        <p:spPr>
          <a:xfrm>
            <a:off x="1857375" y="5685425"/>
            <a:ext cx="189928" cy="55245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105" name="mg_hbarseg_growth-chart_0_0_1"/>
          <p:cNvSpPr/>
          <p:nvPr/>
        </p:nvSpPr>
        <p:spPr>
          <a:xfrm>
            <a:off x="2043494" y="5685425"/>
            <a:ext cx="189928" cy="55245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106" name="mg_hbarseg_growth-chart_0_0_2"/>
          <p:cNvSpPr/>
          <p:nvPr/>
        </p:nvSpPr>
        <p:spPr>
          <a:xfrm>
            <a:off x="2229612" y="5685425"/>
            <a:ext cx="189928" cy="55245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107" name="mg_hbarseg_growth-chart_0_0_3"/>
          <p:cNvSpPr/>
          <p:nvPr/>
        </p:nvSpPr>
        <p:spPr>
          <a:xfrm>
            <a:off x="2415730" y="5685425"/>
            <a:ext cx="189928" cy="55245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108" name="mg_hbarlabel_growth-chart_0_0"/>
          <p:cNvSpPr txBox="1"/>
          <p:nvPr/>
        </p:nvSpPr>
        <p:spPr>
          <a:xfrm>
            <a:off x="2649474" y="5647325"/>
            <a:ext cx="476250" cy="131445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1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8</a:t>
            </a:r>
            <a:endParaRPr lang="ko-KR" sz="11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109" name="mg_hbarseg_growth-chart_0_1_0"/>
          <p:cNvSpPr/>
          <p:nvPr/>
        </p:nvSpPr>
        <p:spPr>
          <a:xfrm>
            <a:off x="1857375" y="5765530"/>
            <a:ext cx="515636" cy="5524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10" name="mg_hbarseg_growth-chart_0_1_1"/>
          <p:cNvSpPr/>
          <p:nvPr/>
        </p:nvSpPr>
        <p:spPr>
          <a:xfrm>
            <a:off x="2369201" y="5765530"/>
            <a:ext cx="515636" cy="5524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11" name="mg_hbarseg_growth-chart_0_1_2"/>
          <p:cNvSpPr/>
          <p:nvPr/>
        </p:nvSpPr>
        <p:spPr>
          <a:xfrm>
            <a:off x="2881027" y="5765530"/>
            <a:ext cx="515636" cy="5524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12" name="mg_hbarseg_growth-chart_0_1_3"/>
          <p:cNvSpPr/>
          <p:nvPr/>
        </p:nvSpPr>
        <p:spPr>
          <a:xfrm>
            <a:off x="3392853" y="5765530"/>
            <a:ext cx="515636" cy="5524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13" name="mg_hbarlabel_growth-chart_0_1"/>
          <p:cNvSpPr txBox="1"/>
          <p:nvPr/>
        </p:nvSpPr>
        <p:spPr>
          <a:xfrm>
            <a:off x="3952304" y="5727430"/>
            <a:ext cx="476250" cy="131445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1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22</a:t>
            </a:r>
            <a:endParaRPr lang="ko-KR" sz="11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114" name="mg_hcat_growth-chart_1"/>
          <p:cNvSpPr txBox="1"/>
          <p:nvPr/>
        </p:nvSpPr>
        <p:spPr>
          <a:xfrm>
            <a:off x="647700" y="5861685"/>
            <a:ext cx="1114425" cy="16383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2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스마트팩토리 도입</a:t>
            </a:r>
            <a:endParaRPr lang="ko-KR" sz="102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115" name="mg_hbarseg_growth-chart_1_0_0"/>
          <p:cNvSpPr/>
          <p:nvPr/>
        </p:nvSpPr>
        <p:spPr>
          <a:xfrm>
            <a:off x="1857375" y="5875925"/>
            <a:ext cx="352782" cy="55245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116" name="mg_hbarseg_growth-chart_1_0_1"/>
          <p:cNvSpPr/>
          <p:nvPr/>
        </p:nvSpPr>
        <p:spPr>
          <a:xfrm>
            <a:off x="2206347" y="5875925"/>
            <a:ext cx="352782" cy="55245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117" name="mg_hbarseg_growth-chart_1_0_2"/>
          <p:cNvSpPr/>
          <p:nvPr/>
        </p:nvSpPr>
        <p:spPr>
          <a:xfrm>
            <a:off x="2555319" y="5875925"/>
            <a:ext cx="352782" cy="55245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118" name="mg_hbarseg_growth-chart_1_0_3"/>
          <p:cNvSpPr/>
          <p:nvPr/>
        </p:nvSpPr>
        <p:spPr>
          <a:xfrm>
            <a:off x="2904292" y="5875925"/>
            <a:ext cx="352782" cy="55245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119" name="mg_hbarlabel_growth-chart_1_0"/>
          <p:cNvSpPr txBox="1"/>
          <p:nvPr/>
        </p:nvSpPr>
        <p:spPr>
          <a:xfrm>
            <a:off x="3300889" y="5837825"/>
            <a:ext cx="476250" cy="131445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1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15</a:t>
            </a:r>
            <a:endParaRPr lang="ko-KR" sz="11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120" name="mg_hbarseg_growth-chart_1_1_0"/>
          <p:cNvSpPr/>
          <p:nvPr/>
        </p:nvSpPr>
        <p:spPr>
          <a:xfrm>
            <a:off x="1857375" y="5956030"/>
            <a:ext cx="602048" cy="5524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21" name="mg_hbarseg_growth-chart_1_1_1"/>
          <p:cNvSpPr/>
          <p:nvPr/>
        </p:nvSpPr>
        <p:spPr>
          <a:xfrm>
            <a:off x="2455613" y="5956030"/>
            <a:ext cx="602048" cy="5524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22" name="mg_hbarseg_growth-chart_1_1_2"/>
          <p:cNvSpPr/>
          <p:nvPr/>
        </p:nvSpPr>
        <p:spPr>
          <a:xfrm>
            <a:off x="3053851" y="5956030"/>
            <a:ext cx="602048" cy="5524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23" name="mg_hbarseg_growth-chart_1_1_3"/>
          <p:cNvSpPr/>
          <p:nvPr/>
        </p:nvSpPr>
        <p:spPr>
          <a:xfrm>
            <a:off x="3652089" y="5956030"/>
            <a:ext cx="602048" cy="5524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24" name="mg_hbarseg_growth-chart_1_1_4"/>
          <p:cNvSpPr/>
          <p:nvPr/>
        </p:nvSpPr>
        <p:spPr>
          <a:xfrm>
            <a:off x="4250327" y="5956030"/>
            <a:ext cx="602048" cy="5524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25" name="mg_hbarseg_growth-chart_1_1_5"/>
          <p:cNvSpPr/>
          <p:nvPr/>
        </p:nvSpPr>
        <p:spPr>
          <a:xfrm>
            <a:off x="4848565" y="5956030"/>
            <a:ext cx="602048" cy="5524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26" name="mg_hbarseg_growth-chart_1_1_6"/>
          <p:cNvSpPr/>
          <p:nvPr/>
        </p:nvSpPr>
        <p:spPr>
          <a:xfrm>
            <a:off x="5446803" y="5956030"/>
            <a:ext cx="602048" cy="5524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27" name="mg_hbarlabel_growth-chart_1_1"/>
          <p:cNvSpPr txBox="1"/>
          <p:nvPr/>
        </p:nvSpPr>
        <p:spPr>
          <a:xfrm>
            <a:off x="6092666" y="5917930"/>
            <a:ext cx="476250" cy="131445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1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45</a:t>
            </a:r>
            <a:endParaRPr lang="ko-KR" sz="11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128" name="mg_hcat_growth-chart_2"/>
          <p:cNvSpPr txBox="1"/>
          <p:nvPr/>
        </p:nvSpPr>
        <p:spPr>
          <a:xfrm>
            <a:off x="647700" y="6052185"/>
            <a:ext cx="1114425" cy="16383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2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AI 상용화 지수</a:t>
            </a:r>
            <a:endParaRPr lang="ko-KR" sz="102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129" name="mg_hbarseg_growth-chart_2_0_0"/>
          <p:cNvSpPr/>
          <p:nvPr/>
        </p:nvSpPr>
        <p:spPr>
          <a:xfrm>
            <a:off x="1857375" y="6066425"/>
            <a:ext cx="585430" cy="55245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130" name="mg_hbarseg_growth-chart_2_0_1"/>
          <p:cNvSpPr/>
          <p:nvPr/>
        </p:nvSpPr>
        <p:spPr>
          <a:xfrm>
            <a:off x="2438995" y="6066425"/>
            <a:ext cx="585430" cy="55245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131" name="mg_hbarseg_growth-chart_2_0_2"/>
          <p:cNvSpPr/>
          <p:nvPr/>
        </p:nvSpPr>
        <p:spPr>
          <a:xfrm>
            <a:off x="3020616" y="6066425"/>
            <a:ext cx="585430" cy="55245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132" name="mg_hbarseg_growth-chart_2_0_3"/>
          <p:cNvSpPr/>
          <p:nvPr/>
        </p:nvSpPr>
        <p:spPr>
          <a:xfrm>
            <a:off x="3602236" y="6066425"/>
            <a:ext cx="585430" cy="55245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133" name="mg_hbarlabel_growth-chart_2_0"/>
          <p:cNvSpPr txBox="1"/>
          <p:nvPr/>
        </p:nvSpPr>
        <p:spPr>
          <a:xfrm>
            <a:off x="4231481" y="6028325"/>
            <a:ext cx="476250" cy="131445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1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25</a:t>
            </a:r>
            <a:endParaRPr lang="ko-KR" sz="11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134" name="mg_hbarseg_growth-chart_2_1_0"/>
          <p:cNvSpPr/>
          <p:nvPr/>
        </p:nvSpPr>
        <p:spPr>
          <a:xfrm>
            <a:off x="1857375" y="6146530"/>
            <a:ext cx="608695" cy="5524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35" name="mg_hbarseg_growth-chart_2_1_1"/>
          <p:cNvSpPr/>
          <p:nvPr/>
        </p:nvSpPr>
        <p:spPr>
          <a:xfrm>
            <a:off x="2462260" y="6146530"/>
            <a:ext cx="608695" cy="5524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36" name="mg_hbarseg_growth-chart_2_1_2"/>
          <p:cNvSpPr/>
          <p:nvPr/>
        </p:nvSpPr>
        <p:spPr>
          <a:xfrm>
            <a:off x="3067145" y="6146530"/>
            <a:ext cx="608695" cy="5524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37" name="mg_hbarseg_growth-chart_2_1_3"/>
          <p:cNvSpPr/>
          <p:nvPr/>
        </p:nvSpPr>
        <p:spPr>
          <a:xfrm>
            <a:off x="3672030" y="6146530"/>
            <a:ext cx="608695" cy="5524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38" name="mg_hbarseg_growth-chart_2_1_4"/>
          <p:cNvSpPr/>
          <p:nvPr/>
        </p:nvSpPr>
        <p:spPr>
          <a:xfrm>
            <a:off x="4276916" y="6146530"/>
            <a:ext cx="608695" cy="5524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39" name="mg_hbarseg_growth-chart_2_1_5"/>
          <p:cNvSpPr/>
          <p:nvPr/>
        </p:nvSpPr>
        <p:spPr>
          <a:xfrm>
            <a:off x="4881801" y="6146530"/>
            <a:ext cx="608695" cy="5524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40" name="mg_hbarseg_growth-chart_2_1_6"/>
          <p:cNvSpPr/>
          <p:nvPr/>
        </p:nvSpPr>
        <p:spPr>
          <a:xfrm>
            <a:off x="5486686" y="6146530"/>
            <a:ext cx="608695" cy="5524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41" name="mg_hbarseg_growth-chart_2_1_7"/>
          <p:cNvSpPr/>
          <p:nvPr/>
        </p:nvSpPr>
        <p:spPr>
          <a:xfrm>
            <a:off x="6091571" y="6146530"/>
            <a:ext cx="608695" cy="5524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42" name="mg_hbarseg_growth-chart_2_1_8"/>
          <p:cNvSpPr/>
          <p:nvPr/>
        </p:nvSpPr>
        <p:spPr>
          <a:xfrm>
            <a:off x="6696456" y="6146530"/>
            <a:ext cx="608695" cy="5524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43" name="mg_hbarseg_growth-chart_2_1_9"/>
          <p:cNvSpPr/>
          <p:nvPr/>
        </p:nvSpPr>
        <p:spPr>
          <a:xfrm>
            <a:off x="7301341" y="6146530"/>
            <a:ext cx="608695" cy="5524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44" name="mg_hbarseg_growth-chart_2_1_10"/>
          <p:cNvSpPr/>
          <p:nvPr/>
        </p:nvSpPr>
        <p:spPr>
          <a:xfrm>
            <a:off x="7906226" y="6146530"/>
            <a:ext cx="608695" cy="5524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45" name="mg_hbarseg_growth-chart_2_1_11"/>
          <p:cNvSpPr/>
          <p:nvPr/>
        </p:nvSpPr>
        <p:spPr>
          <a:xfrm>
            <a:off x="8511111" y="6146530"/>
            <a:ext cx="608695" cy="5524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46" name="mg_hbarlabel_growth-chart_2_1"/>
          <p:cNvSpPr txBox="1"/>
          <p:nvPr/>
        </p:nvSpPr>
        <p:spPr>
          <a:xfrm>
            <a:off x="9163622" y="6108430"/>
            <a:ext cx="476250" cy="131445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1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78</a:t>
            </a:r>
            <a:endParaRPr lang="ko-KR" sz="1100">
              <a:latin typeface="Malgun Gothic"/>
              <a:ea typeface="맑은 고딕"/>
              <a:cs typeface="Malgun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clickEffect" fill="hold">
                <p:childTnLst>
                  <p:par>
                    <p:cTn id="3" nodeType="clickEffect" fill="hold" presetClass="entr" presetID="10" presetSubtype="0">
                      <p:childTnLst>
                        <p:animEffect filter="wipe(right)" transition="in">
                          <p:cBhvr additive="repl">
                            <p:cTn id="4" dur="150" nodeType="clickEffect" fill="hold" presetClass="entr" presetID="10" presetSubtype="0">
                              <p:stCondLst>
                                <p:cond delay="120"/>
                              </p:stCondLst>
                            </p:cTn>
                            <p:tgtEl>
                              <p:spTgt spid="104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5" dur="150" nodeType="clickEffect" fill="hold" presetClass="entr" presetID="10" presetSubtype="0">
                              <p:stCondLst>
                                <p:cond delay="138"/>
                              </p:stCondLst>
                            </p:cTn>
                            <p:tgtEl>
                              <p:spTgt spid="105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6" dur="150" nodeType="clickEffect" fill="hold" presetClass="entr" presetID="10" presetSubtype="0">
                              <p:stCondLst>
                                <p:cond delay="156"/>
                              </p:stCondLst>
                            </p:cTn>
                            <p:tgtEl>
                              <p:spTgt spid="106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7" dur="150" nodeType="clickEffect" fill="hold" presetClass="entr" presetID="10" presetSubtype="0">
                              <p:stCondLst>
                                <p:cond delay="174"/>
                              </p:stCondLst>
                            </p:cTn>
                            <p:tgtEl>
                              <p:spTgt spid="107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8" dur="150" nodeType="clickEffect" fill="hold" presetClass="entr" presetID="10" presetSubtype="0">
                              <p:stCondLst>
                                <p:cond delay="237"/>
                              </p:stCondLst>
                            </p:cTn>
                            <p:tgtEl>
                              <p:spTgt spid="108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9" dur="150" nodeType="clickEffect" fill="hold" presetClass="entr" presetID="10" presetSubtype="0">
                              <p:stCondLst>
                                <p:cond delay="245"/>
                              </p:stCondLst>
                            </p:cTn>
                            <p:tgtEl>
                              <p:spTgt spid="109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10" dur="150" nodeType="clickEffect" fill="hold" presetClass="entr" presetID="10" presetSubtype="0">
                              <p:stCondLst>
                                <p:cond delay="263"/>
                              </p:stCondLst>
                            </p:cTn>
                            <p:tgtEl>
                              <p:spTgt spid="110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11" dur="150" nodeType="clickEffect" fill="hold" presetClass="entr" presetID="10" presetSubtype="0">
                              <p:stCondLst>
                                <p:cond delay="281"/>
                              </p:stCondLst>
                            </p:cTn>
                            <p:tgtEl>
                              <p:spTgt spid="111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12" dur="150" nodeType="clickEffect" fill="hold" presetClass="entr" presetID="10" presetSubtype="0">
                              <p:stCondLst>
                                <p:cond delay="299"/>
                              </p:stCondLst>
                            </p:cTn>
                            <p:tgtEl>
                              <p:spTgt spid="112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13" dur="150" nodeType="clickEffect" fill="hold" presetClass="entr" presetID="10" presetSubtype="0">
                              <p:stCondLst>
                                <p:cond delay="362"/>
                              </p:stCondLst>
                            </p:cTn>
                            <p:tgtEl>
                              <p:spTgt spid="113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14" dur="150" nodeType="clickEffect" fill="hold" presetClass="entr" presetID="10" presetSubtype="0">
                              <p:stCondLst>
                                <p:cond delay="370"/>
                              </p:stCondLst>
                            </p:cTn>
                            <p:tgtEl>
                              <p:spTgt spid="115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15" dur="150" nodeType="clickEffect" fill="hold" presetClass="entr" presetID="10" presetSubtype="0">
                              <p:stCondLst>
                                <p:cond delay="388"/>
                              </p:stCondLst>
                            </p:cTn>
                            <p:tgtEl>
                              <p:spTgt spid="116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16" dur="150" nodeType="clickEffect" fill="hold" presetClass="entr" presetID="10" presetSubtype="0">
                              <p:stCondLst>
                                <p:cond delay="406"/>
                              </p:stCondLst>
                            </p:cTn>
                            <p:tgtEl>
                              <p:spTgt spid="117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17" dur="150" nodeType="clickEffect" fill="hold" presetClass="entr" presetID="10" presetSubtype="0">
                              <p:stCondLst>
                                <p:cond delay="424"/>
                              </p:stCondLst>
                            </p:cTn>
                            <p:tgtEl>
                              <p:spTgt spid="118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18" dur="150" nodeType="clickEffect" fill="hold" presetClass="entr" presetID="10" presetSubtype="0">
                              <p:stCondLst>
                                <p:cond delay="487"/>
                              </p:stCondLst>
                            </p:cTn>
                            <p:tgtEl>
                              <p:spTgt spid="119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19" dur="150" nodeType="clickEffect" fill="hold" presetClass="entr" presetID="10" presetSubtype="0">
                              <p:stCondLst>
                                <p:cond delay="495"/>
                              </p:stCondLst>
                            </p:cTn>
                            <p:tgtEl>
                              <p:spTgt spid="120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20" dur="150" nodeType="clickEffect" fill="hold" presetClass="entr" presetID="10" presetSubtype="0">
                              <p:stCondLst>
                                <p:cond delay="513"/>
                              </p:stCondLst>
                            </p:cTn>
                            <p:tgtEl>
                              <p:spTgt spid="121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21" dur="150" nodeType="clickEffect" fill="hold" presetClass="entr" presetID="10" presetSubtype="0">
                              <p:stCondLst>
                                <p:cond delay="531"/>
                              </p:stCondLst>
                            </p:cTn>
                            <p:tgtEl>
                              <p:spTgt spid="122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22" dur="150" nodeType="clickEffect" fill="hold" presetClass="entr" presetID="10" presetSubtype="0">
                              <p:stCondLst>
                                <p:cond delay="549"/>
                              </p:stCondLst>
                            </p:cTn>
                            <p:tgtEl>
                              <p:spTgt spid="123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23" dur="150" nodeType="clickEffect" fill="hold" presetClass="entr" presetID="10" presetSubtype="0">
                              <p:stCondLst>
                                <p:cond delay="567"/>
                              </p:stCondLst>
                            </p:cTn>
                            <p:tgtEl>
                              <p:spTgt spid="124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24" dur="150" nodeType="clickEffect" fill="hold" presetClass="entr" presetID="10" presetSubtype="0">
                              <p:stCondLst>
                                <p:cond delay="585"/>
                              </p:stCondLst>
                            </p:cTn>
                            <p:tgtEl>
                              <p:spTgt spid="125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25" dur="150" nodeType="clickEffect" fill="hold" presetClass="entr" presetID="10" presetSubtype="0">
                              <p:stCondLst>
                                <p:cond delay="603"/>
                              </p:stCondLst>
                            </p:cTn>
                            <p:tgtEl>
                              <p:spTgt spid="126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26" dur="150" nodeType="clickEffect" fill="hold" presetClass="entr" presetID="10" presetSubtype="0">
                              <p:stCondLst>
                                <p:cond delay="620"/>
                              </p:stCondLst>
                            </p:cTn>
                            <p:tgtEl>
                              <p:spTgt spid="129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27" dur="150" nodeType="clickEffect" fill="hold" presetClass="entr" presetID="10" presetSubtype="0">
                              <p:stCondLst>
                                <p:cond delay="638"/>
                              </p:stCondLst>
                            </p:cTn>
                            <p:tgtEl>
                              <p:spTgt spid="130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28" dur="150" nodeType="clickEffect" fill="hold" presetClass="entr" presetID="10" presetSubtype="0">
                              <p:stCondLst>
                                <p:cond delay="656"/>
                              </p:stCondLst>
                            </p:cTn>
                            <p:tgtEl>
                              <p:spTgt spid="131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29" dur="150" nodeType="clickEffect" fill="hold" presetClass="entr" presetID="10" presetSubtype="0">
                              <p:stCondLst>
                                <p:cond delay="666"/>
                              </p:stCondLst>
                            </p:cTn>
                            <p:tgtEl>
                              <p:spTgt spid="127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30" dur="150" nodeType="clickEffect" fill="hold" presetClass="entr" presetID="10" presetSubtype="0">
                              <p:stCondLst>
                                <p:cond delay="674"/>
                              </p:stCondLst>
                            </p:cTn>
                            <p:tgtEl>
                              <p:spTgt spid="132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31" dur="150" nodeType="clickEffect" fill="hold" presetClass="entr" presetID="10" presetSubtype="0">
                              <p:stCondLst>
                                <p:cond delay="737"/>
                              </p:stCondLst>
                            </p:cTn>
                            <p:tgtEl>
                              <p:spTgt spid="133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32" dur="150" nodeType="clickEffect" fill="hold" presetClass="entr" presetID="10" presetSubtype="0">
                              <p:stCondLst>
                                <p:cond delay="745"/>
                              </p:stCondLst>
                            </p:cTn>
                            <p:tgtEl>
                              <p:spTgt spid="134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33" dur="150" nodeType="clickEffect" fill="hold" presetClass="entr" presetID="10" presetSubtype="0">
                              <p:stCondLst>
                                <p:cond delay="763"/>
                              </p:stCondLst>
                            </p:cTn>
                            <p:tgtEl>
                              <p:spTgt spid="135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34" dur="150" nodeType="clickEffect" fill="hold" presetClass="entr" presetID="10" presetSubtype="0">
                              <p:stCondLst>
                                <p:cond delay="781"/>
                              </p:stCondLst>
                            </p:cTn>
                            <p:tgtEl>
                              <p:spTgt spid="136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35" dur="150" nodeType="clickEffect" fill="hold" presetClass="entr" presetID="10" presetSubtype="0">
                              <p:stCondLst>
                                <p:cond delay="799"/>
                              </p:stCondLst>
                            </p:cTn>
                            <p:tgtEl>
                              <p:spTgt spid="137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36" dur="150" nodeType="clickEffect" fill="hold" presetClass="entr" presetID="10" presetSubtype="0">
                              <p:stCondLst>
                                <p:cond delay="817"/>
                              </p:stCondLst>
                            </p:cTn>
                            <p:tgtEl>
                              <p:spTgt spid="138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37" dur="150" nodeType="clickEffect" fill="hold" presetClass="entr" presetID="10" presetSubtype="0">
                              <p:stCondLst>
                                <p:cond delay="835"/>
                              </p:stCondLst>
                            </p:cTn>
                            <p:tgtEl>
                              <p:spTgt spid="139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38" dur="150" nodeType="clickEffect" fill="hold" presetClass="entr" presetID="10" presetSubtype="0">
                              <p:stCondLst>
                                <p:cond delay="853"/>
                              </p:stCondLst>
                            </p:cTn>
                            <p:tgtEl>
                              <p:spTgt spid="140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39" dur="150" nodeType="clickEffect" fill="hold" presetClass="entr" presetID="10" presetSubtype="0">
                              <p:stCondLst>
                                <p:cond delay="871"/>
                              </p:stCondLst>
                            </p:cTn>
                            <p:tgtEl>
                              <p:spTgt spid="141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40" dur="150" nodeType="clickEffect" fill="hold" presetClass="entr" presetID="10" presetSubtype="0">
                              <p:stCondLst>
                                <p:cond delay="889"/>
                              </p:stCondLst>
                            </p:cTn>
                            <p:tgtEl>
                              <p:spTgt spid="142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41" dur="150" nodeType="clickEffect" fill="hold" presetClass="entr" presetID="10" presetSubtype="0">
                              <p:stCondLst>
                                <p:cond delay="907"/>
                              </p:stCondLst>
                            </p:cTn>
                            <p:tgtEl>
                              <p:spTgt spid="143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42" dur="150" nodeType="clickEffect" fill="hold" presetClass="entr" presetID="10" presetSubtype="0">
                              <p:stCondLst>
                                <p:cond delay="925"/>
                              </p:stCondLst>
                            </p:cTn>
                            <p:tgtEl>
                              <p:spTgt spid="144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43" dur="150" nodeType="clickEffect" fill="hold" presetClass="entr" presetID="10" presetSubtype="0">
                              <p:stCondLst>
                                <p:cond delay="943"/>
                              </p:stCondLst>
                            </p:cTn>
                            <p:tgtEl>
                              <p:spTgt spid="145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44" dur="150" nodeType="clickEffect" fill="hold" presetClass="entr" presetID="10" presetSubtype="0">
                              <p:stCondLst>
                                <p:cond delay="1006"/>
                              </p:stCondLst>
                            </p:cTn>
                            <p:tgtEl>
                              <p:spTgt spid="146"/>
                            </p:tgtEl>
                          </p:cBhvr>
                        </p:animEffect>
                      </p:childTnLst>
                    </p:cTn>
                  </p:par>
                </p:childTnLst>
                <p:prevCondLst>
                  <p:cond evt="onPrev">
                    <p:tgtEl>
                      <p:sldTgt/>
                    </p:tgtEl>
                  </p:cond>
                </p:prevCondLst>
                <p:nextCondLst>
                  <p:cond evt="onNext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gg_peak_pil_render/slides/slide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anim_chapter_bar"/>
          <p:cNvSpPr/>
          <p:nvPr/>
        </p:nvSpPr>
        <p:spPr>
          <a:xfrm>
            <a:off x="1000125" y="2476500"/>
            <a:ext cx="876300" cy="38100"/>
          </a:xfrm>
          <a:prstGeom prst="roundRect">
            <a:avLst/>
          </a:prstGeom>
          <a:solidFill>
            <a:srgbClr val="FBBF24">
              <a:alpha val="43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1" name="anim_chapter_orb"/>
          <p:cNvSpPr/>
          <p:nvPr/>
        </p:nvSpPr>
        <p:spPr>
          <a:xfrm>
            <a:off x="8667750" y="4524375"/>
            <a:ext cx="647700" cy="647700"/>
          </a:xfrm>
          <a:prstGeom prst="ellipse">
            <a:avLst/>
          </a:prstGeom>
          <a:solidFill>
            <a:srgbClr val="FBBF24">
              <a:alpha val="2800"/>
            </a:srgbClr>
          </a:solidFill>
          <a:ln w="8890" cap="flat">
            <a:solidFill>
              <a:srgbClr val="FBBF24">
                <a:alpha val="12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gg_peak_pil_render/slides/slide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anim_chart_frame_compare-chart"/>
          <p:cNvSpPr/>
          <p:nvPr/>
        </p:nvSpPr>
        <p:spPr>
          <a:xfrm>
            <a:off x="542925" y="2638425"/>
            <a:ext cx="5581650" cy="3295650"/>
          </a:xfrm>
          <a:prstGeom prst="roundRect">
            <a:avLst/>
          </a:prstGeom>
          <a:noFill/>
          <a:ln w="14605" cap="flat">
            <a:solidFill>
              <a:srgbClr val="FBBF24">
                <a:alpha val="26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1" name="anim_chart_baseline_compare-chart"/>
          <p:cNvSpPr/>
          <p:nvPr/>
        </p:nvSpPr>
        <p:spPr>
          <a:xfrm>
            <a:off x="819150" y="5581650"/>
            <a:ext cx="5029200" cy="133350"/>
          </a:xfrm>
          <a:prstGeom prst="roundRect">
            <a:avLst/>
          </a:prstGeom>
          <a:solidFill>
            <a:srgbClr val="FBBF24">
              <a:alpha val="45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2" name="anim_chart_scan_compare-chart_0"/>
          <p:cNvSpPr/>
          <p:nvPr/>
        </p:nvSpPr>
        <p:spPr>
          <a:xfrm>
            <a:off x="1952625" y="2895600"/>
            <a:ext cx="99441" cy="259080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23" name="anim_chart_scan_compare-chart_1"/>
          <p:cNvSpPr/>
          <p:nvPr/>
        </p:nvSpPr>
        <p:spPr>
          <a:xfrm>
            <a:off x="3444240" y="2895600"/>
            <a:ext cx="99441" cy="259080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24" name="anim_chart_scan_compare-chart_2"/>
          <p:cNvSpPr/>
          <p:nvPr/>
        </p:nvSpPr>
        <p:spPr>
          <a:xfrm>
            <a:off x="4880610" y="2895600"/>
            <a:ext cx="99441" cy="259080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25" name="anim_chart_dot_compare-chart_0"/>
          <p:cNvSpPr/>
          <p:nvPr/>
        </p:nvSpPr>
        <p:spPr>
          <a:xfrm>
            <a:off x="2065972" y="4687252"/>
            <a:ext cx="104775" cy="104775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6" name="anim_chart_dot_compare-chart_1"/>
          <p:cNvSpPr/>
          <p:nvPr/>
        </p:nvSpPr>
        <p:spPr>
          <a:xfrm>
            <a:off x="3723322" y="4169092"/>
            <a:ext cx="104775" cy="104775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7" name="anim_chart_dot_compare-chart_2"/>
          <p:cNvSpPr/>
          <p:nvPr/>
        </p:nvSpPr>
        <p:spPr>
          <a:xfrm>
            <a:off x="5090160" y="3571875"/>
            <a:ext cx="133350" cy="133350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8" name="anim_chart_frame_savings-chart"/>
          <p:cNvSpPr/>
          <p:nvPr/>
        </p:nvSpPr>
        <p:spPr>
          <a:xfrm>
            <a:off x="6448425" y="2638425"/>
            <a:ext cx="5200650" cy="3295650"/>
          </a:xfrm>
          <a:prstGeom prst="roundRect">
            <a:avLst/>
          </a:prstGeom>
          <a:noFill/>
          <a:ln w="14605" cap="flat">
            <a:solidFill>
              <a:srgbClr val="7C3AED">
                <a:alpha val="26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9" name="anim_pie_ring_savings-chart"/>
          <p:cNvSpPr/>
          <p:nvPr/>
        </p:nvSpPr>
        <p:spPr>
          <a:xfrm>
            <a:off x="8406765" y="3541395"/>
            <a:ext cx="1489710" cy="1489710"/>
          </a:xfrm>
          <a:prstGeom prst="ellipse">
            <a:avLst/>
          </a:prstGeom>
          <a:noFill/>
          <a:ln w="27940" cap="flat">
            <a:solidFill>
              <a:srgbClr val="FBBF24">
                <a:alpha val="3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0" name="anim_pie_dot_savings-chart_0"/>
          <p:cNvSpPr/>
          <p:nvPr/>
        </p:nvSpPr>
        <p:spPr>
          <a:xfrm>
            <a:off x="10539412" y="3780472"/>
            <a:ext cx="104775" cy="104775"/>
          </a:xfrm>
          <a:prstGeom prst="ellipse">
            <a:avLst/>
          </a:prstGeom>
          <a:solidFill>
            <a:srgbClr val="FBBF24">
              <a:alpha val="42000"/>
            </a:srgbClr>
          </a:solidFill>
          <a:ln w="7620" cap="flat">
            <a:solidFill>
              <a:srgbClr val="FFFFFF">
                <a:alpha val="33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1" name="anim_pie_dot_savings-chart_1"/>
          <p:cNvSpPr/>
          <p:nvPr/>
        </p:nvSpPr>
        <p:spPr>
          <a:xfrm>
            <a:off x="9253538" y="3327082"/>
            <a:ext cx="104775" cy="104775"/>
          </a:xfrm>
          <a:prstGeom prst="ellipse">
            <a:avLst/>
          </a:prstGeom>
          <a:solidFill>
            <a:srgbClr val="FBBF24">
              <a:alpha val="42000"/>
            </a:srgbClr>
          </a:solidFill>
          <a:ln w="7620" cap="flat">
            <a:solidFill>
              <a:srgbClr val="FFFFFF">
                <a:alpha val="33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2" name="anim_pie_dot_savings-chart_2"/>
          <p:cNvSpPr/>
          <p:nvPr/>
        </p:nvSpPr>
        <p:spPr>
          <a:xfrm>
            <a:off x="8327708" y="4816792"/>
            <a:ext cx="104775" cy="104775"/>
          </a:xfrm>
          <a:prstGeom prst="ellipse">
            <a:avLst/>
          </a:prstGeom>
          <a:solidFill>
            <a:srgbClr val="FBBF24">
              <a:alpha val="42000"/>
            </a:srgbClr>
          </a:solidFill>
          <a:ln w="7620" cap="flat">
            <a:solidFill>
              <a:srgbClr val="FFFFFF">
                <a:alpha val="33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3" name="anim_box_frame_step1-bg"/>
          <p:cNvSpPr/>
          <p:nvPr/>
        </p:nvSpPr>
        <p:spPr>
          <a:xfrm>
            <a:off x="552450" y="1409700"/>
            <a:ext cx="2324100" cy="1085850"/>
          </a:xfrm>
          <a:prstGeom prst="roundRect">
            <a:avLst/>
          </a:prstGeom>
          <a:noFill/>
          <a:ln w="16510" cap="flat">
            <a:solidFill>
              <a:srgbClr val="7C3AED">
                <a:alpha val="17000"/>
              </a:srgbClr>
            </a:solidFill>
            <a:prstDash val="solid"/>
          </a:ln>
        </p:spPr>
      </p:sp>
      <p:sp>
        <p:nvSpPr>
          <p:cNvPr id="34" name="anim_box_bar_step1-bg"/>
          <p:cNvSpPr/>
          <p:nvPr/>
        </p:nvSpPr>
        <p:spPr>
          <a:xfrm>
            <a:off x="704850" y="1495425"/>
            <a:ext cx="502920" cy="28575"/>
          </a:xfrm>
          <a:prstGeom prst="roundRect">
            <a:avLst/>
          </a:prstGeom>
          <a:solidFill>
            <a:srgbClr val="FBBF24">
              <a:alpha val="22000"/>
            </a:srgbClr>
          </a:solidFill>
          <a:ln>
            <a:noFill/>
          </a:ln>
        </p:spPr>
      </p:sp>
      <p:sp>
        <p:nvSpPr>
          <p:cNvPr id="35" name="anim_box_frame_step2-bg"/>
          <p:cNvSpPr/>
          <p:nvPr/>
        </p:nvSpPr>
        <p:spPr>
          <a:xfrm>
            <a:off x="3219450" y="1409700"/>
            <a:ext cx="2324100" cy="1085850"/>
          </a:xfrm>
          <a:prstGeom prst="roundRect">
            <a:avLst/>
          </a:prstGeom>
          <a:noFill/>
          <a:ln w="16510" cap="flat">
            <a:solidFill>
              <a:srgbClr val="7C3AED">
                <a:alpha val="17000"/>
              </a:srgbClr>
            </a:solidFill>
            <a:prstDash val="solid"/>
          </a:ln>
        </p:spPr>
      </p:sp>
      <p:sp>
        <p:nvSpPr>
          <p:cNvPr id="36" name="anim_box_bar_step2-bg"/>
          <p:cNvSpPr/>
          <p:nvPr/>
        </p:nvSpPr>
        <p:spPr>
          <a:xfrm>
            <a:off x="3371850" y="1495425"/>
            <a:ext cx="502920" cy="28575"/>
          </a:xfrm>
          <a:prstGeom prst="roundRect">
            <a:avLst/>
          </a:prstGeom>
          <a:solidFill>
            <a:srgbClr val="FBBF24">
              <a:alpha val="22000"/>
            </a:srgbClr>
          </a:solidFill>
          <a:ln>
            <a:noFill/>
          </a:ln>
        </p:spPr>
      </p:sp>
      <p:sp>
        <p:nvSpPr>
          <p:cNvPr id="37" name="anim_box_frame_step3-bg"/>
          <p:cNvSpPr/>
          <p:nvPr/>
        </p:nvSpPr>
        <p:spPr>
          <a:xfrm>
            <a:off x="5886450" y="1409700"/>
            <a:ext cx="2324100" cy="1085850"/>
          </a:xfrm>
          <a:prstGeom prst="roundRect">
            <a:avLst/>
          </a:prstGeom>
          <a:noFill/>
          <a:ln w="16510" cap="flat">
            <a:solidFill>
              <a:srgbClr val="7C3AED">
                <a:alpha val="17000"/>
              </a:srgbClr>
            </a:solidFill>
            <a:prstDash val="solid"/>
          </a:ln>
        </p:spPr>
      </p:sp>
      <p:sp>
        <p:nvSpPr>
          <p:cNvPr id="38" name="anim_box_bar_step3-bg"/>
          <p:cNvSpPr/>
          <p:nvPr/>
        </p:nvSpPr>
        <p:spPr>
          <a:xfrm>
            <a:off x="6038850" y="1495425"/>
            <a:ext cx="502920" cy="28575"/>
          </a:xfrm>
          <a:prstGeom prst="roundRect">
            <a:avLst/>
          </a:prstGeom>
          <a:solidFill>
            <a:srgbClr val="FBBF24">
              <a:alpha val="22000"/>
            </a:srgbClr>
          </a:solidFill>
          <a:ln>
            <a:noFill/>
          </a:ln>
        </p:spPr>
      </p:sp>
      <p:sp>
        <p:nvSpPr>
          <p:cNvPr id="39" name="anim_box_frame_step4-bg"/>
          <p:cNvSpPr/>
          <p:nvPr/>
        </p:nvSpPr>
        <p:spPr>
          <a:xfrm>
            <a:off x="8553450" y="1409700"/>
            <a:ext cx="3086100" cy="1085850"/>
          </a:xfrm>
          <a:prstGeom prst="roundRect">
            <a:avLst/>
          </a:prstGeom>
          <a:noFill/>
          <a:ln w="16510" cap="flat">
            <a:solidFill>
              <a:srgbClr val="7C3AED">
                <a:alpha val="17000"/>
              </a:srgbClr>
            </a:solidFill>
            <a:prstDash val="solid"/>
          </a:ln>
        </p:spPr>
      </p:sp>
      <p:sp>
        <p:nvSpPr>
          <p:cNvPr id="40" name="anim_box_bar_step4-bg"/>
          <p:cNvSpPr/>
          <p:nvPr/>
        </p:nvSpPr>
        <p:spPr>
          <a:xfrm>
            <a:off x="8705850" y="1495425"/>
            <a:ext cx="670560" cy="28575"/>
          </a:xfrm>
          <a:prstGeom prst="roundRect">
            <a:avLst/>
          </a:prstGeom>
          <a:solidFill>
            <a:srgbClr val="FBBF24">
              <a:alpha val="22000"/>
            </a:srgbClr>
          </a:solidFill>
          <a:ln>
            <a:noFill/>
          </a:ln>
        </p:spPr>
      </p:sp>
      <p:sp>
        <p:nvSpPr>
          <p:cNvPr id="41" name="mg_cover_compare-chart"/>
          <p:cNvSpPr/>
          <p:nvPr/>
        </p:nvSpPr>
        <p:spPr>
          <a:xfrm>
            <a:off x="571500" y="2667000"/>
            <a:ext cx="5524500" cy="32385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E5E7EB"/>
            </a:solidFill>
          </a:ln>
          <a:effectLst>
            <a:outerShdw blurRad="76200" dist="19050" dir="5400000" algn="ctr" rotWithShape="0">
              <a:srgbClr val="000000">
                <a:alpha val="18000"/>
              </a:srgbClr>
            </a:outerShdw>
          </a:effectLst>
        </p:spPr>
      </p:sp>
      <p:sp>
        <p:nvSpPr>
          <p:cNvPr id="42" name="mg_title_compare-chart"/>
          <p:cNvSpPr txBox="1"/>
          <p:nvPr/>
        </p:nvSpPr>
        <p:spPr>
          <a:xfrm>
            <a:off x="685800" y="2762250"/>
            <a:ext cx="5295900" cy="2095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400" kern="1200" b="1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에그피크 적용 전후 전기요금 비교 (㈜삼영메탈 기준, 월 만원)</a:t>
            </a:r>
            <a:endParaRPr lang="ko-KR" sz="14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3" name="mg_lg_sq_compare-chart_0"/>
          <p:cNvSpPr/>
          <p:nvPr/>
        </p:nvSpPr>
        <p:spPr>
          <a:xfrm>
            <a:off x="1619250" y="3095625"/>
            <a:ext cx="85725" cy="85725"/>
          </a:xfrm>
          <a:prstGeom prst="round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44" name="mg_lg_tx_compare-chart_0"/>
          <p:cNvSpPr txBox="1"/>
          <p:nvPr/>
        </p:nvSpPr>
        <p:spPr>
          <a:xfrm>
            <a:off x="1752600" y="3048000"/>
            <a:ext cx="156210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2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적용 전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5" name="mg_lg_sq_compare-chart_1"/>
          <p:cNvSpPr/>
          <p:nvPr/>
        </p:nvSpPr>
        <p:spPr>
          <a:xfrm>
            <a:off x="3333750" y="3095625"/>
            <a:ext cx="85725" cy="85725"/>
          </a:xfrm>
          <a:prstGeom prst="round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46" name="mg_lg_tx_compare-chart_1"/>
          <p:cNvSpPr txBox="1"/>
          <p:nvPr/>
        </p:nvSpPr>
        <p:spPr>
          <a:xfrm>
            <a:off x="3467100" y="3048000"/>
            <a:ext cx="156210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2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적용 후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7" name="mg_grid_compare-chart_0"/>
          <p:cNvSpPr/>
          <p:nvPr/>
        </p:nvSpPr>
        <p:spPr>
          <a:xfrm>
            <a:off x="1123950" y="5505450"/>
            <a:ext cx="4686300" cy="7620"/>
          </a:xfrm>
          <a:prstGeom prst="rect">
            <a:avLst/>
          </a:prstGeom>
          <a:solidFill>
            <a:srgbClr val="E5E7EB">
              <a:alpha val="45000"/>
            </a:srgbClr>
          </a:solidFill>
          <a:ln w="0" cap="flat">
            <a:noFill/>
          </a:ln>
        </p:spPr>
      </p:sp>
      <p:sp>
        <p:nvSpPr>
          <p:cNvPr id="48" name="mg_ytick_compare-chart_0"/>
          <p:cNvSpPr txBox="1"/>
          <p:nvPr/>
        </p:nvSpPr>
        <p:spPr>
          <a:xfrm>
            <a:off x="647700" y="5429250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9" name="mg_grid_compare-chart_250"/>
          <p:cNvSpPr/>
          <p:nvPr/>
        </p:nvSpPr>
        <p:spPr>
          <a:xfrm>
            <a:off x="1123950" y="4979194"/>
            <a:ext cx="4686300" cy="7620"/>
          </a:xfrm>
          <a:prstGeom prst="rect">
            <a:avLst/>
          </a:prstGeom>
          <a:solidFill>
            <a:srgbClr val="E5E7EB">
              <a:alpha val="45000"/>
            </a:srgbClr>
          </a:solidFill>
          <a:ln w="0" cap="flat">
            <a:noFill/>
          </a:ln>
        </p:spPr>
      </p:sp>
      <p:sp>
        <p:nvSpPr>
          <p:cNvPr id="50" name="mg_ytick_compare-chart_250"/>
          <p:cNvSpPr txBox="1"/>
          <p:nvPr/>
        </p:nvSpPr>
        <p:spPr>
          <a:xfrm>
            <a:off x="647700" y="4902994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250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51" name="mg_grid_compare-chart_500"/>
          <p:cNvSpPr/>
          <p:nvPr/>
        </p:nvSpPr>
        <p:spPr>
          <a:xfrm>
            <a:off x="1123950" y="4452938"/>
            <a:ext cx="4686300" cy="7620"/>
          </a:xfrm>
          <a:prstGeom prst="rect">
            <a:avLst/>
          </a:prstGeom>
          <a:solidFill>
            <a:srgbClr val="E5E7EB">
              <a:alpha val="45000"/>
            </a:srgbClr>
          </a:solidFill>
          <a:ln w="0" cap="flat">
            <a:noFill/>
          </a:ln>
        </p:spPr>
      </p:sp>
      <p:sp>
        <p:nvSpPr>
          <p:cNvPr id="52" name="mg_ytick_compare-chart_500"/>
          <p:cNvSpPr txBox="1"/>
          <p:nvPr/>
        </p:nvSpPr>
        <p:spPr>
          <a:xfrm>
            <a:off x="647700" y="4376738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500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53" name="mg_grid_compare-chart_750"/>
          <p:cNvSpPr/>
          <p:nvPr/>
        </p:nvSpPr>
        <p:spPr>
          <a:xfrm>
            <a:off x="1123950" y="3926681"/>
            <a:ext cx="4686300" cy="7620"/>
          </a:xfrm>
          <a:prstGeom prst="rect">
            <a:avLst/>
          </a:prstGeom>
          <a:solidFill>
            <a:srgbClr val="E5E7EB">
              <a:alpha val="45000"/>
            </a:srgbClr>
          </a:solidFill>
          <a:ln w="0" cap="flat">
            <a:noFill/>
          </a:ln>
        </p:spPr>
      </p:sp>
      <p:sp>
        <p:nvSpPr>
          <p:cNvPr id="54" name="mg_ytick_compare-chart_750"/>
          <p:cNvSpPr txBox="1"/>
          <p:nvPr/>
        </p:nvSpPr>
        <p:spPr>
          <a:xfrm>
            <a:off x="647700" y="3850481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750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55" name="mg_grid_compare-chart_1,000"/>
          <p:cNvSpPr/>
          <p:nvPr/>
        </p:nvSpPr>
        <p:spPr>
          <a:xfrm>
            <a:off x="1123950" y="3400425"/>
            <a:ext cx="4686300" cy="7620"/>
          </a:xfrm>
          <a:prstGeom prst="rect">
            <a:avLst/>
          </a:prstGeom>
          <a:solidFill>
            <a:srgbClr val="E5E7EB">
              <a:alpha val="45000"/>
            </a:srgbClr>
          </a:solidFill>
          <a:ln w="0" cap="flat">
            <a:noFill/>
          </a:ln>
        </p:spPr>
      </p:sp>
      <p:sp>
        <p:nvSpPr>
          <p:cNvPr id="56" name="mg_ytick_compare-chart_1,000"/>
          <p:cNvSpPr txBox="1"/>
          <p:nvPr/>
        </p:nvSpPr>
        <p:spPr>
          <a:xfrm>
            <a:off x="647700" y="3324225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1,000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57" name="mg_axis_compare-chart"/>
          <p:cNvSpPr/>
          <p:nvPr/>
        </p:nvSpPr>
        <p:spPr>
          <a:xfrm>
            <a:off x="1123950" y="5505450"/>
            <a:ext cx="4686300" cy="11430"/>
          </a:xfrm>
          <a:prstGeom prst="rect">
            <a:avLst/>
          </a:prstGeom>
          <a:solidFill>
            <a:srgbClr val="E5E7EB"/>
          </a:solidFill>
          <a:ln w="0" cap="flat">
            <a:noFill/>
          </a:ln>
        </p:spPr>
      </p:sp>
      <p:sp>
        <p:nvSpPr>
          <p:cNvPr id="58" name="mg_xcat_compare-chart_0"/>
          <p:cNvSpPr txBox="1"/>
          <p:nvPr/>
        </p:nvSpPr>
        <p:spPr>
          <a:xfrm>
            <a:off x="1123950" y="5553075"/>
            <a:ext cx="156210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2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기본요금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59" name="mg_barseg_compare-chart_0_0_0"/>
          <p:cNvSpPr/>
          <p:nvPr/>
        </p:nvSpPr>
        <p:spPr>
          <a:xfrm>
            <a:off x="1409128" y="5481768"/>
            <a:ext cx="453009" cy="27492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60" name="mg_barseg_compare-chart_0_0_1"/>
          <p:cNvSpPr/>
          <p:nvPr/>
        </p:nvSpPr>
        <p:spPr>
          <a:xfrm>
            <a:off x="1409128" y="5458087"/>
            <a:ext cx="453009" cy="27492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61" name="mg_barseg_compare-chart_0_0_2"/>
          <p:cNvSpPr/>
          <p:nvPr/>
        </p:nvSpPr>
        <p:spPr>
          <a:xfrm>
            <a:off x="1409128" y="5434405"/>
            <a:ext cx="453009" cy="27492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62" name="mg_barseg_compare-chart_0_0_3"/>
          <p:cNvSpPr/>
          <p:nvPr/>
        </p:nvSpPr>
        <p:spPr>
          <a:xfrm>
            <a:off x="1409128" y="5410724"/>
            <a:ext cx="453009" cy="27492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63" name="mg_barlabel_compare-chart_0_0"/>
          <p:cNvSpPr txBox="1"/>
          <p:nvPr/>
        </p:nvSpPr>
        <p:spPr>
          <a:xfrm>
            <a:off x="1237678" y="5182124"/>
            <a:ext cx="795909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1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45</a:t>
            </a:r>
            <a:endParaRPr lang="ko-KR" sz="11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4" name="mg_barseg_compare-chart_0_1_0"/>
          <p:cNvSpPr/>
          <p:nvPr/>
        </p:nvSpPr>
        <p:spPr>
          <a:xfrm>
            <a:off x="1947862" y="5500714"/>
            <a:ext cx="453009" cy="8546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5" name="mg_barseg_compare-chart_0_1_1"/>
          <p:cNvSpPr/>
          <p:nvPr/>
        </p:nvSpPr>
        <p:spPr>
          <a:xfrm>
            <a:off x="1947862" y="5495977"/>
            <a:ext cx="453009" cy="8546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6" name="mg_barseg_compare-chart_0_1_2"/>
          <p:cNvSpPr/>
          <p:nvPr/>
        </p:nvSpPr>
        <p:spPr>
          <a:xfrm>
            <a:off x="1947862" y="5491241"/>
            <a:ext cx="453009" cy="8546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7" name="mg_barseg_compare-chart_0_1_3"/>
          <p:cNvSpPr/>
          <p:nvPr/>
        </p:nvSpPr>
        <p:spPr>
          <a:xfrm>
            <a:off x="1947862" y="5486505"/>
            <a:ext cx="453009" cy="8546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8" name="mg_barlabel_compare-chart_0_1"/>
          <p:cNvSpPr txBox="1"/>
          <p:nvPr/>
        </p:nvSpPr>
        <p:spPr>
          <a:xfrm>
            <a:off x="1776412" y="5257905"/>
            <a:ext cx="795909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1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9</a:t>
            </a:r>
            <a:endParaRPr lang="ko-KR" sz="11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9" name="mg_xcat_compare-chart_1"/>
          <p:cNvSpPr txBox="1"/>
          <p:nvPr/>
        </p:nvSpPr>
        <p:spPr>
          <a:xfrm>
            <a:off x="2686050" y="5553075"/>
            <a:ext cx="156210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2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피크요금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70" name="mg_barseg_compare-chart_1_0_0"/>
          <p:cNvSpPr/>
          <p:nvPr/>
        </p:nvSpPr>
        <p:spPr>
          <a:xfrm>
            <a:off x="2971228" y="5410724"/>
            <a:ext cx="453009" cy="98536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71" name="mg_barseg_compare-chart_1_0_1"/>
          <p:cNvSpPr/>
          <p:nvPr/>
        </p:nvSpPr>
        <p:spPr>
          <a:xfrm>
            <a:off x="2971228" y="5315998"/>
            <a:ext cx="453009" cy="98536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72" name="mg_barseg_compare-chart_1_0_2"/>
          <p:cNvSpPr/>
          <p:nvPr/>
        </p:nvSpPr>
        <p:spPr>
          <a:xfrm>
            <a:off x="2971228" y="5221272"/>
            <a:ext cx="453009" cy="98536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73" name="mg_barseg_compare-chart_1_0_3"/>
          <p:cNvSpPr/>
          <p:nvPr/>
        </p:nvSpPr>
        <p:spPr>
          <a:xfrm>
            <a:off x="2971228" y="5126546"/>
            <a:ext cx="453009" cy="98536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74" name="mg_barlabel_compare-chart_1_0"/>
          <p:cNvSpPr txBox="1"/>
          <p:nvPr/>
        </p:nvSpPr>
        <p:spPr>
          <a:xfrm>
            <a:off x="2799778" y="4897946"/>
            <a:ext cx="795909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1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180</a:t>
            </a:r>
            <a:endParaRPr lang="ko-KR" sz="11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75" name="mg_barseg_compare-chart_1_1_0"/>
          <p:cNvSpPr/>
          <p:nvPr/>
        </p:nvSpPr>
        <p:spPr>
          <a:xfrm>
            <a:off x="3509962" y="5467560"/>
            <a:ext cx="453009" cy="4170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6" name="mg_barseg_compare-chart_1_1_1"/>
          <p:cNvSpPr/>
          <p:nvPr/>
        </p:nvSpPr>
        <p:spPr>
          <a:xfrm>
            <a:off x="3509962" y="5429669"/>
            <a:ext cx="453009" cy="4170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7" name="mg_barseg_compare-chart_1_1_2"/>
          <p:cNvSpPr/>
          <p:nvPr/>
        </p:nvSpPr>
        <p:spPr>
          <a:xfrm>
            <a:off x="3509962" y="5391779"/>
            <a:ext cx="453009" cy="4170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8" name="mg_barseg_compare-chart_1_1_3"/>
          <p:cNvSpPr/>
          <p:nvPr/>
        </p:nvSpPr>
        <p:spPr>
          <a:xfrm>
            <a:off x="3509962" y="5353888"/>
            <a:ext cx="453009" cy="4170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9" name="mg_barlabel_compare-chart_1_1"/>
          <p:cNvSpPr txBox="1"/>
          <p:nvPr/>
        </p:nvSpPr>
        <p:spPr>
          <a:xfrm>
            <a:off x="3338512" y="5125288"/>
            <a:ext cx="795909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1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72</a:t>
            </a:r>
            <a:endParaRPr lang="ko-KR" sz="11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80" name="mg_xcat_compare-chart_2"/>
          <p:cNvSpPr txBox="1"/>
          <p:nvPr/>
        </p:nvSpPr>
        <p:spPr>
          <a:xfrm>
            <a:off x="4248150" y="5553075"/>
            <a:ext cx="156210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2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총 전기요금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81" name="mg_barseg_compare-chart_2_0_0"/>
          <p:cNvSpPr/>
          <p:nvPr/>
        </p:nvSpPr>
        <p:spPr>
          <a:xfrm>
            <a:off x="4533328" y="5363361"/>
            <a:ext cx="453009" cy="145899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82" name="mg_barseg_compare-chart_2_0_1"/>
          <p:cNvSpPr/>
          <p:nvPr/>
        </p:nvSpPr>
        <p:spPr>
          <a:xfrm>
            <a:off x="4533328" y="5221272"/>
            <a:ext cx="453009" cy="145899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83" name="mg_barseg_compare-chart_2_0_2"/>
          <p:cNvSpPr/>
          <p:nvPr/>
        </p:nvSpPr>
        <p:spPr>
          <a:xfrm>
            <a:off x="4533328" y="5079182"/>
            <a:ext cx="453009" cy="145899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84" name="mg_barseg_compare-chart_2_0_3"/>
          <p:cNvSpPr/>
          <p:nvPr/>
        </p:nvSpPr>
        <p:spPr>
          <a:xfrm>
            <a:off x="4533328" y="4937093"/>
            <a:ext cx="453009" cy="145899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85" name="mg_barseg_compare-chart_2_0_4"/>
          <p:cNvSpPr/>
          <p:nvPr/>
        </p:nvSpPr>
        <p:spPr>
          <a:xfrm>
            <a:off x="4533328" y="4795004"/>
            <a:ext cx="453009" cy="145899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86" name="mg_barseg_compare-chart_2_0_5"/>
          <p:cNvSpPr/>
          <p:nvPr/>
        </p:nvSpPr>
        <p:spPr>
          <a:xfrm>
            <a:off x="4533328" y="4652915"/>
            <a:ext cx="453009" cy="145899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87" name="mg_barseg_compare-chart_2_0_6"/>
          <p:cNvSpPr/>
          <p:nvPr/>
        </p:nvSpPr>
        <p:spPr>
          <a:xfrm>
            <a:off x="4533328" y="4510826"/>
            <a:ext cx="453009" cy="145899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88" name="mg_barseg_compare-chart_2_0_7"/>
          <p:cNvSpPr/>
          <p:nvPr/>
        </p:nvSpPr>
        <p:spPr>
          <a:xfrm>
            <a:off x="4533328" y="4368736"/>
            <a:ext cx="453009" cy="145899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89" name="mg_barseg_compare-chart_2_0_8"/>
          <p:cNvSpPr/>
          <p:nvPr/>
        </p:nvSpPr>
        <p:spPr>
          <a:xfrm>
            <a:off x="4533328" y="4226647"/>
            <a:ext cx="453009" cy="145899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90" name="mg_barseg_compare-chart_2_0_9"/>
          <p:cNvSpPr/>
          <p:nvPr/>
        </p:nvSpPr>
        <p:spPr>
          <a:xfrm>
            <a:off x="4533328" y="4084558"/>
            <a:ext cx="453009" cy="145899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91" name="mg_barseg_compare-chart_2_0_10"/>
          <p:cNvSpPr/>
          <p:nvPr/>
        </p:nvSpPr>
        <p:spPr>
          <a:xfrm>
            <a:off x="4533328" y="3942469"/>
            <a:ext cx="453009" cy="145899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92" name="mg_barseg_compare-chart_2_0_11"/>
          <p:cNvSpPr/>
          <p:nvPr/>
        </p:nvSpPr>
        <p:spPr>
          <a:xfrm>
            <a:off x="4533328" y="3800380"/>
            <a:ext cx="453009" cy="145899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93" name="mg_barlabel_compare-chart_2_0"/>
          <p:cNvSpPr txBox="1"/>
          <p:nvPr/>
        </p:nvSpPr>
        <p:spPr>
          <a:xfrm>
            <a:off x="4361878" y="3571780"/>
            <a:ext cx="795909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1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810</a:t>
            </a:r>
            <a:endParaRPr lang="ko-KR" sz="11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94" name="mg_barseg_compare-chart_2_1_0"/>
          <p:cNvSpPr/>
          <p:nvPr/>
        </p:nvSpPr>
        <p:spPr>
          <a:xfrm>
            <a:off x="5072062" y="5391779"/>
            <a:ext cx="453009" cy="11748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95" name="mg_barseg_compare-chart_2_1_1"/>
          <p:cNvSpPr/>
          <p:nvPr/>
        </p:nvSpPr>
        <p:spPr>
          <a:xfrm>
            <a:off x="5072062" y="5278107"/>
            <a:ext cx="453009" cy="11748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96" name="mg_barseg_compare-chart_2_1_2"/>
          <p:cNvSpPr/>
          <p:nvPr/>
        </p:nvSpPr>
        <p:spPr>
          <a:xfrm>
            <a:off x="5072062" y="5164436"/>
            <a:ext cx="453009" cy="11748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97" name="mg_barseg_compare-chart_2_1_3"/>
          <p:cNvSpPr/>
          <p:nvPr/>
        </p:nvSpPr>
        <p:spPr>
          <a:xfrm>
            <a:off x="5072062" y="5050765"/>
            <a:ext cx="453009" cy="11748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98" name="mg_barseg_compare-chart_2_1_4"/>
          <p:cNvSpPr/>
          <p:nvPr/>
        </p:nvSpPr>
        <p:spPr>
          <a:xfrm>
            <a:off x="5072062" y="4937093"/>
            <a:ext cx="453009" cy="11748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99" name="mg_barseg_compare-chart_2_1_5"/>
          <p:cNvSpPr/>
          <p:nvPr/>
        </p:nvSpPr>
        <p:spPr>
          <a:xfrm>
            <a:off x="5072062" y="4823422"/>
            <a:ext cx="453009" cy="11748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00" name="mg_barseg_compare-chart_2_1_6"/>
          <p:cNvSpPr/>
          <p:nvPr/>
        </p:nvSpPr>
        <p:spPr>
          <a:xfrm>
            <a:off x="5072062" y="4709751"/>
            <a:ext cx="453009" cy="11748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01" name="mg_barseg_compare-chart_2_1_7"/>
          <p:cNvSpPr/>
          <p:nvPr/>
        </p:nvSpPr>
        <p:spPr>
          <a:xfrm>
            <a:off x="5072062" y="4596079"/>
            <a:ext cx="453009" cy="11748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02" name="mg_barseg_compare-chart_2_1_8"/>
          <p:cNvSpPr/>
          <p:nvPr/>
        </p:nvSpPr>
        <p:spPr>
          <a:xfrm>
            <a:off x="5072062" y="4482408"/>
            <a:ext cx="453009" cy="11748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03" name="mg_barlabel_compare-chart_2_1"/>
          <p:cNvSpPr txBox="1"/>
          <p:nvPr/>
        </p:nvSpPr>
        <p:spPr>
          <a:xfrm>
            <a:off x="4900612" y="4253808"/>
            <a:ext cx="795909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1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486</a:t>
            </a:r>
            <a:endParaRPr lang="ko-KR" sz="1100">
              <a:latin typeface="Malgun Gothic"/>
              <a:ea typeface="맑은 고딕"/>
              <a:cs typeface="Malgun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clickEffect" fill="hold">
                <p:childTnLst>
                  <p:par>
                    <p:cTn id="3" nodeType="clickEffect" fill="hold" presetClass="entr" presetID="10" presetSubtype="0">
                      <p:childTnLst>
                        <p:animEffect filter="wipe(up)" transition="in">
                          <p:cBhvr additive="repl">
                            <p:cTn id="4" dur="170" nodeType="clickEffect" fill="hold" presetClass="entr" presetID="10" presetSubtype="0">
                              <p:stCondLst>
                                <p:cond delay="120"/>
                              </p:stCondLst>
                            </p:cTn>
                            <p:tgtEl>
                              <p:spTgt spid="59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5" dur="170" nodeType="clickEffect" fill="hold" presetClass="entr" presetID="10" presetSubtype="0">
                              <p:stCondLst>
                                <p:cond delay="144"/>
                              </p:stCondLst>
                            </p:cTn>
                            <p:tgtEl>
                              <p:spTgt spid="60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6" dur="170" nodeType="clickEffect" fill="hold" presetClass="entr" presetID="10" presetSubtype="0">
                              <p:stCondLst>
                                <p:cond delay="168"/>
                              </p:stCondLst>
                            </p:cTn>
                            <p:tgtEl>
                              <p:spTgt spid="61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7" dur="170" nodeType="clickEffect" fill="hold" presetClass="entr" presetID="10" presetSubtype="0">
                              <p:stCondLst>
                                <p:cond delay="192"/>
                              </p:stCondLst>
                            </p:cTn>
                            <p:tgtEl>
                              <p:spTgt spid="62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8" dur="170" nodeType="clickEffect" fill="hold" presetClass="entr" presetID="10" presetSubtype="0">
                              <p:stCondLst>
                                <p:cond delay="255"/>
                              </p:stCondLst>
                            </p:cTn>
                            <p:tgtEl>
                              <p:spTgt spid="64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9" dur="160" nodeType="clickEffect" fill="hold" presetClass="entr" presetID="10" presetSubtype="0">
                              <p:stCondLst>
                                <p:cond delay="266"/>
                              </p:stCondLst>
                            </p:cTn>
                            <p:tgtEl>
                              <p:spTgt spid="63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0" dur="170" nodeType="clickEffect" fill="hold" presetClass="entr" presetID="10" presetSubtype="0">
                              <p:stCondLst>
                                <p:cond delay="279"/>
                              </p:stCondLst>
                            </p:cTn>
                            <p:tgtEl>
                              <p:spTgt spid="65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1" dur="170" nodeType="clickEffect" fill="hold" presetClass="entr" presetID="10" presetSubtype="0">
                              <p:stCondLst>
                                <p:cond delay="303"/>
                              </p:stCondLst>
                            </p:cTn>
                            <p:tgtEl>
                              <p:spTgt spid="66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2" dur="170" nodeType="clickEffect" fill="hold" presetClass="entr" presetID="10" presetSubtype="0">
                              <p:stCondLst>
                                <p:cond delay="327"/>
                              </p:stCondLst>
                            </p:cTn>
                            <p:tgtEl>
                              <p:spTgt spid="6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3" dur="170" nodeType="clickEffect" fill="hold" presetClass="entr" presetID="10" presetSubtype="0">
                              <p:stCondLst>
                                <p:cond delay="390"/>
                              </p:stCondLst>
                            </p:cTn>
                            <p:tgtEl>
                              <p:spTgt spid="70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14" dur="160" nodeType="clickEffect" fill="hold" presetClass="entr" presetID="10" presetSubtype="0">
                              <p:stCondLst>
                                <p:cond delay="401"/>
                              </p:stCondLst>
                            </p:cTn>
                            <p:tgtEl>
                              <p:spTgt spid="68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5" dur="170" nodeType="clickEffect" fill="hold" presetClass="entr" presetID="10" presetSubtype="0">
                              <p:stCondLst>
                                <p:cond delay="414"/>
                              </p:stCondLst>
                            </p:cTn>
                            <p:tgtEl>
                              <p:spTgt spid="71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6" dur="170" nodeType="clickEffect" fill="hold" presetClass="entr" presetID="10" presetSubtype="0">
                              <p:stCondLst>
                                <p:cond delay="438"/>
                              </p:stCondLst>
                            </p:cTn>
                            <p:tgtEl>
                              <p:spTgt spid="72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7" dur="170" nodeType="clickEffect" fill="hold" presetClass="entr" presetID="10" presetSubtype="0">
                              <p:stCondLst>
                                <p:cond delay="462"/>
                              </p:stCondLst>
                            </p:cTn>
                            <p:tgtEl>
                              <p:spTgt spid="73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8" dur="170" nodeType="clickEffect" fill="hold" presetClass="entr" presetID="10" presetSubtype="0">
                              <p:stCondLst>
                                <p:cond delay="525"/>
                              </p:stCondLst>
                            </p:cTn>
                            <p:tgtEl>
                              <p:spTgt spid="75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19" dur="160" nodeType="clickEffect" fill="hold" presetClass="entr" presetID="10" presetSubtype="0">
                              <p:stCondLst>
                                <p:cond delay="536"/>
                              </p:stCondLst>
                            </p:cTn>
                            <p:tgtEl>
                              <p:spTgt spid="74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0" dur="170" nodeType="clickEffect" fill="hold" presetClass="entr" presetID="10" presetSubtype="0">
                              <p:stCondLst>
                                <p:cond delay="549"/>
                              </p:stCondLst>
                            </p:cTn>
                            <p:tgtEl>
                              <p:spTgt spid="76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1" dur="170" nodeType="clickEffect" fill="hold" presetClass="entr" presetID="10" presetSubtype="0">
                              <p:stCondLst>
                                <p:cond delay="573"/>
                              </p:stCondLst>
                            </p:cTn>
                            <p:tgtEl>
                              <p:spTgt spid="7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2" dur="170" nodeType="clickEffect" fill="hold" presetClass="entr" presetID="10" presetSubtype="0">
                              <p:stCondLst>
                                <p:cond delay="597"/>
                              </p:stCondLst>
                            </p:cTn>
                            <p:tgtEl>
                              <p:spTgt spid="78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3" dur="170" nodeType="clickEffect" fill="hold" presetClass="entr" presetID="10" presetSubtype="0">
                              <p:stCondLst>
                                <p:cond delay="660"/>
                              </p:stCondLst>
                            </p:cTn>
                            <p:tgtEl>
                              <p:spTgt spid="81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24" dur="160" nodeType="clickEffect" fill="hold" presetClass="entr" presetID="10" presetSubtype="0">
                              <p:stCondLst>
                                <p:cond delay="671"/>
                              </p:stCondLst>
                            </p:cTn>
                            <p:tgtEl>
                              <p:spTgt spid="79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5" dur="170" nodeType="clickEffect" fill="hold" presetClass="entr" presetID="10" presetSubtype="0">
                              <p:stCondLst>
                                <p:cond delay="684"/>
                              </p:stCondLst>
                            </p:cTn>
                            <p:tgtEl>
                              <p:spTgt spid="82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6" dur="170" nodeType="clickEffect" fill="hold" presetClass="entr" presetID="10" presetSubtype="0">
                              <p:stCondLst>
                                <p:cond delay="708"/>
                              </p:stCondLst>
                            </p:cTn>
                            <p:tgtEl>
                              <p:spTgt spid="83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7" dur="170" nodeType="clickEffect" fill="hold" presetClass="entr" presetID="10" presetSubtype="0">
                              <p:stCondLst>
                                <p:cond delay="732"/>
                              </p:stCondLst>
                            </p:cTn>
                            <p:tgtEl>
                              <p:spTgt spid="84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8" dur="170" nodeType="clickEffect" fill="hold" presetClass="entr" presetID="10" presetSubtype="0">
                              <p:stCondLst>
                                <p:cond delay="756"/>
                              </p:stCondLst>
                            </p:cTn>
                            <p:tgtEl>
                              <p:spTgt spid="85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9" dur="170" nodeType="clickEffect" fill="hold" presetClass="entr" presetID="10" presetSubtype="0">
                              <p:stCondLst>
                                <p:cond delay="780"/>
                              </p:stCondLst>
                            </p:cTn>
                            <p:tgtEl>
                              <p:spTgt spid="86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0" dur="170" nodeType="clickEffect" fill="hold" presetClass="entr" presetID="10" presetSubtype="0">
                              <p:stCondLst>
                                <p:cond delay="795"/>
                              </p:stCondLst>
                            </p:cTn>
                            <p:tgtEl>
                              <p:spTgt spid="94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1" dur="170" nodeType="clickEffect" fill="hold" presetClass="entr" presetID="10" presetSubtype="0">
                              <p:stCondLst>
                                <p:cond delay="804"/>
                              </p:stCondLst>
                            </p:cTn>
                            <p:tgtEl>
                              <p:spTgt spid="8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2" dur="170" nodeType="clickEffect" fill="hold" presetClass="entr" presetID="10" presetSubtype="0">
                              <p:stCondLst>
                                <p:cond delay="819"/>
                              </p:stCondLst>
                            </p:cTn>
                            <p:tgtEl>
                              <p:spTgt spid="95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3" dur="170" nodeType="clickEffect" fill="hold" presetClass="entr" presetID="10" presetSubtype="0">
                              <p:stCondLst>
                                <p:cond delay="828"/>
                              </p:stCondLst>
                            </p:cTn>
                            <p:tgtEl>
                              <p:spTgt spid="88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4" dur="170" nodeType="clickEffect" fill="hold" presetClass="entr" presetID="10" presetSubtype="0">
                              <p:stCondLst>
                                <p:cond delay="843"/>
                              </p:stCondLst>
                            </p:cTn>
                            <p:tgtEl>
                              <p:spTgt spid="96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5" dur="170" nodeType="clickEffect" fill="hold" presetClass="entr" presetID="10" presetSubtype="0">
                              <p:stCondLst>
                                <p:cond delay="852"/>
                              </p:stCondLst>
                            </p:cTn>
                            <p:tgtEl>
                              <p:spTgt spid="89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6" dur="170" nodeType="clickEffect" fill="hold" presetClass="entr" presetID="10" presetSubtype="0">
                              <p:stCondLst>
                                <p:cond delay="867"/>
                              </p:stCondLst>
                            </p:cTn>
                            <p:tgtEl>
                              <p:spTgt spid="9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7" dur="170" nodeType="clickEffect" fill="hold" presetClass="entr" presetID="10" presetSubtype="0">
                              <p:stCondLst>
                                <p:cond delay="876"/>
                              </p:stCondLst>
                            </p:cTn>
                            <p:tgtEl>
                              <p:spTgt spid="90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8" dur="170" nodeType="clickEffect" fill="hold" presetClass="entr" presetID="10" presetSubtype="0">
                              <p:stCondLst>
                                <p:cond delay="891"/>
                              </p:stCondLst>
                            </p:cTn>
                            <p:tgtEl>
                              <p:spTgt spid="98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9" dur="170" nodeType="clickEffect" fill="hold" presetClass="entr" presetID="10" presetSubtype="0">
                              <p:stCondLst>
                                <p:cond delay="900"/>
                              </p:stCondLst>
                            </p:cTn>
                            <p:tgtEl>
                              <p:spTgt spid="91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40" dur="170" nodeType="clickEffect" fill="hold" presetClass="entr" presetID="10" presetSubtype="0">
                              <p:stCondLst>
                                <p:cond delay="915"/>
                              </p:stCondLst>
                            </p:cTn>
                            <p:tgtEl>
                              <p:spTgt spid="99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41" dur="170" nodeType="clickEffect" fill="hold" presetClass="entr" presetID="10" presetSubtype="0">
                              <p:stCondLst>
                                <p:cond delay="924"/>
                              </p:stCondLst>
                            </p:cTn>
                            <p:tgtEl>
                              <p:spTgt spid="92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42" dur="170" nodeType="clickEffect" fill="hold" presetClass="entr" presetID="10" presetSubtype="0">
                              <p:stCondLst>
                                <p:cond delay="939"/>
                              </p:stCondLst>
                            </p:cTn>
                            <p:tgtEl>
                              <p:spTgt spid="100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43" dur="170" nodeType="clickEffect" fill="hold" presetClass="entr" presetID="10" presetSubtype="0">
                              <p:stCondLst>
                                <p:cond delay="963"/>
                              </p:stCondLst>
                            </p:cTn>
                            <p:tgtEl>
                              <p:spTgt spid="101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44" dur="170" nodeType="clickEffect" fill="hold" presetClass="entr" presetID="10" presetSubtype="0">
                              <p:stCondLst>
                                <p:cond delay="987"/>
                              </p:stCondLst>
                            </p:cTn>
                            <p:tgtEl>
                              <p:spTgt spid="102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45" dur="160" nodeType="clickEffect" fill="hold" presetClass="entr" presetID="10" presetSubtype="0">
                              <p:stCondLst>
                                <p:cond delay="998"/>
                              </p:stCondLst>
                            </p:cTn>
                            <p:tgtEl>
                              <p:spTgt spid="93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46" dur="160" nodeType="clickEffect" fill="hold" presetClass="entr" presetID="10" presetSubtype="0">
                              <p:stCondLst>
                                <p:cond delay="1061"/>
                              </p:stCondLst>
                            </p:cTn>
                            <p:tgtEl>
                              <p:spTgt spid="103"/>
                            </p:tgtEl>
                          </p:cBhvr>
                        </p:animEffect>
                      </p:childTnLst>
                    </p:cTn>
                  </p:par>
                </p:childTnLst>
                <p:prevCondLst>
                  <p:cond evt="onPrev">
                    <p:tgtEl>
                      <p:sldTgt/>
                    </p:tgtEl>
                  </p:cond>
                </p:prevCondLst>
                <p:nextCondLst>
                  <p:cond evt="onNext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gg_peak_pil_render/slides/slide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anim_chart_frame_trend-chart"/>
          <p:cNvSpPr/>
          <p:nvPr/>
        </p:nvSpPr>
        <p:spPr>
          <a:xfrm>
            <a:off x="542925" y="3400425"/>
            <a:ext cx="11106150" cy="2724150"/>
          </a:xfrm>
          <a:prstGeom prst="roundRect">
            <a:avLst/>
          </a:prstGeom>
          <a:noFill/>
          <a:ln w="14605" cap="flat">
            <a:solidFill>
              <a:srgbClr val="FBBF24">
                <a:alpha val="46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1" name="anim_chart_baseline_trend-chart"/>
          <p:cNvSpPr/>
          <p:nvPr/>
        </p:nvSpPr>
        <p:spPr>
          <a:xfrm>
            <a:off x="819150" y="5772150"/>
            <a:ext cx="10553700" cy="120015"/>
          </a:xfrm>
          <a:prstGeom prst="roundRect">
            <a:avLst/>
          </a:prstGeom>
          <a:solidFill>
            <a:srgbClr val="FBBF24">
              <a:alpha val="45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2" name="anim_chart_scan_trend-chart_0"/>
          <p:cNvSpPr/>
          <p:nvPr/>
        </p:nvSpPr>
        <p:spPr>
          <a:xfrm>
            <a:off x="3333750" y="3657600"/>
            <a:ext cx="198882" cy="201930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23" name="anim_chart_scan_trend-chart_1"/>
          <p:cNvSpPr/>
          <p:nvPr/>
        </p:nvSpPr>
        <p:spPr>
          <a:xfrm>
            <a:off x="6316980" y="3657600"/>
            <a:ext cx="198882" cy="201930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24" name="anim_chart_scan_trend-chart_2"/>
          <p:cNvSpPr/>
          <p:nvPr/>
        </p:nvSpPr>
        <p:spPr>
          <a:xfrm>
            <a:off x="9189720" y="3657600"/>
            <a:ext cx="198882" cy="201930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25" name="anim_chart_dot_trend-chart_0"/>
          <p:cNvSpPr/>
          <p:nvPr/>
        </p:nvSpPr>
        <p:spPr>
          <a:xfrm>
            <a:off x="3612832" y="5083492"/>
            <a:ext cx="104775" cy="104775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6" name="anim_chart_dot_trend-chart_1"/>
          <p:cNvSpPr/>
          <p:nvPr/>
        </p:nvSpPr>
        <p:spPr>
          <a:xfrm>
            <a:off x="6927532" y="4656772"/>
            <a:ext cx="104775" cy="104775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7" name="anim_chart_dot_trend-chart_2"/>
          <p:cNvSpPr/>
          <p:nvPr/>
        </p:nvSpPr>
        <p:spPr>
          <a:xfrm>
            <a:off x="9675495" y="4162425"/>
            <a:ext cx="133350" cy="133350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8" name="anim_chart_trendline_trend-chart"/>
          <p:cNvSpPr/>
          <p:nvPr/>
        </p:nvSpPr>
        <p:spPr>
          <a:xfrm>
            <a:off x="2560320" y="4229100"/>
            <a:ext cx="7513320" cy="1066800"/>
          </a:xfrm>
          <a:prstGeom prst="line">
            <a:avLst/>
          </a:prstGeom>
          <a:noFill/>
          <a:ln w="17780" cap="flat">
            <a:solidFill>
              <a:srgbClr val="FBBF24">
                <a:alpha val="2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9" name="anim_box_frame_kpi1-bg"/>
          <p:cNvSpPr/>
          <p:nvPr/>
        </p:nvSpPr>
        <p:spPr>
          <a:xfrm>
            <a:off x="552450" y="1409700"/>
            <a:ext cx="2657475" cy="1752600"/>
          </a:xfrm>
          <a:prstGeom prst="roundRect">
            <a:avLst/>
          </a:prstGeom>
          <a:noFill/>
          <a:ln w="16510" cap="flat">
            <a:solidFill>
              <a:srgbClr val="FBBF24">
                <a:alpha val="40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0" name="anim_box_bar_kpi1-bg"/>
          <p:cNvSpPr/>
          <p:nvPr/>
        </p:nvSpPr>
        <p:spPr>
          <a:xfrm>
            <a:off x="704850" y="1495425"/>
            <a:ext cx="576262" cy="28575"/>
          </a:xfrm>
          <a:prstGeom prst="roundRect">
            <a:avLst/>
          </a:prstGeom>
          <a:solidFill>
            <a:srgbClr val="FBBF24">
              <a:alpha val="36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1" name="anim_box_frame_kpi2-bg"/>
          <p:cNvSpPr/>
          <p:nvPr/>
        </p:nvSpPr>
        <p:spPr>
          <a:xfrm>
            <a:off x="3362325" y="1409700"/>
            <a:ext cx="2657475" cy="1752600"/>
          </a:xfrm>
          <a:prstGeom prst="roundRect">
            <a:avLst/>
          </a:prstGeom>
          <a:noFill/>
          <a:ln w="16510" cap="flat">
            <a:solidFill>
              <a:srgbClr val="FBBF24">
                <a:alpha val="40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2" name="anim_box_bar_kpi2-bg"/>
          <p:cNvSpPr/>
          <p:nvPr/>
        </p:nvSpPr>
        <p:spPr>
          <a:xfrm>
            <a:off x="3514725" y="1495425"/>
            <a:ext cx="576262" cy="28575"/>
          </a:xfrm>
          <a:prstGeom prst="roundRect">
            <a:avLst/>
          </a:prstGeom>
          <a:solidFill>
            <a:srgbClr val="FBBF24">
              <a:alpha val="36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3" name="anim_box_frame_kpi3-bg"/>
          <p:cNvSpPr/>
          <p:nvPr/>
        </p:nvSpPr>
        <p:spPr>
          <a:xfrm>
            <a:off x="6172200" y="1409700"/>
            <a:ext cx="2657475" cy="1752600"/>
          </a:xfrm>
          <a:prstGeom prst="roundRect">
            <a:avLst/>
          </a:prstGeom>
          <a:noFill/>
          <a:ln w="16510" cap="flat">
            <a:solidFill>
              <a:srgbClr val="FBBF24">
                <a:alpha val="40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4" name="anim_box_bar_kpi3-bg"/>
          <p:cNvSpPr/>
          <p:nvPr/>
        </p:nvSpPr>
        <p:spPr>
          <a:xfrm>
            <a:off x="6324600" y="1495425"/>
            <a:ext cx="576262" cy="28575"/>
          </a:xfrm>
          <a:prstGeom prst="roundRect">
            <a:avLst/>
          </a:prstGeom>
          <a:solidFill>
            <a:srgbClr val="FBBF24">
              <a:alpha val="36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5" name="anim_box_frame_kpi4-bg"/>
          <p:cNvSpPr/>
          <p:nvPr/>
        </p:nvSpPr>
        <p:spPr>
          <a:xfrm>
            <a:off x="8982075" y="1409700"/>
            <a:ext cx="2657475" cy="1752600"/>
          </a:xfrm>
          <a:prstGeom prst="roundRect">
            <a:avLst/>
          </a:prstGeom>
          <a:noFill/>
          <a:ln w="16510" cap="flat">
            <a:solidFill>
              <a:srgbClr val="FBBF24">
                <a:alpha val="40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6" name="anim_box_bar_kpi4-bg"/>
          <p:cNvSpPr/>
          <p:nvPr/>
        </p:nvSpPr>
        <p:spPr>
          <a:xfrm>
            <a:off x="9134475" y="1495425"/>
            <a:ext cx="576262" cy="28575"/>
          </a:xfrm>
          <a:prstGeom prst="roundRect">
            <a:avLst/>
          </a:prstGeom>
          <a:solidFill>
            <a:srgbClr val="FBBF24">
              <a:alpha val="36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7" name="mg_cover_trend-chart"/>
          <p:cNvSpPr/>
          <p:nvPr/>
        </p:nvSpPr>
        <p:spPr>
          <a:xfrm>
            <a:off x="571500" y="3429000"/>
            <a:ext cx="11049000" cy="2667000"/>
          </a:xfrm>
          <a:prstGeom prst="rect">
            <a:avLst/>
          </a:prstGeom>
          <a:solidFill>
            <a:srgbClr val="1A1033"/>
          </a:solidFill>
          <a:ln w="12700" cap="flat">
            <a:solidFill>
              <a:srgbClr val="4C1D95"/>
            </a:solidFill>
          </a:ln>
          <a:effectLst>
            <a:glow rad="47625">
              <a:srgbClr val="FBBF24">
                <a:alpha val="26000"/>
              </a:srgbClr>
            </a:glow>
          </a:effectLst>
        </p:spPr>
      </p:sp>
      <p:sp>
        <p:nvSpPr>
          <p:cNvPr id="38" name="mg_title_trend-chart"/>
          <p:cNvSpPr txBox="1"/>
          <p:nvPr/>
        </p:nvSpPr>
        <p:spPr>
          <a:xfrm>
            <a:off x="685800" y="3524250"/>
            <a:ext cx="10820400" cy="2095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600" kern="1200" b="1">
                <a:solidFill>
                  <a:srgbClr val="FFFFFF"/>
                </a:solidFill>
                <a:latin typeface="Malgun Gothic"/>
                <a:ea typeface="맑은 고딕"/>
                <a:cs typeface="Malgun Gothic"/>
              </a:rPr>
              <a:t>㈜삼영메탈 월별 전기요금 절감 및 매출 추이</a:t>
            </a:r>
            <a:endParaRPr lang="ko-KR" sz="16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39" name="mg_lg_sq_trend-chart_0"/>
          <p:cNvSpPr/>
          <p:nvPr/>
        </p:nvSpPr>
        <p:spPr>
          <a:xfrm>
            <a:off x="4381500" y="3857625"/>
            <a:ext cx="85725" cy="85725"/>
          </a:xfrm>
          <a:prstGeom prst="round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40" name="mg_lg_tx_trend-chart_0"/>
          <p:cNvSpPr txBox="1"/>
          <p:nvPr/>
        </p:nvSpPr>
        <p:spPr>
          <a:xfrm>
            <a:off x="4514850" y="3810000"/>
            <a:ext cx="156210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200" kern="1200">
                <a:solidFill>
                  <a:srgbClr val="FFFFFF"/>
                </a:solidFill>
                <a:latin typeface="Malgun Gothic"/>
                <a:ea typeface="맑은 고딕"/>
                <a:cs typeface="Malgun Gothic"/>
              </a:rPr>
              <a:t>월 절감 금액 (만원)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1" name="mg_lg_sq_trend-chart_1"/>
          <p:cNvSpPr/>
          <p:nvPr/>
        </p:nvSpPr>
        <p:spPr>
          <a:xfrm>
            <a:off x="6096000" y="3857625"/>
            <a:ext cx="85725" cy="85725"/>
          </a:xfrm>
          <a:prstGeom prst="roundRect">
            <a:avLst/>
          </a:prstGeom>
          <a:solidFill>
            <a:srgbClr val="7C3AED"/>
          </a:solidFill>
          <a:ln w="0" cap="flat">
            <a:noFill/>
          </a:ln>
        </p:spPr>
      </p:sp>
      <p:sp>
        <p:nvSpPr>
          <p:cNvPr id="42" name="mg_lg_tx_trend-chart_1"/>
          <p:cNvSpPr txBox="1"/>
          <p:nvPr/>
        </p:nvSpPr>
        <p:spPr>
          <a:xfrm>
            <a:off x="6229350" y="3810000"/>
            <a:ext cx="156210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200" kern="1200">
                <a:solidFill>
                  <a:srgbClr val="FFFFFF"/>
                </a:solidFill>
                <a:latin typeface="Malgun Gothic"/>
                <a:ea typeface="맑은 고딕"/>
                <a:cs typeface="Malgun Gothic"/>
              </a:rPr>
              <a:t>월 매출 (만원)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3" name="mg_grid_trend-chart_0"/>
          <p:cNvSpPr/>
          <p:nvPr/>
        </p:nvSpPr>
        <p:spPr>
          <a:xfrm>
            <a:off x="1123950" y="5695950"/>
            <a:ext cx="10210800" cy="7620"/>
          </a:xfrm>
          <a:prstGeom prst="rect">
            <a:avLst/>
          </a:prstGeom>
          <a:solidFill>
            <a:srgbClr val="4C1D95">
              <a:alpha val="28000"/>
            </a:srgbClr>
          </a:solidFill>
          <a:ln w="0" cap="flat">
            <a:noFill/>
          </a:ln>
        </p:spPr>
      </p:sp>
      <p:sp>
        <p:nvSpPr>
          <p:cNvPr id="44" name="mg_ytick_trend-chart_0"/>
          <p:cNvSpPr txBox="1"/>
          <p:nvPr/>
        </p:nvSpPr>
        <p:spPr>
          <a:xfrm>
            <a:off x="647700" y="5619750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5" name="mg_grid_trend-chart_100"/>
          <p:cNvSpPr/>
          <p:nvPr/>
        </p:nvSpPr>
        <p:spPr>
          <a:xfrm>
            <a:off x="1123950" y="5312569"/>
            <a:ext cx="10210800" cy="7620"/>
          </a:xfrm>
          <a:prstGeom prst="rect">
            <a:avLst/>
          </a:prstGeom>
          <a:solidFill>
            <a:srgbClr val="4C1D95">
              <a:alpha val="28000"/>
            </a:srgbClr>
          </a:solidFill>
          <a:ln w="0" cap="flat">
            <a:noFill/>
          </a:ln>
        </p:spPr>
      </p:sp>
      <p:sp>
        <p:nvSpPr>
          <p:cNvPr id="46" name="mg_ytick_trend-chart_100"/>
          <p:cNvSpPr txBox="1"/>
          <p:nvPr/>
        </p:nvSpPr>
        <p:spPr>
          <a:xfrm>
            <a:off x="647700" y="5236369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100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7" name="mg_grid_trend-chart_200"/>
          <p:cNvSpPr/>
          <p:nvPr/>
        </p:nvSpPr>
        <p:spPr>
          <a:xfrm>
            <a:off x="1123950" y="4929188"/>
            <a:ext cx="10210800" cy="7620"/>
          </a:xfrm>
          <a:prstGeom prst="rect">
            <a:avLst/>
          </a:prstGeom>
          <a:solidFill>
            <a:srgbClr val="4C1D95">
              <a:alpha val="28000"/>
            </a:srgbClr>
          </a:solidFill>
          <a:ln w="0" cap="flat">
            <a:noFill/>
          </a:ln>
        </p:spPr>
      </p:sp>
      <p:sp>
        <p:nvSpPr>
          <p:cNvPr id="48" name="mg_ytick_trend-chart_200"/>
          <p:cNvSpPr txBox="1"/>
          <p:nvPr/>
        </p:nvSpPr>
        <p:spPr>
          <a:xfrm>
            <a:off x="647700" y="4852988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200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9" name="mg_grid_trend-chart_300"/>
          <p:cNvSpPr/>
          <p:nvPr/>
        </p:nvSpPr>
        <p:spPr>
          <a:xfrm>
            <a:off x="1123950" y="4545806"/>
            <a:ext cx="10210800" cy="7620"/>
          </a:xfrm>
          <a:prstGeom prst="rect">
            <a:avLst/>
          </a:prstGeom>
          <a:solidFill>
            <a:srgbClr val="4C1D95">
              <a:alpha val="28000"/>
            </a:srgbClr>
          </a:solidFill>
          <a:ln w="0" cap="flat">
            <a:noFill/>
          </a:ln>
        </p:spPr>
      </p:sp>
      <p:sp>
        <p:nvSpPr>
          <p:cNvPr id="50" name="mg_ytick_trend-chart_300"/>
          <p:cNvSpPr txBox="1"/>
          <p:nvPr/>
        </p:nvSpPr>
        <p:spPr>
          <a:xfrm>
            <a:off x="647700" y="4469606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300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51" name="mg_grid_trend-chart_400"/>
          <p:cNvSpPr/>
          <p:nvPr/>
        </p:nvSpPr>
        <p:spPr>
          <a:xfrm>
            <a:off x="1123950" y="4162425"/>
            <a:ext cx="10210800" cy="7620"/>
          </a:xfrm>
          <a:prstGeom prst="rect">
            <a:avLst/>
          </a:prstGeom>
          <a:solidFill>
            <a:srgbClr val="4C1D95">
              <a:alpha val="28000"/>
            </a:srgbClr>
          </a:solidFill>
          <a:ln w="0" cap="flat">
            <a:noFill/>
          </a:ln>
        </p:spPr>
      </p:sp>
      <p:sp>
        <p:nvSpPr>
          <p:cNvPr id="52" name="mg_ytick_trend-chart_400"/>
          <p:cNvSpPr txBox="1"/>
          <p:nvPr/>
        </p:nvSpPr>
        <p:spPr>
          <a:xfrm>
            <a:off x="647700" y="4086225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400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53" name="mg_axis_trend-chart"/>
          <p:cNvSpPr/>
          <p:nvPr/>
        </p:nvSpPr>
        <p:spPr>
          <a:xfrm>
            <a:off x="1123950" y="5695950"/>
            <a:ext cx="10210800" cy="11430"/>
          </a:xfrm>
          <a:prstGeom prst="rect">
            <a:avLst/>
          </a:prstGeom>
          <a:solidFill>
            <a:srgbClr val="4C1D95"/>
          </a:solidFill>
          <a:ln w="0" cap="flat">
            <a:noFill/>
          </a:ln>
        </p:spPr>
      </p:sp>
      <p:sp>
        <p:nvSpPr>
          <p:cNvPr id="54" name="mg_xcat_trend-chart_0"/>
          <p:cNvSpPr txBox="1"/>
          <p:nvPr/>
        </p:nvSpPr>
        <p:spPr>
          <a:xfrm>
            <a:off x="1123950" y="5743575"/>
            <a:ext cx="127635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20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1⁠월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55" name="mg_barseg_trend-chart_0_0_0"/>
          <p:cNvSpPr/>
          <p:nvPr/>
        </p:nvSpPr>
        <p:spPr>
          <a:xfrm>
            <a:off x="1485900" y="5576676"/>
            <a:ext cx="552450" cy="123084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6" name="mg_barseg_trend-chart_0_0_1"/>
          <p:cNvSpPr/>
          <p:nvPr/>
        </p:nvSpPr>
        <p:spPr>
          <a:xfrm>
            <a:off x="1485900" y="5457402"/>
            <a:ext cx="552450" cy="123084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7" name="mg_barseg_trend-chart_0_0_2"/>
          <p:cNvSpPr/>
          <p:nvPr/>
        </p:nvSpPr>
        <p:spPr>
          <a:xfrm>
            <a:off x="1485900" y="5338128"/>
            <a:ext cx="552450" cy="123084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8" name="mg_barseg_trend-chart_0_0_3"/>
          <p:cNvSpPr/>
          <p:nvPr/>
        </p:nvSpPr>
        <p:spPr>
          <a:xfrm>
            <a:off x="1485900" y="5218853"/>
            <a:ext cx="552450" cy="123084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9" name="mg_barseg_trend-chart_0_0_4"/>
          <p:cNvSpPr/>
          <p:nvPr/>
        </p:nvSpPr>
        <p:spPr>
          <a:xfrm>
            <a:off x="1485900" y="5099579"/>
            <a:ext cx="552450" cy="123084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0" name="mg_barseg_trend-chart_0_0_5"/>
          <p:cNvSpPr/>
          <p:nvPr/>
        </p:nvSpPr>
        <p:spPr>
          <a:xfrm>
            <a:off x="1485900" y="4980305"/>
            <a:ext cx="552450" cy="123084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1" name="mg_barseg_trend-chart_0_0_6"/>
          <p:cNvSpPr/>
          <p:nvPr/>
        </p:nvSpPr>
        <p:spPr>
          <a:xfrm>
            <a:off x="1485900" y="4861031"/>
            <a:ext cx="552450" cy="123084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2" name="mg_barseg_trend-chart_0_0_7"/>
          <p:cNvSpPr/>
          <p:nvPr/>
        </p:nvSpPr>
        <p:spPr>
          <a:xfrm>
            <a:off x="1485900" y="4741757"/>
            <a:ext cx="552450" cy="123084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3" name="mg_barseg_trend-chart_0_0_8"/>
          <p:cNvSpPr/>
          <p:nvPr/>
        </p:nvSpPr>
        <p:spPr>
          <a:xfrm>
            <a:off x="1485900" y="4622482"/>
            <a:ext cx="552450" cy="123084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4" name="mg_xcat_trend-chart_1"/>
          <p:cNvSpPr txBox="1"/>
          <p:nvPr/>
        </p:nvSpPr>
        <p:spPr>
          <a:xfrm>
            <a:off x="2400300" y="5743575"/>
            <a:ext cx="127635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20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2⁠월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5" name="mg_barseg_trend-chart_1_0_0"/>
          <p:cNvSpPr/>
          <p:nvPr/>
        </p:nvSpPr>
        <p:spPr>
          <a:xfrm>
            <a:off x="2762250" y="5582853"/>
            <a:ext cx="552450" cy="116907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6" name="mg_barseg_trend-chart_1_0_1"/>
          <p:cNvSpPr/>
          <p:nvPr/>
        </p:nvSpPr>
        <p:spPr>
          <a:xfrm>
            <a:off x="2762250" y="5469755"/>
            <a:ext cx="552450" cy="116907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7" name="mg_barseg_trend-chart_1_0_2"/>
          <p:cNvSpPr/>
          <p:nvPr/>
        </p:nvSpPr>
        <p:spPr>
          <a:xfrm>
            <a:off x="2762250" y="5356658"/>
            <a:ext cx="552450" cy="116907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8" name="mg_barseg_trend-chart_1_0_3"/>
          <p:cNvSpPr/>
          <p:nvPr/>
        </p:nvSpPr>
        <p:spPr>
          <a:xfrm>
            <a:off x="2762250" y="5243560"/>
            <a:ext cx="552450" cy="116907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9" name="mg_barseg_trend-chart_1_0_4"/>
          <p:cNvSpPr/>
          <p:nvPr/>
        </p:nvSpPr>
        <p:spPr>
          <a:xfrm>
            <a:off x="2762250" y="5130463"/>
            <a:ext cx="552450" cy="116907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0" name="mg_barseg_trend-chart_1_0_5"/>
          <p:cNvSpPr/>
          <p:nvPr/>
        </p:nvSpPr>
        <p:spPr>
          <a:xfrm>
            <a:off x="2762250" y="5017365"/>
            <a:ext cx="552450" cy="116907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1" name="mg_barseg_trend-chart_1_0_6"/>
          <p:cNvSpPr/>
          <p:nvPr/>
        </p:nvSpPr>
        <p:spPr>
          <a:xfrm>
            <a:off x="2762250" y="4904268"/>
            <a:ext cx="552450" cy="116907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2" name="mg_barseg_trend-chart_1_0_7"/>
          <p:cNvSpPr/>
          <p:nvPr/>
        </p:nvSpPr>
        <p:spPr>
          <a:xfrm>
            <a:off x="2762250" y="4791170"/>
            <a:ext cx="552450" cy="116907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3" name="mg_barseg_trend-chart_1_0_8"/>
          <p:cNvSpPr/>
          <p:nvPr/>
        </p:nvSpPr>
        <p:spPr>
          <a:xfrm>
            <a:off x="2762250" y="4678073"/>
            <a:ext cx="552450" cy="116907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4" name="mg_barseg_trend-chart_1_0_9"/>
          <p:cNvSpPr/>
          <p:nvPr/>
        </p:nvSpPr>
        <p:spPr>
          <a:xfrm>
            <a:off x="2762250" y="4564975"/>
            <a:ext cx="552450" cy="116907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5" name="mg_xcat_trend-chart_2"/>
          <p:cNvSpPr txBox="1"/>
          <p:nvPr/>
        </p:nvSpPr>
        <p:spPr>
          <a:xfrm>
            <a:off x="3676650" y="5743575"/>
            <a:ext cx="127635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20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3⁠월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76" name="mg_barseg_trend-chart_2_0_0"/>
          <p:cNvSpPr/>
          <p:nvPr/>
        </p:nvSpPr>
        <p:spPr>
          <a:xfrm>
            <a:off x="4038600" y="5577102"/>
            <a:ext cx="552450" cy="122658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7" name="mg_barseg_trend-chart_2_0_1"/>
          <p:cNvSpPr/>
          <p:nvPr/>
        </p:nvSpPr>
        <p:spPr>
          <a:xfrm>
            <a:off x="4038600" y="5458254"/>
            <a:ext cx="552450" cy="122658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8" name="mg_barseg_trend-chart_2_0_2"/>
          <p:cNvSpPr/>
          <p:nvPr/>
        </p:nvSpPr>
        <p:spPr>
          <a:xfrm>
            <a:off x="4038600" y="5339405"/>
            <a:ext cx="552450" cy="122658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9" name="mg_barseg_trend-chart_2_0_3"/>
          <p:cNvSpPr/>
          <p:nvPr/>
        </p:nvSpPr>
        <p:spPr>
          <a:xfrm>
            <a:off x="4038600" y="5220557"/>
            <a:ext cx="552450" cy="122658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80" name="mg_barseg_trend-chart_2_0_4"/>
          <p:cNvSpPr/>
          <p:nvPr/>
        </p:nvSpPr>
        <p:spPr>
          <a:xfrm>
            <a:off x="4038600" y="5101709"/>
            <a:ext cx="552450" cy="122658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81" name="mg_barseg_trend-chart_2_0_5"/>
          <p:cNvSpPr/>
          <p:nvPr/>
        </p:nvSpPr>
        <p:spPr>
          <a:xfrm>
            <a:off x="4038600" y="4982861"/>
            <a:ext cx="552450" cy="122658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82" name="mg_barseg_trend-chart_2_0_6"/>
          <p:cNvSpPr/>
          <p:nvPr/>
        </p:nvSpPr>
        <p:spPr>
          <a:xfrm>
            <a:off x="4038600" y="4864013"/>
            <a:ext cx="552450" cy="122658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83" name="mg_barseg_trend-chart_2_0_7"/>
          <p:cNvSpPr/>
          <p:nvPr/>
        </p:nvSpPr>
        <p:spPr>
          <a:xfrm>
            <a:off x="4038600" y="4745164"/>
            <a:ext cx="552450" cy="122658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84" name="mg_barseg_trend-chart_2_0_8"/>
          <p:cNvSpPr/>
          <p:nvPr/>
        </p:nvSpPr>
        <p:spPr>
          <a:xfrm>
            <a:off x="4038600" y="4626316"/>
            <a:ext cx="552450" cy="122658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85" name="mg_barseg_trend-chart_2_0_9"/>
          <p:cNvSpPr/>
          <p:nvPr/>
        </p:nvSpPr>
        <p:spPr>
          <a:xfrm>
            <a:off x="4038600" y="4507468"/>
            <a:ext cx="552450" cy="122658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86" name="mg_xcat_trend-chart_3"/>
          <p:cNvSpPr txBox="1"/>
          <p:nvPr/>
        </p:nvSpPr>
        <p:spPr>
          <a:xfrm>
            <a:off x="4953000" y="5743575"/>
            <a:ext cx="127635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20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4⁠월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87" name="mg_barseg_trend-chart_3_0_0"/>
          <p:cNvSpPr/>
          <p:nvPr/>
        </p:nvSpPr>
        <p:spPr>
          <a:xfrm>
            <a:off x="5314950" y="5583027"/>
            <a:ext cx="552450" cy="116733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88" name="mg_barseg_trend-chart_3_0_1"/>
          <p:cNvSpPr/>
          <p:nvPr/>
        </p:nvSpPr>
        <p:spPr>
          <a:xfrm>
            <a:off x="5314950" y="5470104"/>
            <a:ext cx="552450" cy="116733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89" name="mg_barseg_trend-chart_3_0_2"/>
          <p:cNvSpPr/>
          <p:nvPr/>
        </p:nvSpPr>
        <p:spPr>
          <a:xfrm>
            <a:off x="5314950" y="5357180"/>
            <a:ext cx="552450" cy="116733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90" name="mg_barseg_trend-chart_3_0_3"/>
          <p:cNvSpPr/>
          <p:nvPr/>
        </p:nvSpPr>
        <p:spPr>
          <a:xfrm>
            <a:off x="5314950" y="5244257"/>
            <a:ext cx="552450" cy="116733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91" name="mg_barseg_trend-chart_3_0_4"/>
          <p:cNvSpPr/>
          <p:nvPr/>
        </p:nvSpPr>
        <p:spPr>
          <a:xfrm>
            <a:off x="5314950" y="5131334"/>
            <a:ext cx="552450" cy="116733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92" name="mg_barseg_trend-chart_3_0_5"/>
          <p:cNvSpPr/>
          <p:nvPr/>
        </p:nvSpPr>
        <p:spPr>
          <a:xfrm>
            <a:off x="5314950" y="5018411"/>
            <a:ext cx="552450" cy="116733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93" name="mg_barseg_trend-chart_3_0_6"/>
          <p:cNvSpPr/>
          <p:nvPr/>
        </p:nvSpPr>
        <p:spPr>
          <a:xfrm>
            <a:off x="5314950" y="4905488"/>
            <a:ext cx="552450" cy="116733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94" name="mg_barseg_trend-chart_3_0_7"/>
          <p:cNvSpPr/>
          <p:nvPr/>
        </p:nvSpPr>
        <p:spPr>
          <a:xfrm>
            <a:off x="5314950" y="4792564"/>
            <a:ext cx="552450" cy="116733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95" name="mg_barseg_trend-chart_3_0_8"/>
          <p:cNvSpPr/>
          <p:nvPr/>
        </p:nvSpPr>
        <p:spPr>
          <a:xfrm>
            <a:off x="5314950" y="4679641"/>
            <a:ext cx="552450" cy="116733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96" name="mg_barseg_trend-chart_3_0_9"/>
          <p:cNvSpPr/>
          <p:nvPr/>
        </p:nvSpPr>
        <p:spPr>
          <a:xfrm>
            <a:off x="5314950" y="4566718"/>
            <a:ext cx="552450" cy="116733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97" name="mg_barseg_trend-chart_3_0_10"/>
          <p:cNvSpPr/>
          <p:nvPr/>
        </p:nvSpPr>
        <p:spPr>
          <a:xfrm>
            <a:off x="5314950" y="4453795"/>
            <a:ext cx="552450" cy="116733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98" name="mg_xcat_trend-chart_4"/>
          <p:cNvSpPr txBox="1"/>
          <p:nvPr/>
        </p:nvSpPr>
        <p:spPr>
          <a:xfrm>
            <a:off x="6229350" y="5743575"/>
            <a:ext cx="127635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20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5⁠월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99" name="mg_barseg_trend-chart_4_0_0"/>
          <p:cNvSpPr/>
          <p:nvPr/>
        </p:nvSpPr>
        <p:spPr>
          <a:xfrm>
            <a:off x="6591300" y="5574035"/>
            <a:ext cx="552450" cy="12572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00" name="mg_barseg_trend-chart_4_0_1"/>
          <p:cNvSpPr/>
          <p:nvPr/>
        </p:nvSpPr>
        <p:spPr>
          <a:xfrm>
            <a:off x="6591300" y="5452120"/>
            <a:ext cx="552450" cy="12572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01" name="mg_barseg_trend-chart_4_0_2"/>
          <p:cNvSpPr/>
          <p:nvPr/>
        </p:nvSpPr>
        <p:spPr>
          <a:xfrm>
            <a:off x="6591300" y="5330204"/>
            <a:ext cx="552450" cy="12572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02" name="mg_barseg_trend-chart_4_0_3"/>
          <p:cNvSpPr/>
          <p:nvPr/>
        </p:nvSpPr>
        <p:spPr>
          <a:xfrm>
            <a:off x="6591300" y="5208289"/>
            <a:ext cx="552450" cy="12572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03" name="mg_barseg_trend-chart_4_0_4"/>
          <p:cNvSpPr/>
          <p:nvPr/>
        </p:nvSpPr>
        <p:spPr>
          <a:xfrm>
            <a:off x="6591300" y="5086374"/>
            <a:ext cx="552450" cy="12572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04" name="mg_barseg_trend-chart_4_0_5"/>
          <p:cNvSpPr/>
          <p:nvPr/>
        </p:nvSpPr>
        <p:spPr>
          <a:xfrm>
            <a:off x="6591300" y="4964459"/>
            <a:ext cx="552450" cy="12572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05" name="mg_barseg_trend-chart_4_0_6"/>
          <p:cNvSpPr/>
          <p:nvPr/>
        </p:nvSpPr>
        <p:spPr>
          <a:xfrm>
            <a:off x="6591300" y="4842543"/>
            <a:ext cx="552450" cy="12572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06" name="mg_barseg_trend-chart_4_0_7"/>
          <p:cNvSpPr/>
          <p:nvPr/>
        </p:nvSpPr>
        <p:spPr>
          <a:xfrm>
            <a:off x="6591300" y="4720628"/>
            <a:ext cx="552450" cy="12572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07" name="mg_barseg_trend-chart_4_0_8"/>
          <p:cNvSpPr/>
          <p:nvPr/>
        </p:nvSpPr>
        <p:spPr>
          <a:xfrm>
            <a:off x="6591300" y="4598713"/>
            <a:ext cx="552450" cy="12572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08" name="mg_barseg_trend-chart_4_0_9"/>
          <p:cNvSpPr/>
          <p:nvPr/>
        </p:nvSpPr>
        <p:spPr>
          <a:xfrm>
            <a:off x="6591300" y="4476798"/>
            <a:ext cx="552450" cy="12572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09" name="mg_xcat_trend-chart_5"/>
          <p:cNvSpPr txBox="1"/>
          <p:nvPr/>
        </p:nvSpPr>
        <p:spPr>
          <a:xfrm>
            <a:off x="7505700" y="5743575"/>
            <a:ext cx="127635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20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6⁠월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110" name="mg_barseg_trend-chart_5_0_0"/>
          <p:cNvSpPr/>
          <p:nvPr/>
        </p:nvSpPr>
        <p:spPr>
          <a:xfrm>
            <a:off x="7867650" y="5580936"/>
            <a:ext cx="552450" cy="118824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11" name="mg_barseg_trend-chart_5_0_1"/>
          <p:cNvSpPr/>
          <p:nvPr/>
        </p:nvSpPr>
        <p:spPr>
          <a:xfrm>
            <a:off x="7867650" y="5465921"/>
            <a:ext cx="552450" cy="118824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12" name="mg_barseg_trend-chart_5_0_2"/>
          <p:cNvSpPr/>
          <p:nvPr/>
        </p:nvSpPr>
        <p:spPr>
          <a:xfrm>
            <a:off x="7867650" y="5350907"/>
            <a:ext cx="552450" cy="118824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13" name="mg_barseg_trend-chart_5_0_3"/>
          <p:cNvSpPr/>
          <p:nvPr/>
        </p:nvSpPr>
        <p:spPr>
          <a:xfrm>
            <a:off x="7867650" y="5235892"/>
            <a:ext cx="552450" cy="118824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14" name="mg_barseg_trend-chart_5_0_4"/>
          <p:cNvSpPr/>
          <p:nvPr/>
        </p:nvSpPr>
        <p:spPr>
          <a:xfrm>
            <a:off x="7867650" y="5120878"/>
            <a:ext cx="552450" cy="118824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15" name="mg_barseg_trend-chart_5_0_5"/>
          <p:cNvSpPr/>
          <p:nvPr/>
        </p:nvSpPr>
        <p:spPr>
          <a:xfrm>
            <a:off x="7867650" y="5005864"/>
            <a:ext cx="552450" cy="118824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16" name="mg_barseg_trend-chart_5_0_6"/>
          <p:cNvSpPr/>
          <p:nvPr/>
        </p:nvSpPr>
        <p:spPr>
          <a:xfrm>
            <a:off x="7867650" y="4890849"/>
            <a:ext cx="552450" cy="118824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17" name="mg_barseg_trend-chart_5_0_7"/>
          <p:cNvSpPr/>
          <p:nvPr/>
        </p:nvSpPr>
        <p:spPr>
          <a:xfrm>
            <a:off x="7867650" y="4775835"/>
            <a:ext cx="552450" cy="118824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18" name="mg_barseg_trend-chart_5_0_8"/>
          <p:cNvSpPr/>
          <p:nvPr/>
        </p:nvSpPr>
        <p:spPr>
          <a:xfrm>
            <a:off x="7867650" y="4660821"/>
            <a:ext cx="552450" cy="118824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19" name="mg_barseg_trend-chart_5_0_9"/>
          <p:cNvSpPr/>
          <p:nvPr/>
        </p:nvSpPr>
        <p:spPr>
          <a:xfrm>
            <a:off x="7867650" y="4545806"/>
            <a:ext cx="552450" cy="118824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20" name="mg_barseg_trend-chart_5_0_10"/>
          <p:cNvSpPr/>
          <p:nvPr/>
        </p:nvSpPr>
        <p:spPr>
          <a:xfrm>
            <a:off x="7867650" y="4430792"/>
            <a:ext cx="552450" cy="118824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21" name="mg_xcat_trend-chart_6"/>
          <p:cNvSpPr txBox="1"/>
          <p:nvPr/>
        </p:nvSpPr>
        <p:spPr>
          <a:xfrm>
            <a:off x="8782050" y="5743575"/>
            <a:ext cx="127635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20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7⁠월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122" name="mg_barseg_trend-chart_6_0_0"/>
          <p:cNvSpPr/>
          <p:nvPr/>
        </p:nvSpPr>
        <p:spPr>
          <a:xfrm>
            <a:off x="9144000" y="5577450"/>
            <a:ext cx="552450" cy="12231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23" name="mg_barseg_trend-chart_6_0_1"/>
          <p:cNvSpPr/>
          <p:nvPr/>
        </p:nvSpPr>
        <p:spPr>
          <a:xfrm>
            <a:off x="9144000" y="5458951"/>
            <a:ext cx="552450" cy="12231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24" name="mg_barseg_trend-chart_6_0_2"/>
          <p:cNvSpPr/>
          <p:nvPr/>
        </p:nvSpPr>
        <p:spPr>
          <a:xfrm>
            <a:off x="9144000" y="5340451"/>
            <a:ext cx="552450" cy="12231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25" name="mg_barseg_trend-chart_6_0_3"/>
          <p:cNvSpPr/>
          <p:nvPr/>
        </p:nvSpPr>
        <p:spPr>
          <a:xfrm>
            <a:off x="9144000" y="5221951"/>
            <a:ext cx="552450" cy="12231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26" name="mg_barseg_trend-chart_6_0_4"/>
          <p:cNvSpPr/>
          <p:nvPr/>
        </p:nvSpPr>
        <p:spPr>
          <a:xfrm>
            <a:off x="9144000" y="5103452"/>
            <a:ext cx="552450" cy="12231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27" name="mg_barseg_trend-chart_6_0_5"/>
          <p:cNvSpPr/>
          <p:nvPr/>
        </p:nvSpPr>
        <p:spPr>
          <a:xfrm>
            <a:off x="9144000" y="4984952"/>
            <a:ext cx="552450" cy="12231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28" name="mg_barseg_trend-chart_6_0_6"/>
          <p:cNvSpPr/>
          <p:nvPr/>
        </p:nvSpPr>
        <p:spPr>
          <a:xfrm>
            <a:off x="9144000" y="4866452"/>
            <a:ext cx="552450" cy="12231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29" name="mg_barseg_trend-chart_6_0_7"/>
          <p:cNvSpPr/>
          <p:nvPr/>
        </p:nvSpPr>
        <p:spPr>
          <a:xfrm>
            <a:off x="9144000" y="4747953"/>
            <a:ext cx="552450" cy="12231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30" name="mg_barseg_trend-chart_6_0_8"/>
          <p:cNvSpPr/>
          <p:nvPr/>
        </p:nvSpPr>
        <p:spPr>
          <a:xfrm>
            <a:off x="9144000" y="4629453"/>
            <a:ext cx="552450" cy="12231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31" name="mg_barseg_trend-chart_6_0_9"/>
          <p:cNvSpPr/>
          <p:nvPr/>
        </p:nvSpPr>
        <p:spPr>
          <a:xfrm>
            <a:off x="9144000" y="4510953"/>
            <a:ext cx="552450" cy="12231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32" name="mg_barseg_trend-chart_6_0_10"/>
          <p:cNvSpPr/>
          <p:nvPr/>
        </p:nvSpPr>
        <p:spPr>
          <a:xfrm>
            <a:off x="9144000" y="4392454"/>
            <a:ext cx="552450" cy="12231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33" name="mg_xcat_trend-chart_7"/>
          <p:cNvSpPr txBox="1"/>
          <p:nvPr/>
        </p:nvSpPr>
        <p:spPr>
          <a:xfrm>
            <a:off x="10058400" y="5743575"/>
            <a:ext cx="127635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20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8⁠월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134" name="mg_barseg_trend-chart_7_0_0"/>
          <p:cNvSpPr/>
          <p:nvPr/>
        </p:nvSpPr>
        <p:spPr>
          <a:xfrm>
            <a:off x="10420350" y="5573965"/>
            <a:ext cx="552450" cy="12579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35" name="mg_barseg_trend-chart_7_0_1"/>
          <p:cNvSpPr/>
          <p:nvPr/>
        </p:nvSpPr>
        <p:spPr>
          <a:xfrm>
            <a:off x="10420350" y="5451980"/>
            <a:ext cx="552450" cy="12579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36" name="mg_barseg_trend-chart_7_0_2"/>
          <p:cNvSpPr/>
          <p:nvPr/>
        </p:nvSpPr>
        <p:spPr>
          <a:xfrm>
            <a:off x="10420350" y="5329995"/>
            <a:ext cx="552450" cy="12579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37" name="mg_barseg_trend-chart_7_0_3"/>
          <p:cNvSpPr/>
          <p:nvPr/>
        </p:nvSpPr>
        <p:spPr>
          <a:xfrm>
            <a:off x="10420350" y="5208010"/>
            <a:ext cx="552450" cy="12579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38" name="mg_barseg_trend-chart_7_0_4"/>
          <p:cNvSpPr/>
          <p:nvPr/>
        </p:nvSpPr>
        <p:spPr>
          <a:xfrm>
            <a:off x="10420350" y="5086025"/>
            <a:ext cx="552450" cy="12579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39" name="mg_barseg_trend-chart_7_0_5"/>
          <p:cNvSpPr/>
          <p:nvPr/>
        </p:nvSpPr>
        <p:spPr>
          <a:xfrm>
            <a:off x="10420350" y="4964040"/>
            <a:ext cx="552450" cy="12579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40" name="mg_barseg_trend-chart_7_0_6"/>
          <p:cNvSpPr/>
          <p:nvPr/>
        </p:nvSpPr>
        <p:spPr>
          <a:xfrm>
            <a:off x="10420350" y="4842055"/>
            <a:ext cx="552450" cy="12579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41" name="mg_barseg_trend-chart_7_0_7"/>
          <p:cNvSpPr/>
          <p:nvPr/>
        </p:nvSpPr>
        <p:spPr>
          <a:xfrm>
            <a:off x="10420350" y="4720070"/>
            <a:ext cx="552450" cy="12579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42" name="mg_barseg_trend-chart_7_0_8"/>
          <p:cNvSpPr/>
          <p:nvPr/>
        </p:nvSpPr>
        <p:spPr>
          <a:xfrm>
            <a:off x="10420350" y="4598086"/>
            <a:ext cx="552450" cy="12579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43" name="mg_barseg_trend-chart_7_0_9"/>
          <p:cNvSpPr/>
          <p:nvPr/>
        </p:nvSpPr>
        <p:spPr>
          <a:xfrm>
            <a:off x="10420350" y="4476101"/>
            <a:ext cx="552450" cy="12579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44" name="mg_barseg_trend-chart_7_0_10"/>
          <p:cNvSpPr/>
          <p:nvPr/>
        </p:nvSpPr>
        <p:spPr>
          <a:xfrm>
            <a:off x="10420350" y="4354116"/>
            <a:ext cx="552450" cy="125795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145" name="mg_line_trend-chart_0_0"/>
          <p:cNvSpPr/>
          <p:nvPr/>
        </p:nvSpPr>
        <p:spPr>
          <a:xfrm flipV="1">
            <a:off x="1762125" y="5128546"/>
            <a:ext cx="1276350" cy="30671"/>
          </a:xfrm>
          <a:prstGeom prst="line">
            <a:avLst/>
          </a:prstGeom>
          <a:ln w="27940" cap="flat">
            <a:solidFill>
              <a:srgbClr val="7C3AED"/>
            </a:solidFill>
          </a:ln>
        </p:spPr>
      </p:sp>
      <p:sp>
        <p:nvSpPr>
          <p:cNvPr id="146" name="mg_line_trend-chart_0_1"/>
          <p:cNvSpPr/>
          <p:nvPr/>
        </p:nvSpPr>
        <p:spPr>
          <a:xfrm flipV="1">
            <a:off x="3038475" y="5101709"/>
            <a:ext cx="1276350" cy="26837"/>
          </a:xfrm>
          <a:prstGeom prst="line">
            <a:avLst/>
          </a:prstGeom>
          <a:ln w="27940" cap="flat">
            <a:solidFill>
              <a:srgbClr val="7C3AED"/>
            </a:solidFill>
          </a:ln>
        </p:spPr>
      </p:sp>
      <p:sp>
        <p:nvSpPr>
          <p:cNvPr id="147" name="mg_line_trend-chart_0_2"/>
          <p:cNvSpPr/>
          <p:nvPr/>
        </p:nvSpPr>
        <p:spPr>
          <a:xfrm flipV="1">
            <a:off x="4314825" y="5074872"/>
            <a:ext cx="1276350" cy="26837"/>
          </a:xfrm>
          <a:prstGeom prst="line">
            <a:avLst/>
          </a:prstGeom>
          <a:ln w="27940" cap="flat">
            <a:solidFill>
              <a:srgbClr val="7C3AED"/>
            </a:solidFill>
          </a:ln>
        </p:spPr>
      </p:sp>
      <p:sp>
        <p:nvSpPr>
          <p:cNvPr id="148" name="mg_line_trend-chart_0_3"/>
          <p:cNvSpPr/>
          <p:nvPr/>
        </p:nvSpPr>
        <p:spPr>
          <a:xfrm>
            <a:off x="5591175" y="5074872"/>
            <a:ext cx="1276350" cy="11501"/>
          </a:xfrm>
          <a:prstGeom prst="line">
            <a:avLst/>
          </a:prstGeom>
          <a:ln w="27940" cap="flat">
            <a:solidFill>
              <a:srgbClr val="7C3AED"/>
            </a:solidFill>
          </a:ln>
        </p:spPr>
      </p:sp>
      <p:sp>
        <p:nvSpPr>
          <p:cNvPr id="149" name="mg_line_trend-chart_0_4"/>
          <p:cNvSpPr/>
          <p:nvPr/>
        </p:nvSpPr>
        <p:spPr>
          <a:xfrm flipV="1">
            <a:off x="6867525" y="5063371"/>
            <a:ext cx="1276350" cy="23003"/>
          </a:xfrm>
          <a:prstGeom prst="line">
            <a:avLst/>
          </a:prstGeom>
          <a:ln w="27940" cap="flat">
            <a:solidFill>
              <a:srgbClr val="7C3AED"/>
            </a:solidFill>
          </a:ln>
        </p:spPr>
      </p:sp>
      <p:sp>
        <p:nvSpPr>
          <p:cNvPr id="150" name="mg_line_trend-chart_0_5"/>
          <p:cNvSpPr/>
          <p:nvPr/>
        </p:nvSpPr>
        <p:spPr>
          <a:xfrm flipV="1">
            <a:off x="8143875" y="5044202"/>
            <a:ext cx="1276350" cy="19169"/>
          </a:xfrm>
          <a:prstGeom prst="line">
            <a:avLst/>
          </a:prstGeom>
          <a:ln w="27940" cap="flat">
            <a:solidFill>
              <a:srgbClr val="7C3AED"/>
            </a:solidFill>
          </a:ln>
        </p:spPr>
      </p:sp>
      <p:sp>
        <p:nvSpPr>
          <p:cNvPr id="151" name="mg_line_trend-chart_0_6"/>
          <p:cNvSpPr/>
          <p:nvPr/>
        </p:nvSpPr>
        <p:spPr>
          <a:xfrm flipV="1">
            <a:off x="9420225" y="5025033"/>
            <a:ext cx="1276350" cy="19169"/>
          </a:xfrm>
          <a:prstGeom prst="line">
            <a:avLst/>
          </a:prstGeom>
          <a:ln w="27940" cap="flat">
            <a:solidFill>
              <a:srgbClr val="7C3AED"/>
            </a:solidFill>
          </a:ln>
        </p:spPr>
      </p:sp>
      <p:sp>
        <p:nvSpPr>
          <p:cNvPr id="152" name="mg_linedot_trend-chart_0_0"/>
          <p:cNvSpPr/>
          <p:nvPr/>
        </p:nvSpPr>
        <p:spPr>
          <a:xfrm>
            <a:off x="1724025" y="5121116"/>
            <a:ext cx="76200" cy="76200"/>
          </a:xfrm>
          <a:prstGeom prst="ellipse">
            <a:avLst/>
          </a:prstGeom>
          <a:solidFill>
            <a:srgbClr val="7C3AED"/>
          </a:solidFill>
          <a:ln w="7620" cap="flat">
            <a:solidFill>
              <a:srgbClr val="FFFFFF"/>
            </a:solidFill>
          </a:ln>
          <a:effectLst>
            <a:glow rad="47625">
              <a:srgbClr val="FBBF24">
                <a:alpha val="26000"/>
              </a:srgbClr>
            </a:glow>
          </a:effectLst>
        </p:spPr>
      </p:sp>
      <p:sp>
        <p:nvSpPr>
          <p:cNvPr id="153" name="mg_linedot_trend-chart_0_1"/>
          <p:cNvSpPr/>
          <p:nvPr/>
        </p:nvSpPr>
        <p:spPr>
          <a:xfrm>
            <a:off x="3000375" y="5090446"/>
            <a:ext cx="76200" cy="76200"/>
          </a:xfrm>
          <a:prstGeom prst="ellipse">
            <a:avLst/>
          </a:prstGeom>
          <a:solidFill>
            <a:srgbClr val="7C3AED"/>
          </a:solidFill>
          <a:ln w="7620" cap="flat">
            <a:solidFill>
              <a:srgbClr val="FFFFFF"/>
            </a:solidFill>
          </a:ln>
          <a:effectLst>
            <a:glow rad="47625">
              <a:srgbClr val="FBBF24">
                <a:alpha val="26000"/>
              </a:srgbClr>
            </a:glow>
          </a:effectLst>
        </p:spPr>
      </p:sp>
      <p:sp>
        <p:nvSpPr>
          <p:cNvPr id="154" name="mg_linedot_trend-chart_0_2"/>
          <p:cNvSpPr/>
          <p:nvPr/>
        </p:nvSpPr>
        <p:spPr>
          <a:xfrm>
            <a:off x="4276725" y="5063609"/>
            <a:ext cx="76200" cy="76200"/>
          </a:xfrm>
          <a:prstGeom prst="ellipse">
            <a:avLst/>
          </a:prstGeom>
          <a:solidFill>
            <a:srgbClr val="7C3AED"/>
          </a:solidFill>
          <a:ln w="7620" cap="flat">
            <a:solidFill>
              <a:srgbClr val="FFFFFF"/>
            </a:solidFill>
          </a:ln>
          <a:effectLst>
            <a:glow rad="47625">
              <a:srgbClr val="FBBF24">
                <a:alpha val="26000"/>
              </a:srgbClr>
            </a:glow>
          </a:effectLst>
        </p:spPr>
      </p:sp>
      <p:sp>
        <p:nvSpPr>
          <p:cNvPr id="155" name="mg_linedot_trend-chart_0_3"/>
          <p:cNvSpPr/>
          <p:nvPr/>
        </p:nvSpPr>
        <p:spPr>
          <a:xfrm>
            <a:off x="5553075" y="5036772"/>
            <a:ext cx="76200" cy="76200"/>
          </a:xfrm>
          <a:prstGeom prst="ellipse">
            <a:avLst/>
          </a:prstGeom>
          <a:solidFill>
            <a:srgbClr val="7C3AED"/>
          </a:solidFill>
          <a:ln w="7620" cap="flat">
            <a:solidFill>
              <a:srgbClr val="FFFFFF"/>
            </a:solidFill>
          </a:ln>
          <a:effectLst>
            <a:glow rad="47625">
              <a:srgbClr val="FBBF24">
                <a:alpha val="26000"/>
              </a:srgbClr>
            </a:glow>
          </a:effectLst>
        </p:spPr>
      </p:sp>
      <p:sp>
        <p:nvSpPr>
          <p:cNvPr id="156" name="mg_linedot_trend-chart_0_4"/>
          <p:cNvSpPr/>
          <p:nvPr/>
        </p:nvSpPr>
        <p:spPr>
          <a:xfrm>
            <a:off x="6829425" y="5048274"/>
            <a:ext cx="76200" cy="76200"/>
          </a:xfrm>
          <a:prstGeom prst="ellipse">
            <a:avLst/>
          </a:prstGeom>
          <a:solidFill>
            <a:srgbClr val="7C3AED"/>
          </a:solidFill>
          <a:ln w="7620" cap="flat">
            <a:solidFill>
              <a:srgbClr val="FFFFFF"/>
            </a:solidFill>
          </a:ln>
          <a:effectLst>
            <a:glow rad="47625">
              <a:srgbClr val="FBBF24">
                <a:alpha val="26000"/>
              </a:srgbClr>
            </a:glow>
          </a:effectLst>
        </p:spPr>
      </p:sp>
      <p:sp>
        <p:nvSpPr>
          <p:cNvPr id="157" name="mg_linedot_trend-chart_0_5"/>
          <p:cNvSpPr/>
          <p:nvPr/>
        </p:nvSpPr>
        <p:spPr>
          <a:xfrm>
            <a:off x="8105775" y="5025271"/>
            <a:ext cx="76200" cy="76200"/>
          </a:xfrm>
          <a:prstGeom prst="ellipse">
            <a:avLst/>
          </a:prstGeom>
          <a:solidFill>
            <a:srgbClr val="7C3AED"/>
          </a:solidFill>
          <a:ln w="7620" cap="flat">
            <a:solidFill>
              <a:srgbClr val="FFFFFF"/>
            </a:solidFill>
          </a:ln>
          <a:effectLst>
            <a:glow rad="47625">
              <a:srgbClr val="FBBF24">
                <a:alpha val="26000"/>
              </a:srgbClr>
            </a:glow>
          </a:effectLst>
        </p:spPr>
      </p:sp>
      <p:sp>
        <p:nvSpPr>
          <p:cNvPr id="158" name="mg_linedot_trend-chart_0_6"/>
          <p:cNvSpPr/>
          <p:nvPr/>
        </p:nvSpPr>
        <p:spPr>
          <a:xfrm>
            <a:off x="9382125" y="5006102"/>
            <a:ext cx="76200" cy="76200"/>
          </a:xfrm>
          <a:prstGeom prst="ellipse">
            <a:avLst/>
          </a:prstGeom>
          <a:solidFill>
            <a:srgbClr val="7C3AED"/>
          </a:solidFill>
          <a:ln w="7620" cap="flat">
            <a:solidFill>
              <a:srgbClr val="FFFFFF"/>
            </a:solidFill>
          </a:ln>
          <a:effectLst>
            <a:glow rad="47625">
              <a:srgbClr val="FBBF24">
                <a:alpha val="26000"/>
              </a:srgbClr>
            </a:glow>
          </a:effectLst>
        </p:spPr>
      </p:sp>
      <p:sp>
        <p:nvSpPr>
          <p:cNvPr id="159" name="mg_linedot_trend-chart_0_7"/>
          <p:cNvSpPr/>
          <p:nvPr/>
        </p:nvSpPr>
        <p:spPr>
          <a:xfrm>
            <a:off x="10658475" y="4986933"/>
            <a:ext cx="76200" cy="76200"/>
          </a:xfrm>
          <a:prstGeom prst="ellipse">
            <a:avLst/>
          </a:prstGeom>
          <a:solidFill>
            <a:srgbClr val="7C3AED"/>
          </a:solidFill>
          <a:ln w="7620" cap="flat">
            <a:solidFill>
              <a:srgbClr val="FFFFFF"/>
            </a:solidFill>
          </a:ln>
          <a:effectLst>
            <a:glow rad="47625">
              <a:srgbClr val="FBBF24">
                <a:alpha val="26000"/>
              </a:srgbClr>
            </a:glow>
          </a:effectLst>
        </p:spPr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clickEffect" fill="hold">
                <p:childTnLst>
                  <p:par>
                    <p:cTn id="3" nodeType="clickEffect" fill="hold" presetClass="entr" presetID="10" presetSubtype="0">
                      <p:childTnLst>
                        <p:animEffect filter="wipe(up)" transition="in">
                          <p:cBhvr additive="repl">
                            <p:cTn id="4" dur="170" nodeType="clickEffect" fill="hold" presetClass="entr" presetID="10" presetSubtype="0">
                              <p:stCondLst>
                                <p:cond delay="120"/>
                              </p:stCondLst>
                            </p:cTn>
                            <p:tgtEl>
                              <p:spTgt spid="55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5" dur="170" nodeType="clickEffect" fill="hold" presetClass="entr" presetID="10" presetSubtype="0">
                              <p:stCondLst>
                                <p:cond delay="144"/>
                              </p:stCondLst>
                            </p:cTn>
                            <p:tgtEl>
                              <p:spTgt spid="56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6" dur="170" nodeType="clickEffect" fill="hold" presetClass="entr" presetID="10" presetSubtype="0">
                              <p:stCondLst>
                                <p:cond delay="168"/>
                              </p:stCondLst>
                            </p:cTn>
                            <p:tgtEl>
                              <p:spTgt spid="5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7" dur="170" nodeType="clickEffect" fill="hold" presetClass="entr" presetID="10" presetSubtype="0">
                              <p:stCondLst>
                                <p:cond delay="192"/>
                              </p:stCondLst>
                            </p:cTn>
                            <p:tgtEl>
                              <p:spTgt spid="58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8" dur="170" nodeType="clickEffect" fill="hold" presetClass="entr" presetID="10" presetSubtype="0">
                              <p:stCondLst>
                                <p:cond delay="216"/>
                              </p:stCondLst>
                            </p:cTn>
                            <p:tgtEl>
                              <p:spTgt spid="59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9" dur="170" nodeType="clickEffect" fill="hold" presetClass="entr" presetID="10" presetSubtype="0">
                              <p:stCondLst>
                                <p:cond delay="240"/>
                              </p:stCondLst>
                            </p:cTn>
                            <p:tgtEl>
                              <p:spTgt spid="60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0" dur="170" nodeType="clickEffect" fill="hold" presetClass="entr" presetID="10" presetSubtype="0">
                              <p:stCondLst>
                                <p:cond delay="255"/>
                              </p:stCondLst>
                            </p:cTn>
                            <p:tgtEl>
                              <p:spTgt spid="65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1" dur="170" nodeType="clickEffect" fill="hold" presetClass="entr" presetID="10" presetSubtype="0">
                              <p:stCondLst>
                                <p:cond delay="264"/>
                              </p:stCondLst>
                            </p:cTn>
                            <p:tgtEl>
                              <p:spTgt spid="61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2" dur="170" nodeType="clickEffect" fill="hold" presetClass="entr" presetID="10" presetSubtype="0">
                              <p:stCondLst>
                                <p:cond delay="279"/>
                              </p:stCondLst>
                            </p:cTn>
                            <p:tgtEl>
                              <p:spTgt spid="66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3" dur="170" nodeType="clickEffect" fill="hold" presetClass="entr" presetID="10" presetSubtype="0">
                              <p:stCondLst>
                                <p:cond delay="288"/>
                              </p:stCondLst>
                            </p:cTn>
                            <p:tgtEl>
                              <p:spTgt spid="62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4" dur="170" nodeType="clickEffect" fill="hold" presetClass="entr" presetID="10" presetSubtype="0">
                              <p:stCondLst>
                                <p:cond delay="303"/>
                              </p:stCondLst>
                            </p:cTn>
                            <p:tgtEl>
                              <p:spTgt spid="6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5" dur="170" nodeType="clickEffect" fill="hold" presetClass="entr" presetID="10" presetSubtype="0">
                              <p:stCondLst>
                                <p:cond delay="312"/>
                              </p:stCondLst>
                            </p:cTn>
                            <p:tgtEl>
                              <p:spTgt spid="63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6" dur="170" nodeType="clickEffect" fill="hold" presetClass="entr" presetID="10" presetSubtype="0">
                              <p:stCondLst>
                                <p:cond delay="327"/>
                              </p:stCondLst>
                            </p:cTn>
                            <p:tgtEl>
                              <p:spTgt spid="68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7" dur="170" nodeType="clickEffect" fill="hold" presetClass="entr" presetID="10" presetSubtype="0">
                              <p:stCondLst>
                                <p:cond delay="351"/>
                              </p:stCondLst>
                            </p:cTn>
                            <p:tgtEl>
                              <p:spTgt spid="69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8" dur="170" nodeType="clickEffect" fill="hold" presetClass="entr" presetID="10" presetSubtype="0">
                              <p:stCondLst>
                                <p:cond delay="375"/>
                              </p:stCondLst>
                            </p:cTn>
                            <p:tgtEl>
                              <p:spTgt spid="70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9" dur="170" nodeType="clickEffect" fill="hold" presetClass="entr" presetID="10" presetSubtype="0">
                              <p:stCondLst>
                                <p:cond delay="390"/>
                              </p:stCondLst>
                            </p:cTn>
                            <p:tgtEl>
                              <p:spTgt spid="76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0" dur="170" nodeType="clickEffect" fill="hold" presetClass="entr" presetID="10" presetSubtype="0">
                              <p:stCondLst>
                                <p:cond delay="399"/>
                              </p:stCondLst>
                            </p:cTn>
                            <p:tgtEl>
                              <p:spTgt spid="71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1" dur="170" nodeType="clickEffect" fill="hold" presetClass="entr" presetID="10" presetSubtype="0">
                              <p:stCondLst>
                                <p:cond delay="414"/>
                              </p:stCondLst>
                            </p:cTn>
                            <p:tgtEl>
                              <p:spTgt spid="7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2" dur="170" nodeType="clickEffect" fill="hold" presetClass="entr" presetID="10" presetSubtype="0">
                              <p:stCondLst>
                                <p:cond delay="423"/>
                              </p:stCondLst>
                            </p:cTn>
                            <p:tgtEl>
                              <p:spTgt spid="72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3" dur="170" nodeType="clickEffect" fill="hold" presetClass="entr" presetID="10" presetSubtype="0">
                              <p:stCondLst>
                                <p:cond delay="438"/>
                              </p:stCondLst>
                            </p:cTn>
                            <p:tgtEl>
                              <p:spTgt spid="78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4" dur="170" nodeType="clickEffect" fill="hold" presetClass="entr" presetID="10" presetSubtype="0">
                              <p:stCondLst>
                                <p:cond delay="447"/>
                              </p:stCondLst>
                            </p:cTn>
                            <p:tgtEl>
                              <p:spTgt spid="73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5" dur="170" nodeType="clickEffect" fill="hold" presetClass="entr" presetID="10" presetSubtype="0">
                              <p:stCondLst>
                                <p:cond delay="462"/>
                              </p:stCondLst>
                            </p:cTn>
                            <p:tgtEl>
                              <p:spTgt spid="79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6" dur="170" nodeType="clickEffect" fill="hold" presetClass="entr" presetID="10" presetSubtype="0">
                              <p:stCondLst>
                                <p:cond delay="471"/>
                              </p:stCondLst>
                            </p:cTn>
                            <p:tgtEl>
                              <p:spTgt spid="74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7" dur="170" nodeType="clickEffect" fill="hold" presetClass="entr" presetID="10" presetSubtype="0">
                              <p:stCondLst>
                                <p:cond delay="486"/>
                              </p:stCondLst>
                            </p:cTn>
                            <p:tgtEl>
                              <p:spTgt spid="80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8" dur="170" nodeType="clickEffect" fill="hold" presetClass="entr" presetID="10" presetSubtype="0">
                              <p:stCondLst>
                                <p:cond delay="510"/>
                              </p:stCondLst>
                            </p:cTn>
                            <p:tgtEl>
                              <p:spTgt spid="81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9" dur="170" nodeType="clickEffect" fill="hold" presetClass="entr" presetID="10" presetSubtype="0">
                              <p:stCondLst>
                                <p:cond delay="525"/>
                              </p:stCondLst>
                            </p:cTn>
                            <p:tgtEl>
                              <p:spTgt spid="8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0" dur="170" nodeType="clickEffect" fill="hold" presetClass="entr" presetID="10" presetSubtype="0">
                              <p:stCondLst>
                                <p:cond delay="534"/>
                              </p:stCondLst>
                            </p:cTn>
                            <p:tgtEl>
                              <p:spTgt spid="82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1" dur="170" nodeType="clickEffect" fill="hold" presetClass="entr" presetID="10" presetSubtype="0">
                              <p:stCondLst>
                                <p:cond delay="549"/>
                              </p:stCondLst>
                            </p:cTn>
                            <p:tgtEl>
                              <p:spTgt spid="88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2" dur="170" nodeType="clickEffect" fill="hold" presetClass="entr" presetID="10" presetSubtype="0">
                              <p:stCondLst>
                                <p:cond delay="558"/>
                              </p:stCondLst>
                            </p:cTn>
                            <p:tgtEl>
                              <p:spTgt spid="83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3" dur="170" nodeType="clickEffect" fill="hold" presetClass="entr" presetID="10" presetSubtype="0">
                              <p:stCondLst>
                                <p:cond delay="573"/>
                              </p:stCondLst>
                            </p:cTn>
                            <p:tgtEl>
                              <p:spTgt spid="89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4" dur="170" nodeType="clickEffect" fill="hold" presetClass="entr" presetID="10" presetSubtype="0">
                              <p:stCondLst>
                                <p:cond delay="582"/>
                              </p:stCondLst>
                            </p:cTn>
                            <p:tgtEl>
                              <p:spTgt spid="84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5" dur="170" nodeType="clickEffect" fill="hold" presetClass="entr" presetID="10" presetSubtype="0">
                              <p:stCondLst>
                                <p:cond delay="597"/>
                              </p:stCondLst>
                            </p:cTn>
                            <p:tgtEl>
                              <p:spTgt spid="90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6" dur="170" nodeType="clickEffect" fill="hold" presetClass="entr" presetID="10" presetSubtype="0">
                              <p:stCondLst>
                                <p:cond delay="606"/>
                              </p:stCondLst>
                            </p:cTn>
                            <p:tgtEl>
                              <p:spTgt spid="85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7" dur="170" nodeType="clickEffect" fill="hold" presetClass="entr" presetID="10" presetSubtype="0">
                              <p:stCondLst>
                                <p:cond delay="621"/>
                              </p:stCondLst>
                            </p:cTn>
                            <p:tgtEl>
                              <p:spTgt spid="91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8" dur="170" nodeType="clickEffect" fill="hold" presetClass="entr" presetID="10" presetSubtype="0">
                              <p:stCondLst>
                                <p:cond delay="645"/>
                              </p:stCondLst>
                            </p:cTn>
                            <p:tgtEl>
                              <p:spTgt spid="92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9" dur="170" nodeType="clickEffect" fill="hold" presetClass="entr" presetID="10" presetSubtype="0">
                              <p:stCondLst>
                                <p:cond delay="660"/>
                              </p:stCondLst>
                            </p:cTn>
                            <p:tgtEl>
                              <p:spTgt spid="99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40" dur="170" nodeType="clickEffect" fill="hold" presetClass="entr" presetID="10" presetSubtype="0">
                              <p:stCondLst>
                                <p:cond delay="669"/>
                              </p:stCondLst>
                            </p:cTn>
                            <p:tgtEl>
                              <p:spTgt spid="93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41" dur="170" nodeType="clickEffect" fill="hold" presetClass="entr" presetID="10" presetSubtype="0">
                              <p:stCondLst>
                                <p:cond delay="684"/>
                              </p:stCondLst>
                            </p:cTn>
                            <p:tgtEl>
                              <p:spTgt spid="100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42" dur="170" nodeType="clickEffect" fill="hold" presetClass="entr" presetID="10" presetSubtype="0">
                              <p:stCondLst>
                                <p:cond delay="693"/>
                              </p:stCondLst>
                            </p:cTn>
                            <p:tgtEl>
                              <p:spTgt spid="94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43" dur="170" nodeType="clickEffect" fill="hold" presetClass="entr" presetID="10" presetSubtype="0">
                              <p:stCondLst>
                                <p:cond delay="708"/>
                              </p:stCondLst>
                            </p:cTn>
                            <p:tgtEl>
                              <p:spTgt spid="101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44" dur="170" nodeType="clickEffect" fill="hold" presetClass="entr" presetID="10" presetSubtype="0">
                              <p:stCondLst>
                                <p:cond delay="717"/>
                              </p:stCondLst>
                            </p:cTn>
                            <p:tgtEl>
                              <p:spTgt spid="95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45" dur="170" nodeType="clickEffect" fill="hold" presetClass="entr" presetID="10" presetSubtype="0">
                              <p:stCondLst>
                                <p:cond delay="732"/>
                              </p:stCondLst>
                            </p:cTn>
                            <p:tgtEl>
                              <p:spTgt spid="102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46" dur="170" nodeType="clickEffect" fill="hold" presetClass="entr" presetID="10" presetSubtype="0">
                              <p:stCondLst>
                                <p:cond delay="741"/>
                              </p:stCondLst>
                            </p:cTn>
                            <p:tgtEl>
                              <p:spTgt spid="96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47" dur="170" nodeType="clickEffect" fill="hold" presetClass="entr" presetID="10" presetSubtype="0">
                              <p:stCondLst>
                                <p:cond delay="756"/>
                              </p:stCondLst>
                            </p:cTn>
                            <p:tgtEl>
                              <p:spTgt spid="103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48" dur="170" nodeType="clickEffect" fill="hold" presetClass="entr" presetID="10" presetSubtype="0">
                              <p:stCondLst>
                                <p:cond delay="765"/>
                              </p:stCondLst>
                            </p:cTn>
                            <p:tgtEl>
                              <p:spTgt spid="9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49" dur="170" nodeType="clickEffect" fill="hold" presetClass="entr" presetID="10" presetSubtype="0">
                              <p:stCondLst>
                                <p:cond delay="780"/>
                              </p:stCondLst>
                            </p:cTn>
                            <p:tgtEl>
                              <p:spTgt spid="104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50" dur="170" nodeType="clickEffect" fill="hold" presetClass="entr" presetID="10" presetSubtype="0">
                              <p:stCondLst>
                                <p:cond delay="795"/>
                              </p:stCondLst>
                            </p:cTn>
                            <p:tgtEl>
                              <p:spTgt spid="110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51" dur="170" nodeType="clickEffect" fill="hold" presetClass="entr" presetID="10" presetSubtype="0">
                              <p:stCondLst>
                                <p:cond delay="804"/>
                              </p:stCondLst>
                            </p:cTn>
                            <p:tgtEl>
                              <p:spTgt spid="105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52" dur="170" nodeType="clickEffect" fill="hold" presetClass="entr" presetID="10" presetSubtype="0">
                              <p:stCondLst>
                                <p:cond delay="819"/>
                              </p:stCondLst>
                            </p:cTn>
                            <p:tgtEl>
                              <p:spTgt spid="111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53" dur="170" nodeType="clickEffect" fill="hold" presetClass="entr" presetID="10" presetSubtype="0">
                              <p:stCondLst>
                                <p:cond delay="828"/>
                              </p:stCondLst>
                            </p:cTn>
                            <p:tgtEl>
                              <p:spTgt spid="106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54" dur="170" nodeType="clickEffect" fill="hold" presetClass="entr" presetID="10" presetSubtype="0">
                              <p:stCondLst>
                                <p:cond delay="843"/>
                              </p:stCondLst>
                            </p:cTn>
                            <p:tgtEl>
                              <p:spTgt spid="112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55" dur="170" nodeType="clickEffect" fill="hold" presetClass="entr" presetID="10" presetSubtype="0">
                              <p:stCondLst>
                                <p:cond delay="852"/>
                              </p:stCondLst>
                            </p:cTn>
                            <p:tgtEl>
                              <p:spTgt spid="10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56" dur="170" nodeType="clickEffect" fill="hold" presetClass="entr" presetID="10" presetSubtype="0">
                              <p:stCondLst>
                                <p:cond delay="867"/>
                              </p:stCondLst>
                            </p:cTn>
                            <p:tgtEl>
                              <p:spTgt spid="113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57" dur="170" nodeType="clickEffect" fill="hold" presetClass="entr" presetID="10" presetSubtype="0">
                              <p:stCondLst>
                                <p:cond delay="876"/>
                              </p:stCondLst>
                            </p:cTn>
                            <p:tgtEl>
                              <p:spTgt spid="108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58" dur="170" nodeType="clickEffect" fill="hold" presetClass="entr" presetID="10" presetSubtype="0">
                              <p:stCondLst>
                                <p:cond delay="891"/>
                              </p:stCondLst>
                            </p:cTn>
                            <p:tgtEl>
                              <p:spTgt spid="114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59" dur="170" nodeType="clickEffect" fill="hold" presetClass="entr" presetID="10" presetSubtype="0">
                              <p:stCondLst>
                                <p:cond delay="915"/>
                              </p:stCondLst>
                            </p:cTn>
                            <p:tgtEl>
                              <p:spTgt spid="115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60" dur="170" nodeType="clickEffect" fill="hold" presetClass="entr" presetID="10" presetSubtype="0">
                              <p:stCondLst>
                                <p:cond delay="930"/>
                              </p:stCondLst>
                            </p:cTn>
                            <p:tgtEl>
                              <p:spTgt spid="122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61" dur="170" nodeType="clickEffect" fill="hold" presetClass="entr" presetID="10" presetSubtype="0">
                              <p:stCondLst>
                                <p:cond delay="939"/>
                              </p:stCondLst>
                            </p:cTn>
                            <p:tgtEl>
                              <p:spTgt spid="116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62" dur="170" nodeType="clickEffect" fill="hold" presetClass="entr" presetID="10" presetSubtype="0">
                              <p:stCondLst>
                                <p:cond delay="954"/>
                              </p:stCondLst>
                            </p:cTn>
                            <p:tgtEl>
                              <p:spTgt spid="123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63" dur="170" nodeType="clickEffect" fill="hold" presetClass="entr" presetID="10" presetSubtype="0">
                              <p:stCondLst>
                                <p:cond delay="963"/>
                              </p:stCondLst>
                            </p:cTn>
                            <p:tgtEl>
                              <p:spTgt spid="11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64" dur="170" nodeType="clickEffect" fill="hold" presetClass="entr" presetID="10" presetSubtype="0">
                              <p:stCondLst>
                                <p:cond delay="978"/>
                              </p:stCondLst>
                            </p:cTn>
                            <p:tgtEl>
                              <p:spTgt spid="124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65" dur="170" nodeType="clickEffect" fill="hold" presetClass="entr" presetID="10" presetSubtype="0">
                              <p:stCondLst>
                                <p:cond delay="987"/>
                              </p:stCondLst>
                            </p:cTn>
                            <p:tgtEl>
                              <p:spTgt spid="118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66" dur="170" nodeType="clickEffect" fill="hold" presetClass="entr" presetID="10" presetSubtype="0">
                              <p:stCondLst>
                                <p:cond delay="1002"/>
                              </p:stCondLst>
                            </p:cTn>
                            <p:tgtEl>
                              <p:spTgt spid="125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67" dur="170" nodeType="clickEffect" fill="hold" presetClass="entr" presetID="10" presetSubtype="0">
                              <p:stCondLst>
                                <p:cond delay="1011"/>
                              </p:stCondLst>
                            </p:cTn>
                            <p:tgtEl>
                              <p:spTgt spid="119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68" dur="170" nodeType="clickEffect" fill="hold" presetClass="entr" presetID="10" presetSubtype="0">
                              <p:stCondLst>
                                <p:cond delay="1026"/>
                              </p:stCondLst>
                            </p:cTn>
                            <p:tgtEl>
                              <p:spTgt spid="126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69" dur="170" nodeType="clickEffect" fill="hold" presetClass="entr" presetID="10" presetSubtype="0">
                              <p:stCondLst>
                                <p:cond delay="1035"/>
                              </p:stCondLst>
                            </p:cTn>
                            <p:tgtEl>
                              <p:spTgt spid="120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70" dur="170" nodeType="clickEffect" fill="hold" presetClass="entr" presetID="10" presetSubtype="0">
                              <p:stCondLst>
                                <p:cond delay="1050"/>
                              </p:stCondLst>
                            </p:cTn>
                            <p:tgtEl>
                              <p:spTgt spid="12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71" dur="170" nodeType="clickEffect" fill="hold" presetClass="entr" presetID="10" presetSubtype="0">
                              <p:stCondLst>
                                <p:cond delay="1065"/>
                              </p:stCondLst>
                            </p:cTn>
                            <p:tgtEl>
                              <p:spTgt spid="134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72" dur="170" nodeType="clickEffect" fill="hold" presetClass="entr" presetID="10" presetSubtype="0">
                              <p:stCondLst>
                                <p:cond delay="1074"/>
                              </p:stCondLst>
                            </p:cTn>
                            <p:tgtEl>
                              <p:spTgt spid="128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73" dur="170" nodeType="clickEffect" fill="hold" presetClass="entr" presetID="10" presetSubtype="0">
                              <p:stCondLst>
                                <p:cond delay="1089"/>
                              </p:stCondLst>
                            </p:cTn>
                            <p:tgtEl>
                              <p:spTgt spid="135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74" dur="170" nodeType="clickEffect" fill="hold" presetClass="entr" presetID="10" presetSubtype="0">
                              <p:stCondLst>
                                <p:cond delay="1098"/>
                              </p:stCondLst>
                            </p:cTn>
                            <p:tgtEl>
                              <p:spTgt spid="129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75" dur="170" nodeType="clickEffect" fill="hold" presetClass="entr" presetID="10" presetSubtype="0">
                              <p:stCondLst>
                                <p:cond delay="1113"/>
                              </p:stCondLst>
                            </p:cTn>
                            <p:tgtEl>
                              <p:spTgt spid="136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76" dur="170" nodeType="clickEffect" fill="hold" presetClass="entr" presetID="10" presetSubtype="0">
                              <p:stCondLst>
                                <p:cond delay="1122"/>
                              </p:stCondLst>
                            </p:cTn>
                            <p:tgtEl>
                              <p:spTgt spid="130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77" dur="170" nodeType="clickEffect" fill="hold" presetClass="entr" presetID="10" presetSubtype="0">
                              <p:stCondLst>
                                <p:cond delay="1137"/>
                              </p:stCondLst>
                            </p:cTn>
                            <p:tgtEl>
                              <p:spTgt spid="13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78" dur="170" nodeType="clickEffect" fill="hold" presetClass="entr" presetID="10" presetSubtype="0">
                              <p:stCondLst>
                                <p:cond delay="1146"/>
                              </p:stCondLst>
                            </p:cTn>
                            <p:tgtEl>
                              <p:spTgt spid="131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79" dur="170" nodeType="clickEffect" fill="hold" presetClass="entr" presetID="10" presetSubtype="0">
                              <p:stCondLst>
                                <p:cond delay="1161"/>
                              </p:stCondLst>
                            </p:cTn>
                            <p:tgtEl>
                              <p:spTgt spid="138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80" dur="170" nodeType="clickEffect" fill="hold" presetClass="entr" presetID="10" presetSubtype="0">
                              <p:stCondLst>
                                <p:cond delay="1170"/>
                              </p:stCondLst>
                            </p:cTn>
                            <p:tgtEl>
                              <p:spTgt spid="132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81" dur="170" nodeType="clickEffect" fill="hold" presetClass="entr" presetID="10" presetSubtype="0">
                              <p:stCondLst>
                                <p:cond delay="1185"/>
                              </p:stCondLst>
                            </p:cTn>
                            <p:tgtEl>
                              <p:spTgt spid="139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82" dur="170" nodeType="clickEffect" fill="hold" presetClass="entr" presetID="10" presetSubtype="0">
                              <p:stCondLst>
                                <p:cond delay="1209"/>
                              </p:stCondLst>
                            </p:cTn>
                            <p:tgtEl>
                              <p:spTgt spid="140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83" dur="170" nodeType="clickEffect" fill="hold" presetClass="entr" presetID="10" presetSubtype="0">
                              <p:stCondLst>
                                <p:cond delay="1233"/>
                              </p:stCondLst>
                            </p:cTn>
                            <p:tgtEl>
                              <p:spTgt spid="141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84" dur="170" nodeType="clickEffect" fill="hold" presetClass="entr" presetID="10" presetSubtype="0">
                              <p:stCondLst>
                                <p:cond delay="1257"/>
                              </p:stCondLst>
                            </p:cTn>
                            <p:tgtEl>
                              <p:spTgt spid="142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85" dur="170" nodeType="clickEffect" fill="hold" presetClass="entr" presetID="10" presetSubtype="0">
                              <p:stCondLst>
                                <p:cond delay="1281"/>
                              </p:stCondLst>
                            </p:cTn>
                            <p:tgtEl>
                              <p:spTgt spid="143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86" dur="170" nodeType="clickEffect" fill="hold" presetClass="entr" presetID="10" presetSubtype="0">
                              <p:stCondLst>
                                <p:cond delay="1305"/>
                              </p:stCondLst>
                            </p:cTn>
                            <p:tgtEl>
                              <p:spTgt spid="144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87" dur="160" nodeType="clickEffect" fill="hold" presetClass="entr" presetID="10" presetSubtype="0">
                              <p:stCondLst>
                                <p:cond delay="1320"/>
                              </p:stCondLst>
                            </p:cTn>
                            <p:tgtEl>
                              <p:spTgt spid="145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88" dur="160" nodeType="clickEffect" fill="hold" presetClass="entr" presetID="10" presetSubtype="0">
                              <p:stCondLst>
                                <p:cond delay="1375"/>
                              </p:stCondLst>
                            </p:cTn>
                            <p:tgtEl>
                              <p:spTgt spid="146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89" dur="160" nodeType="clickEffect" fill="hold" presetClass="entr" presetID="10" presetSubtype="0">
                              <p:stCondLst>
                                <p:cond delay="1430"/>
                              </p:stCondLst>
                            </p:cTn>
                            <p:tgtEl>
                              <p:spTgt spid="147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90" dur="160" nodeType="clickEffect" fill="hold" presetClass="entr" presetID="10" presetSubtype="0">
                              <p:stCondLst>
                                <p:cond delay="1485"/>
                              </p:stCondLst>
                            </p:cTn>
                            <p:tgtEl>
                              <p:spTgt spid="148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91" dur="160" nodeType="clickEffect" fill="hold" presetClass="entr" presetID="10" presetSubtype="0">
                              <p:stCondLst>
                                <p:cond delay="1540"/>
                              </p:stCondLst>
                            </p:cTn>
                            <p:tgtEl>
                              <p:spTgt spid="149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92" dur="160" nodeType="clickEffect" fill="hold" presetClass="entr" presetID="10" presetSubtype="0">
                              <p:stCondLst>
                                <p:cond delay="1595"/>
                              </p:stCondLst>
                            </p:cTn>
                            <p:tgtEl>
                              <p:spTgt spid="150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93" dur="160" nodeType="clickEffect" fill="hold" presetClass="entr" presetID="10" presetSubtype="0">
                              <p:stCondLst>
                                <p:cond delay="1650"/>
                              </p:stCondLst>
                            </p:cTn>
                            <p:tgtEl>
                              <p:spTgt spid="151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94" dur="160" nodeType="clickEffect" fill="hold" presetClass="entr" presetID="10" presetSubtype="0">
                              <p:stCondLst>
                                <p:cond delay="1705"/>
                              </p:stCondLst>
                            </p:cTn>
                            <p:tgtEl>
                              <p:spTgt spid="152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95" dur="160" nodeType="clickEffect" fill="hold" presetClass="entr" presetID="10" presetSubtype="0">
                              <p:stCondLst>
                                <p:cond delay="1760"/>
                              </p:stCondLst>
                            </p:cTn>
                            <p:tgtEl>
                              <p:spTgt spid="153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96" dur="160" nodeType="clickEffect" fill="hold" presetClass="entr" presetID="10" presetSubtype="0">
                              <p:stCondLst>
                                <p:cond delay="1815"/>
                              </p:stCondLst>
                            </p:cTn>
                            <p:tgtEl>
                              <p:spTgt spid="154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97" dur="160" nodeType="clickEffect" fill="hold" presetClass="entr" presetID="10" presetSubtype="0">
                              <p:stCondLst>
                                <p:cond delay="1870"/>
                              </p:stCondLst>
                            </p:cTn>
                            <p:tgtEl>
                              <p:spTgt spid="155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98" dur="160" nodeType="clickEffect" fill="hold" presetClass="entr" presetID="10" presetSubtype="0">
                              <p:stCondLst>
                                <p:cond delay="1925"/>
                              </p:stCondLst>
                            </p:cTn>
                            <p:tgtEl>
                              <p:spTgt spid="156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99" dur="160" nodeType="clickEffect" fill="hold" presetClass="entr" presetID="10" presetSubtype="0">
                              <p:stCondLst>
                                <p:cond delay="1980"/>
                              </p:stCondLst>
                            </p:cTn>
                            <p:tgtEl>
                              <p:spTgt spid="157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100" dur="160" nodeType="clickEffect" fill="hold" presetClass="entr" presetID="10" presetSubtype="0">
                              <p:stCondLst>
                                <p:cond delay="2035"/>
                              </p:stCondLst>
                            </p:cTn>
                            <p:tgtEl>
                              <p:spTgt spid="158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101" dur="160" nodeType="clickEffect" fill="hold" presetClass="entr" presetID="10" presetSubtype="0">
                              <p:stCondLst>
                                <p:cond delay="2090"/>
                              </p:stCondLst>
                            </p:cTn>
                            <p:tgtEl>
                              <p:spTgt spid="159"/>
                            </p:tgtEl>
                          </p:cBhvr>
                        </p:animEffect>
                      </p:childTnLst>
                    </p:cTn>
                  </p:par>
                </p:childTnLst>
                <p:prevCondLst>
                  <p:cond evt="onPrev">
                    <p:tgtEl>
                      <p:sldTgt/>
                    </p:tgtEl>
                  </p:cond>
                </p:prevCondLst>
                <p:nextCondLst>
                  <p:cond evt="onNext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gg_peak_pil_render/slides/slide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anim_chapter_bar"/>
          <p:cNvSpPr/>
          <p:nvPr/>
        </p:nvSpPr>
        <p:spPr>
          <a:xfrm>
            <a:off x="1000125" y="2476500"/>
            <a:ext cx="876300" cy="38100"/>
          </a:xfrm>
          <a:prstGeom prst="roundRect">
            <a:avLst/>
          </a:prstGeom>
          <a:solidFill>
            <a:srgbClr val="FBBF24">
              <a:alpha val="43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1" name="anim_chapter_orb"/>
          <p:cNvSpPr/>
          <p:nvPr/>
        </p:nvSpPr>
        <p:spPr>
          <a:xfrm>
            <a:off x="8667750" y="4524375"/>
            <a:ext cx="647700" cy="647700"/>
          </a:xfrm>
          <a:prstGeom prst="ellipse">
            <a:avLst/>
          </a:prstGeom>
          <a:solidFill>
            <a:srgbClr val="FBBF24">
              <a:alpha val="2800"/>
            </a:srgbClr>
          </a:solidFill>
          <a:ln w="8890" cap="flat">
            <a:solidFill>
              <a:srgbClr val="FBBF24">
                <a:alpha val="12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gg_peak_pil_render/slides/slid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anim_chart_frame_revenue-chart"/>
          <p:cNvSpPr/>
          <p:nvPr/>
        </p:nvSpPr>
        <p:spPr>
          <a:xfrm>
            <a:off x="542925" y="3686175"/>
            <a:ext cx="11106150" cy="2533650"/>
          </a:xfrm>
          <a:prstGeom prst="roundRect">
            <a:avLst/>
          </a:prstGeom>
          <a:noFill/>
          <a:ln w="14605" cap="flat">
            <a:solidFill>
              <a:srgbClr val="FBBF24">
                <a:alpha val="26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1" name="anim_chart_baseline_revenue-chart"/>
          <p:cNvSpPr/>
          <p:nvPr/>
        </p:nvSpPr>
        <p:spPr>
          <a:xfrm>
            <a:off x="819150" y="5867400"/>
            <a:ext cx="10553700" cy="111442"/>
          </a:xfrm>
          <a:prstGeom prst="roundRect">
            <a:avLst/>
          </a:prstGeom>
          <a:solidFill>
            <a:srgbClr val="FBBF24">
              <a:alpha val="45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2" name="anim_chart_scan_revenue-chart_0"/>
          <p:cNvSpPr/>
          <p:nvPr/>
        </p:nvSpPr>
        <p:spPr>
          <a:xfrm>
            <a:off x="3333750" y="3943350"/>
            <a:ext cx="198882" cy="182880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23" name="anim_chart_scan_revenue-chart_1"/>
          <p:cNvSpPr/>
          <p:nvPr/>
        </p:nvSpPr>
        <p:spPr>
          <a:xfrm>
            <a:off x="6316980" y="3943350"/>
            <a:ext cx="198882" cy="182880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24" name="anim_chart_scan_revenue-chart_2"/>
          <p:cNvSpPr/>
          <p:nvPr/>
        </p:nvSpPr>
        <p:spPr>
          <a:xfrm>
            <a:off x="9189720" y="3943350"/>
            <a:ext cx="198882" cy="182880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25" name="anim_chart_dot_revenue-chart_0"/>
          <p:cNvSpPr/>
          <p:nvPr/>
        </p:nvSpPr>
        <p:spPr>
          <a:xfrm>
            <a:off x="3612832" y="5247322"/>
            <a:ext cx="104775" cy="104775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6" name="anim_chart_dot_revenue-chart_1"/>
          <p:cNvSpPr/>
          <p:nvPr/>
        </p:nvSpPr>
        <p:spPr>
          <a:xfrm>
            <a:off x="6927532" y="4851082"/>
            <a:ext cx="104775" cy="104775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7" name="anim_chart_dot_revenue-chart_2"/>
          <p:cNvSpPr/>
          <p:nvPr/>
        </p:nvSpPr>
        <p:spPr>
          <a:xfrm>
            <a:off x="9675495" y="4391025"/>
            <a:ext cx="133350" cy="133350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8" name="anim_chart_trendline_revenue-chart"/>
          <p:cNvSpPr/>
          <p:nvPr/>
        </p:nvSpPr>
        <p:spPr>
          <a:xfrm>
            <a:off x="2560320" y="4457700"/>
            <a:ext cx="7513320" cy="990600"/>
          </a:xfrm>
          <a:prstGeom prst="line">
            <a:avLst/>
          </a:prstGeom>
          <a:noFill/>
          <a:ln w="17780" cap="flat">
            <a:solidFill>
              <a:srgbClr val="FBBF24">
                <a:alpha val="2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9" name="anim_box_frame_card1-bg"/>
          <p:cNvSpPr/>
          <p:nvPr/>
        </p:nvSpPr>
        <p:spPr>
          <a:xfrm>
            <a:off x="552450" y="1409700"/>
            <a:ext cx="3467100" cy="2038350"/>
          </a:xfrm>
          <a:prstGeom prst="roundRect">
            <a:avLst/>
          </a:prstGeom>
          <a:noFill/>
          <a:ln w="16510" cap="flat">
            <a:solidFill>
              <a:srgbClr val="7C3AED">
                <a:alpha val="17000"/>
              </a:srgbClr>
            </a:solidFill>
            <a:prstDash val="solid"/>
          </a:ln>
        </p:spPr>
      </p:sp>
      <p:sp>
        <p:nvSpPr>
          <p:cNvPr id="30" name="anim_box_bar_card1-bg"/>
          <p:cNvSpPr/>
          <p:nvPr/>
        </p:nvSpPr>
        <p:spPr>
          <a:xfrm>
            <a:off x="704850" y="1495425"/>
            <a:ext cx="754380" cy="28575"/>
          </a:xfrm>
          <a:prstGeom prst="roundRect">
            <a:avLst/>
          </a:prstGeom>
          <a:solidFill>
            <a:srgbClr val="FBBF24">
              <a:alpha val="22000"/>
            </a:srgbClr>
          </a:solidFill>
          <a:ln>
            <a:noFill/>
          </a:ln>
        </p:spPr>
      </p:sp>
      <p:sp>
        <p:nvSpPr>
          <p:cNvPr id="31" name="anim_box_frame_card2-bg"/>
          <p:cNvSpPr/>
          <p:nvPr/>
        </p:nvSpPr>
        <p:spPr>
          <a:xfrm>
            <a:off x="4171950" y="1409700"/>
            <a:ext cx="3467100" cy="2038350"/>
          </a:xfrm>
          <a:prstGeom prst="roundRect">
            <a:avLst/>
          </a:prstGeom>
          <a:noFill/>
          <a:ln w="16510" cap="flat">
            <a:solidFill>
              <a:srgbClr val="7C3AED">
                <a:alpha val="17000"/>
              </a:srgbClr>
            </a:solidFill>
            <a:prstDash val="solid"/>
          </a:ln>
        </p:spPr>
      </p:sp>
      <p:sp>
        <p:nvSpPr>
          <p:cNvPr id="32" name="anim_box_bar_card2-bg"/>
          <p:cNvSpPr/>
          <p:nvPr/>
        </p:nvSpPr>
        <p:spPr>
          <a:xfrm>
            <a:off x="4324350" y="1495425"/>
            <a:ext cx="754380" cy="28575"/>
          </a:xfrm>
          <a:prstGeom prst="roundRect">
            <a:avLst/>
          </a:prstGeom>
          <a:solidFill>
            <a:srgbClr val="FBBF24">
              <a:alpha val="22000"/>
            </a:srgbClr>
          </a:solidFill>
          <a:ln>
            <a:noFill/>
          </a:ln>
        </p:spPr>
      </p:sp>
      <p:sp>
        <p:nvSpPr>
          <p:cNvPr id="33" name="anim_box_frame_card3-bg"/>
          <p:cNvSpPr/>
          <p:nvPr/>
        </p:nvSpPr>
        <p:spPr>
          <a:xfrm>
            <a:off x="7791450" y="1409700"/>
            <a:ext cx="3848100" cy="2038350"/>
          </a:xfrm>
          <a:prstGeom prst="roundRect">
            <a:avLst/>
          </a:prstGeom>
          <a:noFill/>
          <a:ln w="16510" cap="flat">
            <a:solidFill>
              <a:srgbClr val="7C3AED">
                <a:alpha val="17000"/>
              </a:srgbClr>
            </a:solidFill>
            <a:prstDash val="solid"/>
          </a:ln>
        </p:spPr>
      </p:sp>
      <p:sp>
        <p:nvSpPr>
          <p:cNvPr id="34" name="anim_box_bar_card3-bg"/>
          <p:cNvSpPr/>
          <p:nvPr/>
        </p:nvSpPr>
        <p:spPr>
          <a:xfrm>
            <a:off x="7943850" y="1495425"/>
            <a:ext cx="838200" cy="28575"/>
          </a:xfrm>
          <a:prstGeom prst="roundRect">
            <a:avLst/>
          </a:prstGeom>
          <a:solidFill>
            <a:srgbClr val="FBBF24">
              <a:alpha val="22000"/>
            </a:srgbClr>
          </a:solidFill>
          <a:ln>
            <a:noFill/>
          </a:ln>
        </p:spPr>
      </p:sp>
      <p:sp>
        <p:nvSpPr>
          <p:cNvPr id="35" name="mg_cover_revenue-chart"/>
          <p:cNvSpPr/>
          <p:nvPr/>
        </p:nvSpPr>
        <p:spPr>
          <a:xfrm>
            <a:off x="571500" y="3714750"/>
            <a:ext cx="11049000" cy="24765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E5E7EB"/>
            </a:solidFill>
          </a:ln>
          <a:effectLst>
            <a:outerShdw blurRad="76200" dist="19050" dir="5400000" algn="ctr" rotWithShape="0">
              <a:srgbClr val="000000">
                <a:alpha val="18000"/>
              </a:srgbClr>
            </a:outerShdw>
          </a:effectLst>
        </p:spPr>
      </p:sp>
      <p:sp>
        <p:nvSpPr>
          <p:cNvPr id="36" name="mg_title_revenue-chart"/>
          <p:cNvSpPr txBox="1"/>
          <p:nvPr/>
        </p:nvSpPr>
        <p:spPr>
          <a:xfrm>
            <a:off x="685800" y="3810000"/>
            <a:ext cx="10820400" cy="2095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400" kern="1200" b="1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3⁠가지 수익 모델의 고객-사업자 수익 구조 비교 (월 기준, 만원)</a:t>
            </a:r>
            <a:endParaRPr lang="ko-KR" sz="14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37" name="mg_lg_sq_revenue-chart_0"/>
          <p:cNvSpPr/>
          <p:nvPr/>
        </p:nvSpPr>
        <p:spPr>
          <a:xfrm>
            <a:off x="3524250" y="4143375"/>
            <a:ext cx="85725" cy="85725"/>
          </a:xfrm>
          <a:prstGeom prst="round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38" name="mg_lg_tx_revenue-chart_0"/>
          <p:cNvSpPr txBox="1"/>
          <p:nvPr/>
        </p:nvSpPr>
        <p:spPr>
          <a:xfrm>
            <a:off x="3657600" y="4095750"/>
            <a:ext cx="156210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2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고객 비용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39" name="mg_lg_sq_revenue-chart_1"/>
          <p:cNvSpPr/>
          <p:nvPr/>
        </p:nvSpPr>
        <p:spPr>
          <a:xfrm>
            <a:off x="5238750" y="4143375"/>
            <a:ext cx="85725" cy="85725"/>
          </a:xfrm>
          <a:prstGeom prst="roundRect">
            <a:avLst/>
          </a:prstGeom>
          <a:solidFill>
            <a:srgbClr val="5B21B6"/>
          </a:solidFill>
          <a:ln w="0" cap="flat">
            <a:noFill/>
          </a:ln>
        </p:spPr>
      </p:sp>
      <p:sp>
        <p:nvSpPr>
          <p:cNvPr id="40" name="mg_lg_tx_revenue-chart_1"/>
          <p:cNvSpPr txBox="1"/>
          <p:nvPr/>
        </p:nvSpPr>
        <p:spPr>
          <a:xfrm>
            <a:off x="5372100" y="4095750"/>
            <a:ext cx="156210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2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에그 수익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1" name="mg_lg_sq_revenue-chart_2"/>
          <p:cNvSpPr/>
          <p:nvPr/>
        </p:nvSpPr>
        <p:spPr>
          <a:xfrm>
            <a:off x="6953250" y="4143375"/>
            <a:ext cx="85725" cy="85725"/>
          </a:xfrm>
          <a:prstGeom prst="round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42" name="mg_lg_tx_revenue-chart_2"/>
          <p:cNvSpPr txBox="1"/>
          <p:nvPr/>
        </p:nvSpPr>
        <p:spPr>
          <a:xfrm>
            <a:off x="7086600" y="4095750"/>
            <a:ext cx="156210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2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고객 절감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3" name="mg_grid_revenue-chart_0"/>
          <p:cNvSpPr/>
          <p:nvPr/>
        </p:nvSpPr>
        <p:spPr>
          <a:xfrm>
            <a:off x="1123950" y="5791200"/>
            <a:ext cx="10210800" cy="7620"/>
          </a:xfrm>
          <a:prstGeom prst="rect">
            <a:avLst/>
          </a:prstGeom>
          <a:solidFill>
            <a:srgbClr val="E5E7EB">
              <a:alpha val="45000"/>
            </a:srgbClr>
          </a:solidFill>
          <a:ln w="0" cap="flat">
            <a:noFill/>
          </a:ln>
        </p:spPr>
      </p:sp>
      <p:sp>
        <p:nvSpPr>
          <p:cNvPr id="44" name="mg_ytick_revenue-chart_0"/>
          <p:cNvSpPr txBox="1"/>
          <p:nvPr/>
        </p:nvSpPr>
        <p:spPr>
          <a:xfrm>
            <a:off x="647700" y="5715000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5" name="mg_grid_revenue-chart_100"/>
          <p:cNvSpPr/>
          <p:nvPr/>
        </p:nvSpPr>
        <p:spPr>
          <a:xfrm>
            <a:off x="1123950" y="5455444"/>
            <a:ext cx="10210800" cy="7620"/>
          </a:xfrm>
          <a:prstGeom prst="rect">
            <a:avLst/>
          </a:prstGeom>
          <a:solidFill>
            <a:srgbClr val="E5E7EB">
              <a:alpha val="45000"/>
            </a:srgbClr>
          </a:solidFill>
          <a:ln w="0" cap="flat">
            <a:noFill/>
          </a:ln>
        </p:spPr>
      </p:sp>
      <p:sp>
        <p:nvSpPr>
          <p:cNvPr id="46" name="mg_ytick_revenue-chart_100"/>
          <p:cNvSpPr txBox="1"/>
          <p:nvPr/>
        </p:nvSpPr>
        <p:spPr>
          <a:xfrm>
            <a:off x="647700" y="5379244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100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7" name="mg_grid_revenue-chart_200"/>
          <p:cNvSpPr/>
          <p:nvPr/>
        </p:nvSpPr>
        <p:spPr>
          <a:xfrm>
            <a:off x="1123950" y="5119688"/>
            <a:ext cx="10210800" cy="7620"/>
          </a:xfrm>
          <a:prstGeom prst="rect">
            <a:avLst/>
          </a:prstGeom>
          <a:solidFill>
            <a:srgbClr val="E5E7EB">
              <a:alpha val="45000"/>
            </a:srgbClr>
          </a:solidFill>
          <a:ln w="0" cap="flat">
            <a:noFill/>
          </a:ln>
        </p:spPr>
      </p:sp>
      <p:sp>
        <p:nvSpPr>
          <p:cNvPr id="48" name="mg_ytick_revenue-chart_200"/>
          <p:cNvSpPr txBox="1"/>
          <p:nvPr/>
        </p:nvSpPr>
        <p:spPr>
          <a:xfrm>
            <a:off x="647700" y="5043488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200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9" name="mg_grid_revenue-chart_300"/>
          <p:cNvSpPr/>
          <p:nvPr/>
        </p:nvSpPr>
        <p:spPr>
          <a:xfrm>
            <a:off x="1123950" y="4783931"/>
            <a:ext cx="10210800" cy="7620"/>
          </a:xfrm>
          <a:prstGeom prst="rect">
            <a:avLst/>
          </a:prstGeom>
          <a:solidFill>
            <a:srgbClr val="E5E7EB">
              <a:alpha val="45000"/>
            </a:srgbClr>
          </a:solidFill>
          <a:ln w="0" cap="flat">
            <a:noFill/>
          </a:ln>
        </p:spPr>
      </p:sp>
      <p:sp>
        <p:nvSpPr>
          <p:cNvPr id="50" name="mg_ytick_revenue-chart_300"/>
          <p:cNvSpPr txBox="1"/>
          <p:nvPr/>
        </p:nvSpPr>
        <p:spPr>
          <a:xfrm>
            <a:off x="647700" y="4707731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300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51" name="mg_grid_revenue-chart_400"/>
          <p:cNvSpPr/>
          <p:nvPr/>
        </p:nvSpPr>
        <p:spPr>
          <a:xfrm>
            <a:off x="1123950" y="4448175"/>
            <a:ext cx="10210800" cy="7620"/>
          </a:xfrm>
          <a:prstGeom prst="rect">
            <a:avLst/>
          </a:prstGeom>
          <a:solidFill>
            <a:srgbClr val="E5E7EB">
              <a:alpha val="45000"/>
            </a:srgbClr>
          </a:solidFill>
          <a:ln w="0" cap="flat">
            <a:noFill/>
          </a:ln>
        </p:spPr>
      </p:sp>
      <p:sp>
        <p:nvSpPr>
          <p:cNvPr id="52" name="mg_ytick_revenue-chart_400"/>
          <p:cNvSpPr txBox="1"/>
          <p:nvPr/>
        </p:nvSpPr>
        <p:spPr>
          <a:xfrm>
            <a:off x="647700" y="4371975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400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53" name="mg_axis_revenue-chart"/>
          <p:cNvSpPr/>
          <p:nvPr/>
        </p:nvSpPr>
        <p:spPr>
          <a:xfrm>
            <a:off x="1123950" y="5791200"/>
            <a:ext cx="10210800" cy="11430"/>
          </a:xfrm>
          <a:prstGeom prst="rect">
            <a:avLst/>
          </a:prstGeom>
          <a:solidFill>
            <a:srgbClr val="E5E7EB"/>
          </a:solidFill>
          <a:ln w="0" cap="flat">
            <a:noFill/>
          </a:ln>
        </p:spPr>
      </p:sp>
      <p:sp>
        <p:nvSpPr>
          <p:cNvPr id="54" name="mg_xcat_revenue-chart_0"/>
          <p:cNvSpPr txBox="1"/>
          <p:nvPr/>
        </p:nvSpPr>
        <p:spPr>
          <a:xfrm>
            <a:off x="1123950" y="5838825"/>
            <a:ext cx="340360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3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직접구매형</a:t>
            </a:r>
            <a:endParaRPr lang="ko-KR" sz="13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55" name="mg_barseg_revenue-chart_0_0_0"/>
          <p:cNvSpPr/>
          <p:nvPr/>
        </p:nvSpPr>
        <p:spPr>
          <a:xfrm>
            <a:off x="2230438" y="5679281"/>
            <a:ext cx="552450" cy="115729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56" name="mg_barseg_revenue-chart_0_0_1"/>
          <p:cNvSpPr/>
          <p:nvPr/>
        </p:nvSpPr>
        <p:spPr>
          <a:xfrm>
            <a:off x="2230438" y="5567362"/>
            <a:ext cx="552450" cy="115729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57" name="mg_barseg_revenue-chart_0_0_2"/>
          <p:cNvSpPr/>
          <p:nvPr/>
        </p:nvSpPr>
        <p:spPr>
          <a:xfrm>
            <a:off x="2230438" y="5455444"/>
            <a:ext cx="552450" cy="115729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58" name="mg_barseg_revenue-chart_0_0_3"/>
          <p:cNvSpPr/>
          <p:nvPr/>
        </p:nvSpPr>
        <p:spPr>
          <a:xfrm>
            <a:off x="2230438" y="5343525"/>
            <a:ext cx="552450" cy="115729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59" name="mg_barseg_revenue-chart_0_0_4"/>
          <p:cNvSpPr/>
          <p:nvPr/>
        </p:nvSpPr>
        <p:spPr>
          <a:xfrm>
            <a:off x="2230438" y="5231606"/>
            <a:ext cx="552450" cy="115729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60" name="mg_barseg_revenue-chart_0_0_5"/>
          <p:cNvSpPr/>
          <p:nvPr/>
        </p:nvSpPr>
        <p:spPr>
          <a:xfrm>
            <a:off x="2230438" y="5119688"/>
            <a:ext cx="552450" cy="115729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61" name="mg_barseg_revenue-chart_0_0_6"/>
          <p:cNvSpPr/>
          <p:nvPr/>
        </p:nvSpPr>
        <p:spPr>
          <a:xfrm>
            <a:off x="2230438" y="5007769"/>
            <a:ext cx="552450" cy="115729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62" name="mg_barseg_revenue-chart_0_0_7"/>
          <p:cNvSpPr/>
          <p:nvPr/>
        </p:nvSpPr>
        <p:spPr>
          <a:xfrm>
            <a:off x="2230438" y="4895850"/>
            <a:ext cx="552450" cy="115729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63" name="mg_barseg_revenue-chart_0_0_8"/>
          <p:cNvSpPr/>
          <p:nvPr/>
        </p:nvSpPr>
        <p:spPr>
          <a:xfrm>
            <a:off x="2230438" y="4783931"/>
            <a:ext cx="552450" cy="115729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64" name="mg_barseg_revenue-chart_0_1_0"/>
          <p:cNvSpPr/>
          <p:nvPr/>
        </p:nvSpPr>
        <p:spPr>
          <a:xfrm>
            <a:off x="2868612" y="5679281"/>
            <a:ext cx="552450" cy="115729"/>
          </a:xfrm>
          <a:prstGeom prst="rect">
            <a:avLst/>
          </a:prstGeom>
          <a:solidFill>
            <a:srgbClr val="5B21B6"/>
          </a:solidFill>
          <a:ln w="0" cap="flat">
            <a:noFill/>
          </a:ln>
        </p:spPr>
      </p:sp>
      <p:sp>
        <p:nvSpPr>
          <p:cNvPr id="65" name="mg_barseg_revenue-chart_0_1_1"/>
          <p:cNvSpPr/>
          <p:nvPr/>
        </p:nvSpPr>
        <p:spPr>
          <a:xfrm>
            <a:off x="2868612" y="5567362"/>
            <a:ext cx="552450" cy="115729"/>
          </a:xfrm>
          <a:prstGeom prst="rect">
            <a:avLst/>
          </a:prstGeom>
          <a:solidFill>
            <a:srgbClr val="5B21B6"/>
          </a:solidFill>
          <a:ln w="0" cap="flat">
            <a:noFill/>
          </a:ln>
        </p:spPr>
      </p:sp>
      <p:sp>
        <p:nvSpPr>
          <p:cNvPr id="66" name="mg_barseg_revenue-chart_0_1_2"/>
          <p:cNvSpPr/>
          <p:nvPr/>
        </p:nvSpPr>
        <p:spPr>
          <a:xfrm>
            <a:off x="2868612" y="5455444"/>
            <a:ext cx="552450" cy="115729"/>
          </a:xfrm>
          <a:prstGeom prst="rect">
            <a:avLst/>
          </a:prstGeom>
          <a:solidFill>
            <a:srgbClr val="5B21B6"/>
          </a:solidFill>
          <a:ln w="0" cap="flat">
            <a:noFill/>
          </a:ln>
        </p:spPr>
      </p:sp>
      <p:sp>
        <p:nvSpPr>
          <p:cNvPr id="67" name="mg_barseg_revenue-chart_0_1_3"/>
          <p:cNvSpPr/>
          <p:nvPr/>
        </p:nvSpPr>
        <p:spPr>
          <a:xfrm>
            <a:off x="2868612" y="5343525"/>
            <a:ext cx="552450" cy="115729"/>
          </a:xfrm>
          <a:prstGeom prst="rect">
            <a:avLst/>
          </a:prstGeom>
          <a:solidFill>
            <a:srgbClr val="5B21B6"/>
          </a:solidFill>
          <a:ln w="0" cap="flat">
            <a:noFill/>
          </a:ln>
        </p:spPr>
      </p:sp>
      <p:sp>
        <p:nvSpPr>
          <p:cNvPr id="68" name="mg_barseg_revenue-chart_0_1_4"/>
          <p:cNvSpPr/>
          <p:nvPr/>
        </p:nvSpPr>
        <p:spPr>
          <a:xfrm>
            <a:off x="2868612" y="5231606"/>
            <a:ext cx="552450" cy="115729"/>
          </a:xfrm>
          <a:prstGeom prst="rect">
            <a:avLst/>
          </a:prstGeom>
          <a:solidFill>
            <a:srgbClr val="5B21B6"/>
          </a:solidFill>
          <a:ln w="0" cap="flat">
            <a:noFill/>
          </a:ln>
        </p:spPr>
      </p:sp>
      <p:sp>
        <p:nvSpPr>
          <p:cNvPr id="69" name="mg_barseg_revenue-chart_0_1_5"/>
          <p:cNvSpPr/>
          <p:nvPr/>
        </p:nvSpPr>
        <p:spPr>
          <a:xfrm>
            <a:off x="2868612" y="5119688"/>
            <a:ext cx="552450" cy="115729"/>
          </a:xfrm>
          <a:prstGeom prst="rect">
            <a:avLst/>
          </a:prstGeom>
          <a:solidFill>
            <a:srgbClr val="5B21B6"/>
          </a:solidFill>
          <a:ln w="0" cap="flat">
            <a:noFill/>
          </a:ln>
        </p:spPr>
      </p:sp>
      <p:sp>
        <p:nvSpPr>
          <p:cNvPr id="70" name="mg_barseg_revenue-chart_0_1_6"/>
          <p:cNvSpPr/>
          <p:nvPr/>
        </p:nvSpPr>
        <p:spPr>
          <a:xfrm>
            <a:off x="2868612" y="5007769"/>
            <a:ext cx="552450" cy="115729"/>
          </a:xfrm>
          <a:prstGeom prst="rect">
            <a:avLst/>
          </a:prstGeom>
          <a:solidFill>
            <a:srgbClr val="5B21B6"/>
          </a:solidFill>
          <a:ln w="0" cap="flat">
            <a:noFill/>
          </a:ln>
        </p:spPr>
      </p:sp>
      <p:sp>
        <p:nvSpPr>
          <p:cNvPr id="71" name="mg_barseg_revenue-chart_0_1_7"/>
          <p:cNvSpPr/>
          <p:nvPr/>
        </p:nvSpPr>
        <p:spPr>
          <a:xfrm>
            <a:off x="2868612" y="4895850"/>
            <a:ext cx="552450" cy="115729"/>
          </a:xfrm>
          <a:prstGeom prst="rect">
            <a:avLst/>
          </a:prstGeom>
          <a:solidFill>
            <a:srgbClr val="5B21B6"/>
          </a:solidFill>
          <a:ln w="0" cap="flat">
            <a:noFill/>
          </a:ln>
        </p:spPr>
      </p:sp>
      <p:sp>
        <p:nvSpPr>
          <p:cNvPr id="72" name="mg_barseg_revenue-chart_0_1_8"/>
          <p:cNvSpPr/>
          <p:nvPr/>
        </p:nvSpPr>
        <p:spPr>
          <a:xfrm>
            <a:off x="2868612" y="4783931"/>
            <a:ext cx="552450" cy="115729"/>
          </a:xfrm>
          <a:prstGeom prst="rect">
            <a:avLst/>
          </a:prstGeom>
          <a:solidFill>
            <a:srgbClr val="5B21B6"/>
          </a:solidFill>
          <a:ln w="0" cap="flat">
            <a:noFill/>
          </a:ln>
        </p:spPr>
      </p:sp>
      <p:sp>
        <p:nvSpPr>
          <p:cNvPr id="73" name="mg_xcat_revenue-chart_1"/>
          <p:cNvSpPr txBox="1"/>
          <p:nvPr/>
        </p:nvSpPr>
        <p:spPr>
          <a:xfrm>
            <a:off x="4527550" y="5838825"/>
            <a:ext cx="340360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3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구독형</a:t>
            </a:r>
            <a:endParaRPr lang="ko-KR" sz="13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74" name="mg_barseg_revenue-chart_1_0_0"/>
          <p:cNvSpPr/>
          <p:nvPr/>
        </p:nvSpPr>
        <p:spPr>
          <a:xfrm>
            <a:off x="5634038" y="5749230"/>
            <a:ext cx="552450" cy="45780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75" name="mg_barseg_revenue-chart_1_0_1"/>
          <p:cNvSpPr/>
          <p:nvPr/>
        </p:nvSpPr>
        <p:spPr>
          <a:xfrm>
            <a:off x="5634038" y="5707261"/>
            <a:ext cx="552450" cy="45780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76" name="mg_barseg_revenue-chart_1_0_2"/>
          <p:cNvSpPr/>
          <p:nvPr/>
        </p:nvSpPr>
        <p:spPr>
          <a:xfrm>
            <a:off x="5634038" y="5665291"/>
            <a:ext cx="552450" cy="45780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77" name="mg_barseg_revenue-chart_1_0_3"/>
          <p:cNvSpPr/>
          <p:nvPr/>
        </p:nvSpPr>
        <p:spPr>
          <a:xfrm>
            <a:off x="5634038" y="5623322"/>
            <a:ext cx="552450" cy="45780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78" name="mg_barseg_revenue-chart_1_1_0"/>
          <p:cNvSpPr/>
          <p:nvPr/>
        </p:nvSpPr>
        <p:spPr>
          <a:xfrm>
            <a:off x="6272212" y="5749230"/>
            <a:ext cx="552450" cy="45780"/>
          </a:xfrm>
          <a:prstGeom prst="rect">
            <a:avLst/>
          </a:prstGeom>
          <a:solidFill>
            <a:srgbClr val="5B21B6"/>
          </a:solidFill>
          <a:ln w="0" cap="flat">
            <a:noFill/>
          </a:ln>
        </p:spPr>
      </p:sp>
      <p:sp>
        <p:nvSpPr>
          <p:cNvPr id="79" name="mg_barseg_revenue-chart_1_1_1"/>
          <p:cNvSpPr/>
          <p:nvPr/>
        </p:nvSpPr>
        <p:spPr>
          <a:xfrm>
            <a:off x="6272212" y="5707261"/>
            <a:ext cx="552450" cy="45780"/>
          </a:xfrm>
          <a:prstGeom prst="rect">
            <a:avLst/>
          </a:prstGeom>
          <a:solidFill>
            <a:srgbClr val="5B21B6"/>
          </a:solidFill>
          <a:ln w="0" cap="flat">
            <a:noFill/>
          </a:ln>
        </p:spPr>
      </p:sp>
      <p:sp>
        <p:nvSpPr>
          <p:cNvPr id="80" name="mg_barseg_revenue-chart_1_1_2"/>
          <p:cNvSpPr/>
          <p:nvPr/>
        </p:nvSpPr>
        <p:spPr>
          <a:xfrm>
            <a:off x="6272212" y="5665291"/>
            <a:ext cx="552450" cy="45780"/>
          </a:xfrm>
          <a:prstGeom prst="rect">
            <a:avLst/>
          </a:prstGeom>
          <a:solidFill>
            <a:srgbClr val="5B21B6"/>
          </a:solidFill>
          <a:ln w="0" cap="flat">
            <a:noFill/>
          </a:ln>
        </p:spPr>
      </p:sp>
      <p:sp>
        <p:nvSpPr>
          <p:cNvPr id="81" name="mg_barseg_revenue-chart_1_1_3"/>
          <p:cNvSpPr/>
          <p:nvPr/>
        </p:nvSpPr>
        <p:spPr>
          <a:xfrm>
            <a:off x="6272212" y="5623322"/>
            <a:ext cx="552450" cy="45780"/>
          </a:xfrm>
          <a:prstGeom prst="rect">
            <a:avLst/>
          </a:prstGeom>
          <a:solidFill>
            <a:srgbClr val="5B21B6"/>
          </a:solidFill>
          <a:ln w="0" cap="flat">
            <a:noFill/>
          </a:ln>
        </p:spPr>
      </p:sp>
      <p:sp>
        <p:nvSpPr>
          <p:cNvPr id="82" name="mg_xcat_revenue-chart_2"/>
          <p:cNvSpPr txBox="1"/>
          <p:nvPr/>
        </p:nvSpPr>
        <p:spPr>
          <a:xfrm>
            <a:off x="7931150" y="5838825"/>
            <a:ext cx="340360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3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성과연동형</a:t>
            </a:r>
            <a:endParaRPr lang="ko-KR" sz="13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83" name="mg_barseg_revenue-chart_2_0_0"/>
          <p:cNvSpPr/>
          <p:nvPr/>
        </p:nvSpPr>
        <p:spPr>
          <a:xfrm>
            <a:off x="9037638" y="5783645"/>
            <a:ext cx="552450" cy="11365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84" name="mg_barseg_revenue-chart_2_0_1"/>
          <p:cNvSpPr/>
          <p:nvPr/>
        </p:nvSpPr>
        <p:spPr>
          <a:xfrm>
            <a:off x="9037638" y="5776091"/>
            <a:ext cx="552450" cy="11365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85" name="mg_barseg_revenue-chart_2_0_2"/>
          <p:cNvSpPr/>
          <p:nvPr/>
        </p:nvSpPr>
        <p:spPr>
          <a:xfrm>
            <a:off x="9037638" y="5768536"/>
            <a:ext cx="552450" cy="11365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86" name="mg_barseg_revenue-chart_2_0_3"/>
          <p:cNvSpPr/>
          <p:nvPr/>
        </p:nvSpPr>
        <p:spPr>
          <a:xfrm>
            <a:off x="9037638" y="5760982"/>
            <a:ext cx="552450" cy="11365"/>
          </a:xfrm>
          <a:prstGeom prst="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87" name="mg_barseg_revenue-chart_2_1_0"/>
          <p:cNvSpPr/>
          <p:nvPr/>
        </p:nvSpPr>
        <p:spPr>
          <a:xfrm>
            <a:off x="9675812" y="5676371"/>
            <a:ext cx="552450" cy="118639"/>
          </a:xfrm>
          <a:prstGeom prst="rect">
            <a:avLst/>
          </a:prstGeom>
          <a:solidFill>
            <a:srgbClr val="5B21B6"/>
          </a:solidFill>
          <a:ln w="0" cap="flat">
            <a:noFill/>
          </a:ln>
        </p:spPr>
      </p:sp>
      <p:sp>
        <p:nvSpPr>
          <p:cNvPr id="88" name="mg_barseg_revenue-chart_2_1_1"/>
          <p:cNvSpPr/>
          <p:nvPr/>
        </p:nvSpPr>
        <p:spPr>
          <a:xfrm>
            <a:off x="9675812" y="5561543"/>
            <a:ext cx="552450" cy="118639"/>
          </a:xfrm>
          <a:prstGeom prst="rect">
            <a:avLst/>
          </a:prstGeom>
          <a:solidFill>
            <a:srgbClr val="5B21B6"/>
          </a:solidFill>
          <a:ln w="0" cap="flat">
            <a:noFill/>
          </a:ln>
        </p:spPr>
      </p:sp>
      <p:sp>
        <p:nvSpPr>
          <p:cNvPr id="89" name="mg_barseg_revenue-chart_2_1_2"/>
          <p:cNvSpPr/>
          <p:nvPr/>
        </p:nvSpPr>
        <p:spPr>
          <a:xfrm>
            <a:off x="9675812" y="5446714"/>
            <a:ext cx="552450" cy="118639"/>
          </a:xfrm>
          <a:prstGeom prst="rect">
            <a:avLst/>
          </a:prstGeom>
          <a:solidFill>
            <a:srgbClr val="5B21B6"/>
          </a:solidFill>
          <a:ln w="0" cap="flat">
            <a:noFill/>
          </a:ln>
        </p:spPr>
      </p:sp>
      <p:sp>
        <p:nvSpPr>
          <p:cNvPr id="90" name="mg_barseg_revenue-chart_2_1_3"/>
          <p:cNvSpPr/>
          <p:nvPr/>
        </p:nvSpPr>
        <p:spPr>
          <a:xfrm>
            <a:off x="9675812" y="5331885"/>
            <a:ext cx="552450" cy="118639"/>
          </a:xfrm>
          <a:prstGeom prst="rect">
            <a:avLst/>
          </a:prstGeom>
          <a:solidFill>
            <a:srgbClr val="5B21B6"/>
          </a:solidFill>
          <a:ln w="0" cap="flat">
            <a:noFill/>
          </a:ln>
        </p:spPr>
      </p:sp>
      <p:sp>
        <p:nvSpPr>
          <p:cNvPr id="91" name="mg_barseg_revenue-chart_2_1_4"/>
          <p:cNvSpPr/>
          <p:nvPr/>
        </p:nvSpPr>
        <p:spPr>
          <a:xfrm>
            <a:off x="9675812" y="5217057"/>
            <a:ext cx="552450" cy="118639"/>
          </a:xfrm>
          <a:prstGeom prst="rect">
            <a:avLst/>
          </a:prstGeom>
          <a:solidFill>
            <a:srgbClr val="5B21B6"/>
          </a:solidFill>
          <a:ln w="0" cap="flat">
            <a:noFill/>
          </a:ln>
        </p:spPr>
      </p:sp>
      <p:sp>
        <p:nvSpPr>
          <p:cNvPr id="92" name="mg_line_revenue-chart_0_0"/>
          <p:cNvSpPr/>
          <p:nvPr/>
        </p:nvSpPr>
        <p:spPr>
          <a:xfrm>
            <a:off x="2825750" y="5791200"/>
            <a:ext cx="3403600" cy="0"/>
          </a:xfrm>
          <a:prstGeom prst="line">
            <a:avLst/>
          </a:prstGeom>
          <a:ln w="27940" cap="flat">
            <a:solidFill>
              <a:srgbClr val="FBBF24"/>
            </a:solidFill>
          </a:ln>
        </p:spPr>
      </p:sp>
      <p:sp>
        <p:nvSpPr>
          <p:cNvPr id="93" name="mg_line_revenue-chart_0_1"/>
          <p:cNvSpPr/>
          <p:nvPr/>
        </p:nvSpPr>
        <p:spPr>
          <a:xfrm flipV="1">
            <a:off x="6229350" y="5247275"/>
            <a:ext cx="3403600" cy="543925"/>
          </a:xfrm>
          <a:prstGeom prst="line">
            <a:avLst/>
          </a:prstGeom>
          <a:ln w="27940" cap="flat">
            <a:solidFill>
              <a:srgbClr val="FBBF24"/>
            </a:solidFill>
          </a:ln>
        </p:spPr>
      </p:sp>
      <p:sp>
        <p:nvSpPr>
          <p:cNvPr id="94" name="mg_linedot_revenue-chart_0_0"/>
          <p:cNvSpPr/>
          <p:nvPr/>
        </p:nvSpPr>
        <p:spPr>
          <a:xfrm>
            <a:off x="2787650" y="5753100"/>
            <a:ext cx="76200" cy="76200"/>
          </a:xfrm>
          <a:prstGeom prst="ellipse">
            <a:avLst/>
          </a:prstGeom>
          <a:solidFill>
            <a:srgbClr val="FBBF24"/>
          </a:solidFill>
          <a:ln w="7620" cap="flat">
            <a:solidFill>
              <a:srgbClr val="FFFFFF"/>
            </a:solidFill>
          </a:ln>
        </p:spPr>
      </p:sp>
      <p:sp>
        <p:nvSpPr>
          <p:cNvPr id="95" name="mg_linedot_revenue-chart_0_1"/>
          <p:cNvSpPr/>
          <p:nvPr/>
        </p:nvSpPr>
        <p:spPr>
          <a:xfrm>
            <a:off x="6191250" y="5753100"/>
            <a:ext cx="76200" cy="76200"/>
          </a:xfrm>
          <a:prstGeom prst="ellipse">
            <a:avLst/>
          </a:prstGeom>
          <a:solidFill>
            <a:srgbClr val="FBBF24"/>
          </a:solidFill>
          <a:ln w="7620" cap="flat">
            <a:solidFill>
              <a:srgbClr val="FFFFFF"/>
            </a:solidFill>
          </a:ln>
        </p:spPr>
      </p:sp>
      <p:sp>
        <p:nvSpPr>
          <p:cNvPr id="96" name="mg_linedot_revenue-chart_0_2"/>
          <p:cNvSpPr/>
          <p:nvPr/>
        </p:nvSpPr>
        <p:spPr>
          <a:xfrm>
            <a:off x="9594850" y="5209175"/>
            <a:ext cx="76200" cy="76200"/>
          </a:xfrm>
          <a:prstGeom prst="ellipse">
            <a:avLst/>
          </a:prstGeom>
          <a:solidFill>
            <a:srgbClr val="FBBF24"/>
          </a:solidFill>
          <a:ln w="7620" cap="flat">
            <a:solidFill>
              <a:srgbClr val="FFFFFF"/>
            </a:solidFill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clickEffect" fill="hold">
                <p:childTnLst>
                  <p:par>
                    <p:cTn id="3" nodeType="clickEffect" fill="hold" presetClass="entr" presetID="10" presetSubtype="0">
                      <p:childTnLst>
                        <p:animEffect filter="wipe(up)" transition="in">
                          <p:cBhvr additive="repl">
                            <p:cTn id="4" dur="170" nodeType="clickEffect" fill="hold" presetClass="entr" presetID="10" presetSubtype="0">
                              <p:stCondLst>
                                <p:cond delay="120"/>
                              </p:stCondLst>
                            </p:cTn>
                            <p:tgtEl>
                              <p:spTgt spid="55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5" dur="170" nodeType="clickEffect" fill="hold" presetClass="entr" presetID="10" presetSubtype="0">
                              <p:stCondLst>
                                <p:cond delay="144"/>
                              </p:stCondLst>
                            </p:cTn>
                            <p:tgtEl>
                              <p:spTgt spid="56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6" dur="170" nodeType="clickEffect" fill="hold" presetClass="entr" presetID="10" presetSubtype="0">
                              <p:stCondLst>
                                <p:cond delay="168"/>
                              </p:stCondLst>
                            </p:cTn>
                            <p:tgtEl>
                              <p:spTgt spid="5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7" dur="170" nodeType="clickEffect" fill="hold" presetClass="entr" presetID="10" presetSubtype="0">
                              <p:stCondLst>
                                <p:cond delay="192"/>
                              </p:stCondLst>
                            </p:cTn>
                            <p:tgtEl>
                              <p:spTgt spid="58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8" dur="170" nodeType="clickEffect" fill="hold" presetClass="entr" presetID="10" presetSubtype="0">
                              <p:stCondLst>
                                <p:cond delay="216"/>
                              </p:stCondLst>
                            </p:cTn>
                            <p:tgtEl>
                              <p:spTgt spid="59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9" dur="170" nodeType="clickEffect" fill="hold" presetClass="entr" presetID="10" presetSubtype="0">
                              <p:stCondLst>
                                <p:cond delay="240"/>
                              </p:stCondLst>
                            </p:cTn>
                            <p:tgtEl>
                              <p:spTgt spid="60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0" dur="170" nodeType="clickEffect" fill="hold" presetClass="entr" presetID="10" presetSubtype="0">
                              <p:stCondLst>
                                <p:cond delay="255"/>
                              </p:stCondLst>
                            </p:cTn>
                            <p:tgtEl>
                              <p:spTgt spid="64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1" dur="170" nodeType="clickEffect" fill="hold" presetClass="entr" presetID="10" presetSubtype="0">
                              <p:stCondLst>
                                <p:cond delay="264"/>
                              </p:stCondLst>
                            </p:cTn>
                            <p:tgtEl>
                              <p:spTgt spid="61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2" dur="170" nodeType="clickEffect" fill="hold" presetClass="entr" presetID="10" presetSubtype="0">
                              <p:stCondLst>
                                <p:cond delay="279"/>
                              </p:stCondLst>
                            </p:cTn>
                            <p:tgtEl>
                              <p:spTgt spid="65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3" dur="170" nodeType="clickEffect" fill="hold" presetClass="entr" presetID="10" presetSubtype="0">
                              <p:stCondLst>
                                <p:cond delay="288"/>
                              </p:stCondLst>
                            </p:cTn>
                            <p:tgtEl>
                              <p:spTgt spid="62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4" dur="170" nodeType="clickEffect" fill="hold" presetClass="entr" presetID="10" presetSubtype="0">
                              <p:stCondLst>
                                <p:cond delay="303"/>
                              </p:stCondLst>
                            </p:cTn>
                            <p:tgtEl>
                              <p:spTgt spid="66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5" dur="170" nodeType="clickEffect" fill="hold" presetClass="entr" presetID="10" presetSubtype="0">
                              <p:stCondLst>
                                <p:cond delay="312"/>
                              </p:stCondLst>
                            </p:cTn>
                            <p:tgtEl>
                              <p:spTgt spid="63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6" dur="170" nodeType="clickEffect" fill="hold" presetClass="entr" presetID="10" presetSubtype="0">
                              <p:stCondLst>
                                <p:cond delay="327"/>
                              </p:stCondLst>
                            </p:cTn>
                            <p:tgtEl>
                              <p:spTgt spid="6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7" dur="170" nodeType="clickEffect" fill="hold" presetClass="entr" presetID="10" presetSubtype="0">
                              <p:stCondLst>
                                <p:cond delay="351"/>
                              </p:stCondLst>
                            </p:cTn>
                            <p:tgtEl>
                              <p:spTgt spid="68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8" dur="170" nodeType="clickEffect" fill="hold" presetClass="entr" presetID="10" presetSubtype="0">
                              <p:stCondLst>
                                <p:cond delay="375"/>
                              </p:stCondLst>
                            </p:cTn>
                            <p:tgtEl>
                              <p:spTgt spid="69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9" dur="170" nodeType="clickEffect" fill="hold" presetClass="entr" presetID="10" presetSubtype="0">
                              <p:stCondLst>
                                <p:cond delay="390"/>
                              </p:stCondLst>
                            </p:cTn>
                            <p:tgtEl>
                              <p:spTgt spid="74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0" dur="170" nodeType="clickEffect" fill="hold" presetClass="entr" presetID="10" presetSubtype="0">
                              <p:stCondLst>
                                <p:cond delay="399"/>
                              </p:stCondLst>
                            </p:cTn>
                            <p:tgtEl>
                              <p:spTgt spid="70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1" dur="170" nodeType="clickEffect" fill="hold" presetClass="entr" presetID="10" presetSubtype="0">
                              <p:stCondLst>
                                <p:cond delay="414"/>
                              </p:stCondLst>
                            </p:cTn>
                            <p:tgtEl>
                              <p:spTgt spid="75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2" dur="170" nodeType="clickEffect" fill="hold" presetClass="entr" presetID="10" presetSubtype="0">
                              <p:stCondLst>
                                <p:cond delay="423"/>
                              </p:stCondLst>
                            </p:cTn>
                            <p:tgtEl>
                              <p:spTgt spid="71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3" dur="170" nodeType="clickEffect" fill="hold" presetClass="entr" presetID="10" presetSubtype="0">
                              <p:stCondLst>
                                <p:cond delay="438"/>
                              </p:stCondLst>
                            </p:cTn>
                            <p:tgtEl>
                              <p:spTgt spid="76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4" dur="170" nodeType="clickEffect" fill="hold" presetClass="entr" presetID="10" presetSubtype="0">
                              <p:stCondLst>
                                <p:cond delay="447"/>
                              </p:stCondLst>
                            </p:cTn>
                            <p:tgtEl>
                              <p:spTgt spid="72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5" dur="170" nodeType="clickEffect" fill="hold" presetClass="entr" presetID="10" presetSubtype="0">
                              <p:stCondLst>
                                <p:cond delay="462"/>
                              </p:stCondLst>
                            </p:cTn>
                            <p:tgtEl>
                              <p:spTgt spid="7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6" dur="170" nodeType="clickEffect" fill="hold" presetClass="entr" presetID="10" presetSubtype="0">
                              <p:stCondLst>
                                <p:cond delay="525"/>
                              </p:stCondLst>
                            </p:cTn>
                            <p:tgtEl>
                              <p:spTgt spid="78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7" dur="170" nodeType="clickEffect" fill="hold" presetClass="entr" presetID="10" presetSubtype="0">
                              <p:stCondLst>
                                <p:cond delay="549"/>
                              </p:stCondLst>
                            </p:cTn>
                            <p:tgtEl>
                              <p:spTgt spid="79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8" dur="170" nodeType="clickEffect" fill="hold" presetClass="entr" presetID="10" presetSubtype="0">
                              <p:stCondLst>
                                <p:cond delay="573"/>
                              </p:stCondLst>
                            </p:cTn>
                            <p:tgtEl>
                              <p:spTgt spid="80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9" dur="170" nodeType="clickEffect" fill="hold" presetClass="entr" presetID="10" presetSubtype="0">
                              <p:stCondLst>
                                <p:cond delay="597"/>
                              </p:stCondLst>
                            </p:cTn>
                            <p:tgtEl>
                              <p:spTgt spid="81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0" dur="170" nodeType="clickEffect" fill="hold" presetClass="entr" presetID="10" presetSubtype="0">
                              <p:stCondLst>
                                <p:cond delay="660"/>
                              </p:stCondLst>
                            </p:cTn>
                            <p:tgtEl>
                              <p:spTgt spid="83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1" dur="170" nodeType="clickEffect" fill="hold" presetClass="entr" presetID="10" presetSubtype="0">
                              <p:stCondLst>
                                <p:cond delay="684"/>
                              </p:stCondLst>
                            </p:cTn>
                            <p:tgtEl>
                              <p:spTgt spid="84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2" dur="170" nodeType="clickEffect" fill="hold" presetClass="entr" presetID="10" presetSubtype="0">
                              <p:stCondLst>
                                <p:cond delay="708"/>
                              </p:stCondLst>
                            </p:cTn>
                            <p:tgtEl>
                              <p:spTgt spid="85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3" dur="170" nodeType="clickEffect" fill="hold" presetClass="entr" presetID="10" presetSubtype="0">
                              <p:stCondLst>
                                <p:cond delay="732"/>
                              </p:stCondLst>
                            </p:cTn>
                            <p:tgtEl>
                              <p:spTgt spid="86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4" dur="170" nodeType="clickEffect" fill="hold" presetClass="entr" presetID="10" presetSubtype="0">
                              <p:stCondLst>
                                <p:cond delay="795"/>
                              </p:stCondLst>
                            </p:cTn>
                            <p:tgtEl>
                              <p:spTgt spid="8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5" dur="170" nodeType="clickEffect" fill="hold" presetClass="entr" presetID="10" presetSubtype="0">
                              <p:stCondLst>
                                <p:cond delay="819"/>
                              </p:stCondLst>
                            </p:cTn>
                            <p:tgtEl>
                              <p:spTgt spid="88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6" dur="170" nodeType="clickEffect" fill="hold" presetClass="entr" presetID="10" presetSubtype="0">
                              <p:stCondLst>
                                <p:cond delay="843"/>
                              </p:stCondLst>
                            </p:cTn>
                            <p:tgtEl>
                              <p:spTgt spid="89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7" dur="170" nodeType="clickEffect" fill="hold" presetClass="entr" presetID="10" presetSubtype="0">
                              <p:stCondLst>
                                <p:cond delay="867"/>
                              </p:stCondLst>
                            </p:cTn>
                            <p:tgtEl>
                              <p:spTgt spid="90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8" dur="170" nodeType="clickEffect" fill="hold" presetClass="entr" presetID="10" presetSubtype="0">
                              <p:stCondLst>
                                <p:cond delay="891"/>
                              </p:stCondLst>
                            </p:cTn>
                            <p:tgtEl>
                              <p:spTgt spid="91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39" dur="160" nodeType="clickEffect" fill="hold" presetClass="entr" presetID="10" presetSubtype="0">
                              <p:stCondLst>
                                <p:cond delay="1050"/>
                              </p:stCondLst>
                            </p:cTn>
                            <p:tgtEl>
                              <p:spTgt spid="92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40" dur="160" nodeType="clickEffect" fill="hold" presetClass="entr" presetID="10" presetSubtype="0">
                              <p:stCondLst>
                                <p:cond delay="1105"/>
                              </p:stCondLst>
                            </p:cTn>
                            <p:tgtEl>
                              <p:spTgt spid="93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41" dur="160" nodeType="clickEffect" fill="hold" presetClass="entr" presetID="10" presetSubtype="0">
                              <p:stCondLst>
                                <p:cond delay="1160"/>
                              </p:stCondLst>
                            </p:cTn>
                            <p:tgtEl>
                              <p:spTgt spid="94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42" dur="160" nodeType="clickEffect" fill="hold" presetClass="entr" presetID="10" presetSubtype="0">
                              <p:stCondLst>
                                <p:cond delay="1215"/>
                              </p:stCondLst>
                            </p:cTn>
                            <p:tgtEl>
                              <p:spTgt spid="95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43" dur="160" nodeType="clickEffect" fill="hold" presetClass="entr" presetID="10" presetSubtype="0">
                              <p:stCondLst>
                                <p:cond delay="1270"/>
                              </p:stCondLst>
                            </p:cTn>
                            <p:tgtEl>
                              <p:spTgt spid="96"/>
                            </p:tgtEl>
                          </p:cBhvr>
                        </p:animEffect>
                      </p:childTnLst>
                    </p:cTn>
                  </p:par>
                </p:childTnLst>
                <p:prevCondLst>
                  <p:cond evt="onPrev">
                    <p:tgtEl>
                      <p:sldTgt/>
                    </p:tgtEl>
                  </p:cond>
                </p:prevCondLst>
                <p:nextCondLst>
                  <p:cond evt="onNext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gg_peak_pil_render/slides/slide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anim_chart_frame_tam-chart"/>
          <p:cNvSpPr/>
          <p:nvPr/>
        </p:nvSpPr>
        <p:spPr>
          <a:xfrm>
            <a:off x="542925" y="1447800"/>
            <a:ext cx="3486150" cy="2724150"/>
          </a:xfrm>
          <a:prstGeom prst="roundRect">
            <a:avLst/>
          </a:prstGeom>
          <a:noFill/>
          <a:ln w="14605" cap="flat">
            <a:solidFill>
              <a:srgbClr val="7C3AED">
                <a:alpha val="26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1" name="anim_pie_ring_tam-chart"/>
          <p:cNvSpPr/>
          <p:nvPr/>
        </p:nvSpPr>
        <p:spPr>
          <a:xfrm>
            <a:off x="1741170" y="2196465"/>
            <a:ext cx="1226820" cy="1226820"/>
          </a:xfrm>
          <a:prstGeom prst="ellipse">
            <a:avLst/>
          </a:prstGeom>
          <a:noFill/>
          <a:ln w="27940" cap="flat">
            <a:solidFill>
              <a:srgbClr val="FBBF24">
                <a:alpha val="3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2" name="anim_pie_dot_tam-chart_0"/>
          <p:cNvSpPr/>
          <p:nvPr/>
        </p:nvSpPr>
        <p:spPr>
          <a:xfrm>
            <a:off x="3262312" y="2384108"/>
            <a:ext cx="104775" cy="104775"/>
          </a:xfrm>
          <a:prstGeom prst="ellipse">
            <a:avLst/>
          </a:prstGeom>
          <a:solidFill>
            <a:srgbClr val="FBBF24">
              <a:alpha val="42000"/>
            </a:srgbClr>
          </a:solidFill>
          <a:ln w="7620" cap="flat">
            <a:solidFill>
              <a:srgbClr val="FFFFFF">
                <a:alpha val="33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3" name="anim_pie_dot_tam-chart_1"/>
          <p:cNvSpPr/>
          <p:nvPr/>
        </p:nvSpPr>
        <p:spPr>
          <a:xfrm>
            <a:off x="2405062" y="2010728"/>
            <a:ext cx="104775" cy="104775"/>
          </a:xfrm>
          <a:prstGeom prst="ellipse">
            <a:avLst/>
          </a:prstGeom>
          <a:solidFill>
            <a:srgbClr val="FBBF24">
              <a:alpha val="42000"/>
            </a:srgbClr>
          </a:solidFill>
          <a:ln w="7620" cap="flat">
            <a:solidFill>
              <a:srgbClr val="FFFFFF">
                <a:alpha val="33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4" name="anim_pie_dot_tam-chart_2"/>
          <p:cNvSpPr/>
          <p:nvPr/>
        </p:nvSpPr>
        <p:spPr>
          <a:xfrm>
            <a:off x="1787842" y="3237548"/>
            <a:ext cx="104775" cy="104775"/>
          </a:xfrm>
          <a:prstGeom prst="ellipse">
            <a:avLst/>
          </a:prstGeom>
          <a:solidFill>
            <a:srgbClr val="FBBF24">
              <a:alpha val="42000"/>
            </a:srgbClr>
          </a:solidFill>
          <a:ln w="7620" cap="flat">
            <a:solidFill>
              <a:srgbClr val="FFFFFF">
                <a:alpha val="33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5" name="anim_chart_frame_sam-chart"/>
          <p:cNvSpPr/>
          <p:nvPr/>
        </p:nvSpPr>
        <p:spPr>
          <a:xfrm>
            <a:off x="4352925" y="1447800"/>
            <a:ext cx="3486150" cy="2724150"/>
          </a:xfrm>
          <a:prstGeom prst="roundRect">
            <a:avLst/>
          </a:prstGeom>
          <a:noFill/>
          <a:ln w="14605" cap="flat">
            <a:solidFill>
              <a:srgbClr val="7C3AED">
                <a:alpha val="26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6" name="anim_pie_ring_sam-chart"/>
          <p:cNvSpPr/>
          <p:nvPr/>
        </p:nvSpPr>
        <p:spPr>
          <a:xfrm>
            <a:off x="5551170" y="2196465"/>
            <a:ext cx="1226820" cy="1226820"/>
          </a:xfrm>
          <a:prstGeom prst="ellipse">
            <a:avLst/>
          </a:prstGeom>
          <a:noFill/>
          <a:ln w="27940" cap="flat">
            <a:solidFill>
              <a:srgbClr val="FBBF24">
                <a:alpha val="3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7" name="anim_pie_dot_sam-chart_0"/>
          <p:cNvSpPr/>
          <p:nvPr/>
        </p:nvSpPr>
        <p:spPr>
          <a:xfrm>
            <a:off x="7072312" y="2384108"/>
            <a:ext cx="104775" cy="104775"/>
          </a:xfrm>
          <a:prstGeom prst="ellipse">
            <a:avLst/>
          </a:prstGeom>
          <a:solidFill>
            <a:srgbClr val="FBBF24">
              <a:alpha val="42000"/>
            </a:srgbClr>
          </a:solidFill>
          <a:ln w="7620" cap="flat">
            <a:solidFill>
              <a:srgbClr val="FFFFFF">
                <a:alpha val="33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8" name="anim_pie_dot_sam-chart_1"/>
          <p:cNvSpPr/>
          <p:nvPr/>
        </p:nvSpPr>
        <p:spPr>
          <a:xfrm>
            <a:off x="6215062" y="2010728"/>
            <a:ext cx="104775" cy="104775"/>
          </a:xfrm>
          <a:prstGeom prst="ellipse">
            <a:avLst/>
          </a:prstGeom>
          <a:solidFill>
            <a:srgbClr val="FBBF24">
              <a:alpha val="42000"/>
            </a:srgbClr>
          </a:solidFill>
          <a:ln w="7620" cap="flat">
            <a:solidFill>
              <a:srgbClr val="FFFFFF">
                <a:alpha val="33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9" name="anim_pie_dot_sam-chart_2"/>
          <p:cNvSpPr/>
          <p:nvPr/>
        </p:nvSpPr>
        <p:spPr>
          <a:xfrm>
            <a:off x="5597842" y="3237548"/>
            <a:ext cx="104775" cy="104775"/>
          </a:xfrm>
          <a:prstGeom prst="ellipse">
            <a:avLst/>
          </a:prstGeom>
          <a:solidFill>
            <a:srgbClr val="FBBF24">
              <a:alpha val="42000"/>
            </a:srgbClr>
          </a:solidFill>
          <a:ln w="7620" cap="flat">
            <a:solidFill>
              <a:srgbClr val="FFFFFF">
                <a:alpha val="33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0" name="anim_chart_frame_som-chart"/>
          <p:cNvSpPr/>
          <p:nvPr/>
        </p:nvSpPr>
        <p:spPr>
          <a:xfrm>
            <a:off x="8162925" y="1447800"/>
            <a:ext cx="3486150" cy="2724150"/>
          </a:xfrm>
          <a:prstGeom prst="roundRect">
            <a:avLst/>
          </a:prstGeom>
          <a:noFill/>
          <a:ln w="14605" cap="flat">
            <a:solidFill>
              <a:srgbClr val="7C3AED">
                <a:alpha val="26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1" name="anim_pie_ring_som-chart"/>
          <p:cNvSpPr/>
          <p:nvPr/>
        </p:nvSpPr>
        <p:spPr>
          <a:xfrm>
            <a:off x="9361170" y="2196465"/>
            <a:ext cx="1226820" cy="1226820"/>
          </a:xfrm>
          <a:prstGeom prst="ellipse">
            <a:avLst/>
          </a:prstGeom>
          <a:noFill/>
          <a:ln w="27940" cap="flat">
            <a:solidFill>
              <a:srgbClr val="FBBF24">
                <a:alpha val="3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2" name="anim_pie_dot_som-chart_0"/>
          <p:cNvSpPr/>
          <p:nvPr/>
        </p:nvSpPr>
        <p:spPr>
          <a:xfrm>
            <a:off x="10882312" y="2384108"/>
            <a:ext cx="104775" cy="104775"/>
          </a:xfrm>
          <a:prstGeom prst="ellipse">
            <a:avLst/>
          </a:prstGeom>
          <a:solidFill>
            <a:srgbClr val="FBBF24">
              <a:alpha val="42000"/>
            </a:srgbClr>
          </a:solidFill>
          <a:ln w="7620" cap="flat">
            <a:solidFill>
              <a:srgbClr val="FFFFFF">
                <a:alpha val="33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3" name="anim_pie_dot_som-chart_1"/>
          <p:cNvSpPr/>
          <p:nvPr/>
        </p:nvSpPr>
        <p:spPr>
          <a:xfrm>
            <a:off x="10025062" y="2010728"/>
            <a:ext cx="104775" cy="104775"/>
          </a:xfrm>
          <a:prstGeom prst="ellipse">
            <a:avLst/>
          </a:prstGeom>
          <a:solidFill>
            <a:srgbClr val="FBBF24">
              <a:alpha val="42000"/>
            </a:srgbClr>
          </a:solidFill>
          <a:ln w="7620" cap="flat">
            <a:solidFill>
              <a:srgbClr val="FFFFFF">
                <a:alpha val="33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4" name="anim_pie_dot_som-chart_2"/>
          <p:cNvSpPr/>
          <p:nvPr/>
        </p:nvSpPr>
        <p:spPr>
          <a:xfrm>
            <a:off x="9407842" y="3237548"/>
            <a:ext cx="104775" cy="104775"/>
          </a:xfrm>
          <a:prstGeom prst="ellipse">
            <a:avLst/>
          </a:prstGeom>
          <a:solidFill>
            <a:srgbClr val="FBBF24">
              <a:alpha val="42000"/>
            </a:srgbClr>
          </a:solidFill>
          <a:ln w="7620" cap="flat">
            <a:solidFill>
              <a:srgbClr val="FFFFFF">
                <a:alpha val="33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5" name="anim_chart_frame_revenue-chart"/>
          <p:cNvSpPr/>
          <p:nvPr/>
        </p:nvSpPr>
        <p:spPr>
          <a:xfrm>
            <a:off x="542925" y="4733925"/>
            <a:ext cx="11106150" cy="1771650"/>
          </a:xfrm>
          <a:prstGeom prst="roundRect">
            <a:avLst/>
          </a:prstGeom>
          <a:noFill/>
          <a:ln w="14605" cap="flat">
            <a:solidFill>
              <a:srgbClr val="FBBF24">
                <a:alpha val="26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6" name="anim_chart_baseline_revenue-chart"/>
          <p:cNvSpPr/>
          <p:nvPr/>
        </p:nvSpPr>
        <p:spPr>
          <a:xfrm>
            <a:off x="819150" y="6153150"/>
            <a:ext cx="10553700" cy="77152"/>
          </a:xfrm>
          <a:prstGeom prst="roundRect">
            <a:avLst/>
          </a:prstGeom>
          <a:solidFill>
            <a:srgbClr val="FBBF24">
              <a:alpha val="45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7" name="anim_chart_scan_revenue-chart_0"/>
          <p:cNvSpPr/>
          <p:nvPr/>
        </p:nvSpPr>
        <p:spPr>
          <a:xfrm>
            <a:off x="3333750" y="4991100"/>
            <a:ext cx="198882" cy="106680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38" name="anim_chart_scan_revenue-chart_1"/>
          <p:cNvSpPr/>
          <p:nvPr/>
        </p:nvSpPr>
        <p:spPr>
          <a:xfrm>
            <a:off x="6316980" y="4991100"/>
            <a:ext cx="198882" cy="106680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39" name="anim_chart_scan_revenue-chart_2"/>
          <p:cNvSpPr/>
          <p:nvPr/>
        </p:nvSpPr>
        <p:spPr>
          <a:xfrm>
            <a:off x="9189720" y="4991100"/>
            <a:ext cx="198882" cy="106680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40" name="anim_chart_dot_revenue-chart_0"/>
          <p:cNvSpPr/>
          <p:nvPr/>
        </p:nvSpPr>
        <p:spPr>
          <a:xfrm>
            <a:off x="3612832" y="5807392"/>
            <a:ext cx="104775" cy="104775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41" name="anim_chart_dot_revenue-chart_1"/>
          <p:cNvSpPr/>
          <p:nvPr/>
        </p:nvSpPr>
        <p:spPr>
          <a:xfrm>
            <a:off x="6927532" y="5533072"/>
            <a:ext cx="104775" cy="104775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42" name="anim_chart_dot_revenue-chart_2"/>
          <p:cNvSpPr/>
          <p:nvPr/>
        </p:nvSpPr>
        <p:spPr>
          <a:xfrm>
            <a:off x="9675495" y="5210175"/>
            <a:ext cx="133350" cy="133350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43" name="mg_cover_revenue-chart"/>
          <p:cNvSpPr/>
          <p:nvPr/>
        </p:nvSpPr>
        <p:spPr>
          <a:xfrm>
            <a:off x="571500" y="4762500"/>
            <a:ext cx="11049000" cy="17145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E5E7EB"/>
            </a:solidFill>
          </a:ln>
          <a:effectLst>
            <a:outerShdw blurRad="76200" dist="19050" dir="5400000" algn="ctr" rotWithShape="0">
              <a:srgbClr val="000000">
                <a:alpha val="18000"/>
              </a:srgbClr>
            </a:outerShdw>
          </a:effectLst>
        </p:spPr>
      </p:sp>
      <p:sp>
        <p:nvSpPr>
          <p:cNvPr id="44" name="mg_title_revenue-chart"/>
          <p:cNvSpPr txBox="1"/>
          <p:nvPr/>
        </p:nvSpPr>
        <p:spPr>
          <a:xfrm>
            <a:off x="685800" y="4857750"/>
            <a:ext cx="10820400" cy="2095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400" kern="1200" b="1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SOM 기반 연간 매출 전망 (억원)</a:t>
            </a:r>
            <a:endParaRPr lang="ko-KR" sz="14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5" name="mg_grid_revenue-chart_0"/>
          <p:cNvSpPr/>
          <p:nvPr/>
        </p:nvSpPr>
        <p:spPr>
          <a:xfrm>
            <a:off x="1123950" y="6076950"/>
            <a:ext cx="10210800" cy="7620"/>
          </a:xfrm>
          <a:prstGeom prst="rect">
            <a:avLst/>
          </a:prstGeom>
          <a:solidFill>
            <a:srgbClr val="E5E7EB">
              <a:alpha val="45000"/>
            </a:srgbClr>
          </a:solidFill>
          <a:ln w="0" cap="flat">
            <a:noFill/>
          </a:ln>
        </p:spPr>
      </p:sp>
      <p:sp>
        <p:nvSpPr>
          <p:cNvPr id="46" name="mg_ytick_revenue-chart_0"/>
          <p:cNvSpPr txBox="1"/>
          <p:nvPr/>
        </p:nvSpPr>
        <p:spPr>
          <a:xfrm>
            <a:off x="647700" y="6000750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7" name="mg_grid_revenue-chart_50"/>
          <p:cNvSpPr/>
          <p:nvPr/>
        </p:nvSpPr>
        <p:spPr>
          <a:xfrm>
            <a:off x="1123950" y="5865019"/>
            <a:ext cx="10210800" cy="7620"/>
          </a:xfrm>
          <a:prstGeom prst="rect">
            <a:avLst/>
          </a:prstGeom>
          <a:solidFill>
            <a:srgbClr val="E5E7EB">
              <a:alpha val="45000"/>
            </a:srgbClr>
          </a:solidFill>
          <a:ln w="0" cap="flat">
            <a:noFill/>
          </a:ln>
        </p:spPr>
      </p:sp>
      <p:sp>
        <p:nvSpPr>
          <p:cNvPr id="48" name="mg_ytick_revenue-chart_50"/>
          <p:cNvSpPr txBox="1"/>
          <p:nvPr/>
        </p:nvSpPr>
        <p:spPr>
          <a:xfrm>
            <a:off x="647700" y="5788819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50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9" name="mg_grid_revenue-chart_100"/>
          <p:cNvSpPr/>
          <p:nvPr/>
        </p:nvSpPr>
        <p:spPr>
          <a:xfrm>
            <a:off x="1123950" y="5653088"/>
            <a:ext cx="10210800" cy="7620"/>
          </a:xfrm>
          <a:prstGeom prst="rect">
            <a:avLst/>
          </a:prstGeom>
          <a:solidFill>
            <a:srgbClr val="E5E7EB">
              <a:alpha val="45000"/>
            </a:srgbClr>
          </a:solidFill>
          <a:ln w="0" cap="flat">
            <a:noFill/>
          </a:ln>
        </p:spPr>
      </p:sp>
      <p:sp>
        <p:nvSpPr>
          <p:cNvPr id="50" name="mg_ytick_revenue-chart_100"/>
          <p:cNvSpPr txBox="1"/>
          <p:nvPr/>
        </p:nvSpPr>
        <p:spPr>
          <a:xfrm>
            <a:off x="647700" y="5576888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100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51" name="mg_grid_revenue-chart_150"/>
          <p:cNvSpPr/>
          <p:nvPr/>
        </p:nvSpPr>
        <p:spPr>
          <a:xfrm>
            <a:off x="1123950" y="5441156"/>
            <a:ext cx="10210800" cy="7620"/>
          </a:xfrm>
          <a:prstGeom prst="rect">
            <a:avLst/>
          </a:prstGeom>
          <a:solidFill>
            <a:srgbClr val="E5E7EB">
              <a:alpha val="45000"/>
            </a:srgbClr>
          </a:solidFill>
          <a:ln w="0" cap="flat">
            <a:noFill/>
          </a:ln>
        </p:spPr>
      </p:sp>
      <p:sp>
        <p:nvSpPr>
          <p:cNvPr id="52" name="mg_ytick_revenue-chart_150"/>
          <p:cNvSpPr txBox="1"/>
          <p:nvPr/>
        </p:nvSpPr>
        <p:spPr>
          <a:xfrm>
            <a:off x="647700" y="5364956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150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53" name="mg_grid_revenue-chart_200"/>
          <p:cNvSpPr/>
          <p:nvPr/>
        </p:nvSpPr>
        <p:spPr>
          <a:xfrm>
            <a:off x="1123950" y="5229225"/>
            <a:ext cx="10210800" cy="7620"/>
          </a:xfrm>
          <a:prstGeom prst="rect">
            <a:avLst/>
          </a:prstGeom>
          <a:solidFill>
            <a:srgbClr val="E5E7EB">
              <a:alpha val="45000"/>
            </a:srgbClr>
          </a:solidFill>
          <a:ln w="0" cap="flat">
            <a:noFill/>
          </a:ln>
        </p:spPr>
      </p:sp>
      <p:sp>
        <p:nvSpPr>
          <p:cNvPr id="54" name="mg_ytick_revenue-chart_200"/>
          <p:cNvSpPr txBox="1"/>
          <p:nvPr/>
        </p:nvSpPr>
        <p:spPr>
          <a:xfrm>
            <a:off x="647700" y="5153025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200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55" name="mg_axis_revenue-chart"/>
          <p:cNvSpPr/>
          <p:nvPr/>
        </p:nvSpPr>
        <p:spPr>
          <a:xfrm>
            <a:off x="1123950" y="6076950"/>
            <a:ext cx="10210800" cy="11430"/>
          </a:xfrm>
          <a:prstGeom prst="rect">
            <a:avLst/>
          </a:prstGeom>
          <a:solidFill>
            <a:srgbClr val="E5E7EB"/>
          </a:solidFill>
          <a:ln w="0" cap="flat">
            <a:noFill/>
          </a:ln>
        </p:spPr>
      </p:sp>
      <p:sp>
        <p:nvSpPr>
          <p:cNvPr id="56" name="mg_xcat_revenue-chart_0"/>
          <p:cNvSpPr txBox="1"/>
          <p:nvPr/>
        </p:nvSpPr>
        <p:spPr>
          <a:xfrm>
            <a:off x="1123950" y="6124575"/>
            <a:ext cx="204216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2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Y1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57" name="mg_barseg_revenue-chart_0_0_0"/>
          <p:cNvSpPr/>
          <p:nvPr/>
        </p:nvSpPr>
        <p:spPr>
          <a:xfrm>
            <a:off x="1868805" y="6056817"/>
            <a:ext cx="552450" cy="23943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8" name="mg_barseg_revenue-chart_0_0_1"/>
          <p:cNvSpPr/>
          <p:nvPr/>
        </p:nvSpPr>
        <p:spPr>
          <a:xfrm>
            <a:off x="1868805" y="6036683"/>
            <a:ext cx="552450" cy="23943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9" name="mg_barseg_revenue-chart_0_0_2"/>
          <p:cNvSpPr/>
          <p:nvPr/>
        </p:nvSpPr>
        <p:spPr>
          <a:xfrm>
            <a:off x="1868805" y="6016550"/>
            <a:ext cx="552450" cy="23943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0" name="mg_barseg_revenue-chart_0_0_3"/>
          <p:cNvSpPr/>
          <p:nvPr/>
        </p:nvSpPr>
        <p:spPr>
          <a:xfrm>
            <a:off x="1868805" y="5996416"/>
            <a:ext cx="552450" cy="23943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1" name="mg_barlabel_revenue-chart_0_0"/>
          <p:cNvSpPr txBox="1"/>
          <p:nvPr/>
        </p:nvSpPr>
        <p:spPr>
          <a:xfrm>
            <a:off x="1697355" y="5767816"/>
            <a:ext cx="89535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2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19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2" name="mg_xcat_revenue-chart_1"/>
          <p:cNvSpPr txBox="1"/>
          <p:nvPr/>
        </p:nvSpPr>
        <p:spPr>
          <a:xfrm>
            <a:off x="3166110" y="6124575"/>
            <a:ext cx="204216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2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Y2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3" name="mg_barseg_revenue-chart_1_0_0"/>
          <p:cNvSpPr/>
          <p:nvPr/>
        </p:nvSpPr>
        <p:spPr>
          <a:xfrm>
            <a:off x="3910965" y="6035623"/>
            <a:ext cx="552450" cy="45137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4" name="mg_barseg_revenue-chart_1_0_1"/>
          <p:cNvSpPr/>
          <p:nvPr/>
        </p:nvSpPr>
        <p:spPr>
          <a:xfrm>
            <a:off x="3910965" y="5994297"/>
            <a:ext cx="552450" cy="45137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5" name="mg_barseg_revenue-chart_1_0_2"/>
          <p:cNvSpPr/>
          <p:nvPr/>
        </p:nvSpPr>
        <p:spPr>
          <a:xfrm>
            <a:off x="3910965" y="5952970"/>
            <a:ext cx="552450" cy="45137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6" name="mg_barseg_revenue-chart_1_0_3"/>
          <p:cNvSpPr/>
          <p:nvPr/>
        </p:nvSpPr>
        <p:spPr>
          <a:xfrm>
            <a:off x="3910965" y="5911644"/>
            <a:ext cx="552450" cy="45137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7" name="mg_barlabel_revenue-chart_1_0"/>
          <p:cNvSpPr txBox="1"/>
          <p:nvPr/>
        </p:nvSpPr>
        <p:spPr>
          <a:xfrm>
            <a:off x="3739515" y="5683044"/>
            <a:ext cx="89535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2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39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8" name="mg_xcat_revenue-chart_2"/>
          <p:cNvSpPr txBox="1"/>
          <p:nvPr/>
        </p:nvSpPr>
        <p:spPr>
          <a:xfrm>
            <a:off x="5208270" y="6124575"/>
            <a:ext cx="204216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2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Y3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9" name="mg_barseg_revenue-chart_2_0_0"/>
          <p:cNvSpPr/>
          <p:nvPr/>
        </p:nvSpPr>
        <p:spPr>
          <a:xfrm>
            <a:off x="5953125" y="5994297"/>
            <a:ext cx="552450" cy="86463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0" name="mg_barseg_revenue-chart_2_0_1"/>
          <p:cNvSpPr/>
          <p:nvPr/>
        </p:nvSpPr>
        <p:spPr>
          <a:xfrm>
            <a:off x="5953125" y="5911644"/>
            <a:ext cx="552450" cy="86463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1" name="mg_barseg_revenue-chart_2_0_2"/>
          <p:cNvSpPr/>
          <p:nvPr/>
        </p:nvSpPr>
        <p:spPr>
          <a:xfrm>
            <a:off x="5953125" y="5828990"/>
            <a:ext cx="552450" cy="86463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2" name="mg_barseg_revenue-chart_2_0_3"/>
          <p:cNvSpPr/>
          <p:nvPr/>
        </p:nvSpPr>
        <p:spPr>
          <a:xfrm>
            <a:off x="5953125" y="5746337"/>
            <a:ext cx="552450" cy="86463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3" name="mg_barlabel_revenue-chart_2_0"/>
          <p:cNvSpPr txBox="1"/>
          <p:nvPr/>
        </p:nvSpPr>
        <p:spPr>
          <a:xfrm>
            <a:off x="5781675" y="5517737"/>
            <a:ext cx="89535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2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78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74" name="mg_xcat_revenue-chart_3"/>
          <p:cNvSpPr txBox="1"/>
          <p:nvPr/>
        </p:nvSpPr>
        <p:spPr>
          <a:xfrm>
            <a:off x="7250430" y="6124575"/>
            <a:ext cx="204216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2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Y4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75" name="mg_barseg_revenue-chart_3_0_0"/>
          <p:cNvSpPr/>
          <p:nvPr/>
        </p:nvSpPr>
        <p:spPr>
          <a:xfrm>
            <a:off x="7995285" y="5961659"/>
            <a:ext cx="552450" cy="11910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6" name="mg_barseg_revenue-chart_3_0_1"/>
          <p:cNvSpPr/>
          <p:nvPr/>
        </p:nvSpPr>
        <p:spPr>
          <a:xfrm>
            <a:off x="7995285" y="5846369"/>
            <a:ext cx="552450" cy="11910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7" name="mg_barseg_revenue-chart_3_0_2"/>
          <p:cNvSpPr/>
          <p:nvPr/>
        </p:nvSpPr>
        <p:spPr>
          <a:xfrm>
            <a:off x="7995285" y="5731078"/>
            <a:ext cx="552450" cy="11910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8" name="mg_barseg_revenue-chart_3_0_3"/>
          <p:cNvSpPr/>
          <p:nvPr/>
        </p:nvSpPr>
        <p:spPr>
          <a:xfrm>
            <a:off x="7995285" y="5615788"/>
            <a:ext cx="552450" cy="11910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9" name="mg_barseg_revenue-chart_3_0_4"/>
          <p:cNvSpPr/>
          <p:nvPr/>
        </p:nvSpPr>
        <p:spPr>
          <a:xfrm>
            <a:off x="7995285" y="5500497"/>
            <a:ext cx="552450" cy="11910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80" name="mg_barlabel_revenue-chart_3_0"/>
          <p:cNvSpPr txBox="1"/>
          <p:nvPr/>
        </p:nvSpPr>
        <p:spPr>
          <a:xfrm>
            <a:off x="7823835" y="5271897"/>
            <a:ext cx="89535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2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136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81" name="mg_xcat_revenue-chart_4"/>
          <p:cNvSpPr txBox="1"/>
          <p:nvPr/>
        </p:nvSpPr>
        <p:spPr>
          <a:xfrm>
            <a:off x="9292590" y="6124575"/>
            <a:ext cx="204216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2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Y5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82" name="mg_barseg_revenue-chart_4_0_0"/>
          <p:cNvSpPr/>
          <p:nvPr/>
        </p:nvSpPr>
        <p:spPr>
          <a:xfrm>
            <a:off x="10037445" y="5959480"/>
            <a:ext cx="552450" cy="12128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83" name="mg_barseg_revenue-chart_4_0_1"/>
          <p:cNvSpPr/>
          <p:nvPr/>
        </p:nvSpPr>
        <p:spPr>
          <a:xfrm>
            <a:off x="10037445" y="5842009"/>
            <a:ext cx="552450" cy="12128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84" name="mg_barseg_revenue-chart_4_0_2"/>
          <p:cNvSpPr/>
          <p:nvPr/>
        </p:nvSpPr>
        <p:spPr>
          <a:xfrm>
            <a:off x="10037445" y="5724539"/>
            <a:ext cx="552450" cy="12128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85" name="mg_barseg_revenue-chart_4_0_3"/>
          <p:cNvSpPr/>
          <p:nvPr/>
        </p:nvSpPr>
        <p:spPr>
          <a:xfrm>
            <a:off x="10037445" y="5607068"/>
            <a:ext cx="552450" cy="12128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86" name="mg_barseg_revenue-chart_4_0_4"/>
          <p:cNvSpPr/>
          <p:nvPr/>
        </p:nvSpPr>
        <p:spPr>
          <a:xfrm>
            <a:off x="10037445" y="5489598"/>
            <a:ext cx="552450" cy="12128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87" name="mg_barseg_revenue-chart_4_0_5"/>
          <p:cNvSpPr/>
          <p:nvPr/>
        </p:nvSpPr>
        <p:spPr>
          <a:xfrm>
            <a:off x="10037445" y="5372127"/>
            <a:ext cx="552450" cy="12128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88" name="mg_barseg_revenue-chart_4_0_6"/>
          <p:cNvSpPr/>
          <p:nvPr/>
        </p:nvSpPr>
        <p:spPr>
          <a:xfrm>
            <a:off x="10037445" y="5254657"/>
            <a:ext cx="552450" cy="12128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89" name="mg_barlabel_revenue-chart_4_0"/>
          <p:cNvSpPr txBox="1"/>
          <p:nvPr/>
        </p:nvSpPr>
        <p:spPr>
          <a:xfrm>
            <a:off x="9865995" y="5026057"/>
            <a:ext cx="89535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2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194</a:t>
            </a:r>
            <a:endParaRPr lang="ko-KR" sz="1200">
              <a:latin typeface="Malgun Gothic"/>
              <a:ea typeface="맑은 고딕"/>
              <a:cs typeface="Malgun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clickEffect" fill="hold">
                <p:childTnLst>
                  <p:par>
                    <p:cTn id="3" nodeType="clickEffect" fill="hold" presetClass="entr" presetID="10" presetSubtype="0">
                      <p:childTnLst>
                        <p:animEffect filter="wipe(up)" transition="in">
                          <p:cBhvr additive="repl">
                            <p:cTn id="4" dur="170" nodeType="clickEffect" fill="hold" presetClass="entr" presetID="10" presetSubtype="0">
                              <p:stCondLst>
                                <p:cond delay="120"/>
                              </p:stCondLst>
                            </p:cTn>
                            <p:tgtEl>
                              <p:spTgt spid="5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5" dur="170" nodeType="clickEffect" fill="hold" presetClass="entr" presetID="10" presetSubtype="0">
                              <p:stCondLst>
                                <p:cond delay="144"/>
                              </p:stCondLst>
                            </p:cTn>
                            <p:tgtEl>
                              <p:spTgt spid="58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6" dur="170" nodeType="clickEffect" fill="hold" presetClass="entr" presetID="10" presetSubtype="0">
                              <p:stCondLst>
                                <p:cond delay="168"/>
                              </p:stCondLst>
                            </p:cTn>
                            <p:tgtEl>
                              <p:spTgt spid="59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7" dur="170" nodeType="clickEffect" fill="hold" presetClass="entr" presetID="10" presetSubtype="0">
                              <p:stCondLst>
                                <p:cond delay="192"/>
                              </p:stCondLst>
                            </p:cTn>
                            <p:tgtEl>
                              <p:spTgt spid="60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8" dur="170" nodeType="clickEffect" fill="hold" presetClass="entr" presetID="10" presetSubtype="0">
                              <p:stCondLst>
                                <p:cond delay="255"/>
                              </p:stCondLst>
                            </p:cTn>
                            <p:tgtEl>
                              <p:spTgt spid="63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9" dur="160" nodeType="clickEffect" fill="hold" presetClass="entr" presetID="10" presetSubtype="0">
                              <p:stCondLst>
                                <p:cond delay="266"/>
                              </p:stCondLst>
                            </p:cTn>
                            <p:tgtEl>
                              <p:spTgt spid="61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0" dur="170" nodeType="clickEffect" fill="hold" presetClass="entr" presetID="10" presetSubtype="0">
                              <p:stCondLst>
                                <p:cond delay="279"/>
                              </p:stCondLst>
                            </p:cTn>
                            <p:tgtEl>
                              <p:spTgt spid="64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1" dur="170" nodeType="clickEffect" fill="hold" presetClass="entr" presetID="10" presetSubtype="0">
                              <p:stCondLst>
                                <p:cond delay="303"/>
                              </p:stCondLst>
                            </p:cTn>
                            <p:tgtEl>
                              <p:spTgt spid="65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2" dur="170" nodeType="clickEffect" fill="hold" presetClass="entr" presetID="10" presetSubtype="0">
                              <p:stCondLst>
                                <p:cond delay="327"/>
                              </p:stCondLst>
                            </p:cTn>
                            <p:tgtEl>
                              <p:spTgt spid="66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3" dur="170" nodeType="clickEffect" fill="hold" presetClass="entr" presetID="10" presetSubtype="0">
                              <p:stCondLst>
                                <p:cond delay="390"/>
                              </p:stCondLst>
                            </p:cTn>
                            <p:tgtEl>
                              <p:spTgt spid="69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14" dur="160" nodeType="clickEffect" fill="hold" presetClass="entr" presetID="10" presetSubtype="0">
                              <p:stCondLst>
                                <p:cond delay="401"/>
                              </p:stCondLst>
                            </p:cTn>
                            <p:tgtEl>
                              <p:spTgt spid="6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5" dur="170" nodeType="clickEffect" fill="hold" presetClass="entr" presetID="10" presetSubtype="0">
                              <p:stCondLst>
                                <p:cond delay="414"/>
                              </p:stCondLst>
                            </p:cTn>
                            <p:tgtEl>
                              <p:spTgt spid="70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6" dur="170" nodeType="clickEffect" fill="hold" presetClass="entr" presetID="10" presetSubtype="0">
                              <p:stCondLst>
                                <p:cond delay="438"/>
                              </p:stCondLst>
                            </p:cTn>
                            <p:tgtEl>
                              <p:spTgt spid="71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7" dur="170" nodeType="clickEffect" fill="hold" presetClass="entr" presetID="10" presetSubtype="0">
                              <p:stCondLst>
                                <p:cond delay="462"/>
                              </p:stCondLst>
                            </p:cTn>
                            <p:tgtEl>
                              <p:spTgt spid="72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8" dur="170" nodeType="clickEffect" fill="hold" presetClass="entr" presetID="10" presetSubtype="0">
                              <p:stCondLst>
                                <p:cond delay="525"/>
                              </p:stCondLst>
                            </p:cTn>
                            <p:tgtEl>
                              <p:spTgt spid="75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19" dur="160" nodeType="clickEffect" fill="hold" presetClass="entr" presetID="10" presetSubtype="0">
                              <p:stCondLst>
                                <p:cond delay="536"/>
                              </p:stCondLst>
                            </p:cTn>
                            <p:tgtEl>
                              <p:spTgt spid="73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0" dur="170" nodeType="clickEffect" fill="hold" presetClass="entr" presetID="10" presetSubtype="0">
                              <p:stCondLst>
                                <p:cond delay="549"/>
                              </p:stCondLst>
                            </p:cTn>
                            <p:tgtEl>
                              <p:spTgt spid="76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1" dur="170" nodeType="clickEffect" fill="hold" presetClass="entr" presetID="10" presetSubtype="0">
                              <p:stCondLst>
                                <p:cond delay="573"/>
                              </p:stCondLst>
                            </p:cTn>
                            <p:tgtEl>
                              <p:spTgt spid="7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2" dur="170" nodeType="clickEffect" fill="hold" presetClass="entr" presetID="10" presetSubtype="0">
                              <p:stCondLst>
                                <p:cond delay="597"/>
                              </p:stCondLst>
                            </p:cTn>
                            <p:tgtEl>
                              <p:spTgt spid="78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3" dur="170" nodeType="clickEffect" fill="hold" presetClass="entr" presetID="10" presetSubtype="0">
                              <p:stCondLst>
                                <p:cond delay="621"/>
                              </p:stCondLst>
                            </p:cTn>
                            <p:tgtEl>
                              <p:spTgt spid="79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4" dur="170" nodeType="clickEffect" fill="hold" presetClass="entr" presetID="10" presetSubtype="0">
                              <p:stCondLst>
                                <p:cond delay="660"/>
                              </p:stCondLst>
                            </p:cTn>
                            <p:tgtEl>
                              <p:spTgt spid="82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5" dur="170" nodeType="clickEffect" fill="hold" presetClass="entr" presetID="10" presetSubtype="0">
                              <p:stCondLst>
                                <p:cond delay="684"/>
                              </p:stCondLst>
                            </p:cTn>
                            <p:tgtEl>
                              <p:spTgt spid="83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26" dur="160" nodeType="clickEffect" fill="hold" presetClass="entr" presetID="10" presetSubtype="0">
                              <p:stCondLst>
                                <p:cond delay="695"/>
                              </p:stCondLst>
                            </p:cTn>
                            <p:tgtEl>
                              <p:spTgt spid="80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7" dur="170" nodeType="clickEffect" fill="hold" presetClass="entr" presetID="10" presetSubtype="0">
                              <p:stCondLst>
                                <p:cond delay="708"/>
                              </p:stCondLst>
                            </p:cTn>
                            <p:tgtEl>
                              <p:spTgt spid="84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8" dur="170" nodeType="clickEffect" fill="hold" presetClass="entr" presetID="10" presetSubtype="0">
                              <p:stCondLst>
                                <p:cond delay="732"/>
                              </p:stCondLst>
                            </p:cTn>
                            <p:tgtEl>
                              <p:spTgt spid="85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29" dur="170" nodeType="clickEffect" fill="hold" presetClass="entr" presetID="10" presetSubtype="0">
                              <p:stCondLst>
                                <p:cond delay="756"/>
                              </p:stCondLst>
                            </p:cTn>
                            <p:tgtEl>
                              <p:spTgt spid="86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0" dur="170" nodeType="clickEffect" fill="hold" presetClass="entr" presetID="10" presetSubtype="0">
                              <p:stCondLst>
                                <p:cond delay="780"/>
                              </p:stCondLst>
                            </p:cTn>
                            <p:tgtEl>
                              <p:spTgt spid="8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31" dur="170" nodeType="clickEffect" fill="hold" presetClass="entr" presetID="10" presetSubtype="0">
                              <p:stCondLst>
                                <p:cond delay="804"/>
                              </p:stCondLst>
                            </p:cTn>
                            <p:tgtEl>
                              <p:spTgt spid="88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32" dur="160" nodeType="clickEffect" fill="hold" presetClass="entr" presetID="10" presetSubtype="0">
                              <p:stCondLst>
                                <p:cond delay="878"/>
                              </p:stCondLst>
                            </p:cTn>
                            <p:tgtEl>
                              <p:spTgt spid="89"/>
                            </p:tgtEl>
                          </p:cBhvr>
                        </p:animEffect>
                      </p:childTnLst>
                    </p:cTn>
                  </p:par>
                </p:childTnLst>
                <p:prevCondLst>
                  <p:cond evt="onPrev">
                    <p:tgtEl>
                      <p:sldTgt/>
                    </p:tgtEl>
                  </p:cond>
                </p:prevCondLst>
                <p:nextCondLst>
                  <p:cond evt="onNext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gg_peak_pil_render/slides/slide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anim_chapter_bar"/>
          <p:cNvSpPr/>
          <p:nvPr/>
        </p:nvSpPr>
        <p:spPr>
          <a:xfrm>
            <a:off x="1000125" y="2476500"/>
            <a:ext cx="876300" cy="38100"/>
          </a:xfrm>
          <a:prstGeom prst="roundRect">
            <a:avLst/>
          </a:prstGeom>
          <a:solidFill>
            <a:srgbClr val="FBBF24">
              <a:alpha val="43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1" name="anim_chapter_orb"/>
          <p:cNvSpPr/>
          <p:nvPr/>
        </p:nvSpPr>
        <p:spPr>
          <a:xfrm>
            <a:off x="8667750" y="4524375"/>
            <a:ext cx="647700" cy="647700"/>
          </a:xfrm>
          <a:prstGeom prst="ellipse">
            <a:avLst/>
          </a:prstGeom>
          <a:solidFill>
            <a:srgbClr val="FBBF24">
              <a:alpha val="2800"/>
            </a:srgbClr>
          </a:solidFill>
          <a:ln w="8890" cap="flat">
            <a:solidFill>
              <a:srgbClr val="FBBF24">
                <a:alpha val="12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gg_peak_pil_render/slides/slide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anim_chart_frame_team-chart"/>
          <p:cNvSpPr/>
          <p:nvPr/>
        </p:nvSpPr>
        <p:spPr>
          <a:xfrm>
            <a:off x="542925" y="1400175"/>
            <a:ext cx="3676650" cy="2914650"/>
          </a:xfrm>
          <a:prstGeom prst="roundRect">
            <a:avLst/>
          </a:prstGeom>
          <a:noFill/>
          <a:ln w="14605" cap="flat">
            <a:solidFill>
              <a:srgbClr val="7C3AED">
                <a:alpha val="26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1" name="anim_pie_ring_team-chart"/>
          <p:cNvSpPr/>
          <p:nvPr/>
        </p:nvSpPr>
        <p:spPr>
          <a:xfrm>
            <a:off x="1796415" y="2200275"/>
            <a:ext cx="1314450" cy="1314450"/>
          </a:xfrm>
          <a:prstGeom prst="ellipse">
            <a:avLst/>
          </a:prstGeom>
          <a:noFill/>
          <a:ln w="27940" cap="flat">
            <a:solidFill>
              <a:srgbClr val="FBBF24">
                <a:alpha val="3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2" name="anim_pie_dot_team-chart_0"/>
          <p:cNvSpPr/>
          <p:nvPr/>
        </p:nvSpPr>
        <p:spPr>
          <a:xfrm>
            <a:off x="3414712" y="2405062"/>
            <a:ext cx="104775" cy="104775"/>
          </a:xfrm>
          <a:prstGeom prst="ellipse">
            <a:avLst/>
          </a:prstGeom>
          <a:solidFill>
            <a:srgbClr val="FBBF24">
              <a:alpha val="42000"/>
            </a:srgbClr>
          </a:solidFill>
          <a:ln w="7620" cap="flat">
            <a:solidFill>
              <a:srgbClr val="FFFFFF">
                <a:alpha val="33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3" name="anim_pie_dot_team-chart_1"/>
          <p:cNvSpPr/>
          <p:nvPr/>
        </p:nvSpPr>
        <p:spPr>
          <a:xfrm>
            <a:off x="2509838" y="2005012"/>
            <a:ext cx="104775" cy="104775"/>
          </a:xfrm>
          <a:prstGeom prst="ellipse">
            <a:avLst/>
          </a:prstGeom>
          <a:solidFill>
            <a:srgbClr val="FBBF24">
              <a:alpha val="42000"/>
            </a:srgbClr>
          </a:solidFill>
          <a:ln w="7620" cap="flat">
            <a:solidFill>
              <a:srgbClr val="FFFFFF">
                <a:alpha val="33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4" name="anim_pie_dot_team-chart_2"/>
          <p:cNvSpPr/>
          <p:nvPr/>
        </p:nvSpPr>
        <p:spPr>
          <a:xfrm>
            <a:off x="1858328" y="3319462"/>
            <a:ext cx="104775" cy="104775"/>
          </a:xfrm>
          <a:prstGeom prst="ellipse">
            <a:avLst/>
          </a:prstGeom>
          <a:solidFill>
            <a:srgbClr val="FBBF24">
              <a:alpha val="42000"/>
            </a:srgbClr>
          </a:solidFill>
          <a:ln w="7620" cap="flat">
            <a:solidFill>
              <a:srgbClr val="FFFFFF">
                <a:alpha val="33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5" name="anim_chart_frame_ip-chart"/>
          <p:cNvSpPr/>
          <p:nvPr/>
        </p:nvSpPr>
        <p:spPr>
          <a:xfrm>
            <a:off x="542925" y="4638675"/>
            <a:ext cx="11106150" cy="1581150"/>
          </a:xfrm>
          <a:prstGeom prst="roundRect">
            <a:avLst/>
          </a:prstGeom>
          <a:noFill/>
          <a:ln w="14605" cap="flat">
            <a:solidFill>
              <a:srgbClr val="FBBF24">
                <a:alpha val="26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6" name="anim_chart_baseline_ip-chart"/>
          <p:cNvSpPr/>
          <p:nvPr/>
        </p:nvSpPr>
        <p:spPr>
          <a:xfrm>
            <a:off x="819150" y="5867400"/>
            <a:ext cx="10553700" cy="68580"/>
          </a:xfrm>
          <a:prstGeom prst="roundRect">
            <a:avLst/>
          </a:prstGeom>
          <a:solidFill>
            <a:srgbClr val="FBBF24">
              <a:alpha val="45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7" name="anim_chart_scan_ip-chart_0"/>
          <p:cNvSpPr/>
          <p:nvPr/>
        </p:nvSpPr>
        <p:spPr>
          <a:xfrm>
            <a:off x="3333750" y="4895850"/>
            <a:ext cx="198882" cy="87630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28" name="anim_chart_scan_ip-chart_1"/>
          <p:cNvSpPr/>
          <p:nvPr/>
        </p:nvSpPr>
        <p:spPr>
          <a:xfrm>
            <a:off x="6316980" y="4895850"/>
            <a:ext cx="198882" cy="87630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29" name="anim_chart_scan_ip-chart_2"/>
          <p:cNvSpPr/>
          <p:nvPr/>
        </p:nvSpPr>
        <p:spPr>
          <a:xfrm>
            <a:off x="9189720" y="4895850"/>
            <a:ext cx="198882" cy="87630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30" name="anim_chart_dot_ip-chart_0"/>
          <p:cNvSpPr/>
          <p:nvPr/>
        </p:nvSpPr>
        <p:spPr>
          <a:xfrm>
            <a:off x="3612832" y="5590222"/>
            <a:ext cx="104775" cy="104775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1" name="anim_chart_dot_ip-chart_1"/>
          <p:cNvSpPr/>
          <p:nvPr/>
        </p:nvSpPr>
        <p:spPr>
          <a:xfrm>
            <a:off x="6927532" y="5346382"/>
            <a:ext cx="104775" cy="104775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2" name="anim_chart_dot_ip-chart_2"/>
          <p:cNvSpPr/>
          <p:nvPr/>
        </p:nvSpPr>
        <p:spPr>
          <a:xfrm>
            <a:off x="9675495" y="5057775"/>
            <a:ext cx="133350" cy="133350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33" name="mg_cover_ip-chart"/>
          <p:cNvSpPr/>
          <p:nvPr/>
        </p:nvSpPr>
        <p:spPr>
          <a:xfrm>
            <a:off x="571500" y="4667250"/>
            <a:ext cx="11049000" cy="15240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E5E7EB"/>
            </a:solidFill>
          </a:ln>
          <a:effectLst>
            <a:outerShdw blurRad="76200" dist="19050" dir="5400000" algn="ctr" rotWithShape="0">
              <a:srgbClr val="000000">
                <a:alpha val="18000"/>
              </a:srgbClr>
            </a:outerShdw>
          </a:effectLst>
        </p:spPr>
      </p:sp>
      <p:sp>
        <p:nvSpPr>
          <p:cNvPr id="34" name="mg_title_ip-chart"/>
          <p:cNvSpPr txBox="1"/>
          <p:nvPr/>
        </p:nvSpPr>
        <p:spPr>
          <a:xfrm>
            <a:off x="685800" y="4762500"/>
            <a:ext cx="10820400" cy="2095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400" kern="1200" b="1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지식재산권 포트폴리오</a:t>
            </a:r>
            <a:endParaRPr lang="ko-KR" sz="14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35" name="mg_grid_ip-chart_0"/>
          <p:cNvSpPr/>
          <p:nvPr/>
        </p:nvSpPr>
        <p:spPr>
          <a:xfrm>
            <a:off x="1123950" y="5791200"/>
            <a:ext cx="10210800" cy="7620"/>
          </a:xfrm>
          <a:prstGeom prst="rect">
            <a:avLst/>
          </a:prstGeom>
          <a:solidFill>
            <a:srgbClr val="E5E7EB">
              <a:alpha val="45000"/>
            </a:srgbClr>
          </a:solidFill>
          <a:ln w="0" cap="flat">
            <a:noFill/>
          </a:ln>
        </p:spPr>
      </p:sp>
      <p:sp>
        <p:nvSpPr>
          <p:cNvPr id="36" name="mg_ytick_ip-chart_0"/>
          <p:cNvSpPr txBox="1"/>
          <p:nvPr/>
        </p:nvSpPr>
        <p:spPr>
          <a:xfrm>
            <a:off x="647700" y="5715000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37" name="mg_grid_ip-chart_2.5"/>
          <p:cNvSpPr/>
          <p:nvPr/>
        </p:nvSpPr>
        <p:spPr>
          <a:xfrm>
            <a:off x="1123950" y="5626894"/>
            <a:ext cx="10210800" cy="7620"/>
          </a:xfrm>
          <a:prstGeom prst="rect">
            <a:avLst/>
          </a:prstGeom>
          <a:solidFill>
            <a:srgbClr val="E5E7EB">
              <a:alpha val="45000"/>
            </a:srgbClr>
          </a:solidFill>
          <a:ln w="0" cap="flat">
            <a:noFill/>
          </a:ln>
        </p:spPr>
      </p:sp>
      <p:sp>
        <p:nvSpPr>
          <p:cNvPr id="38" name="mg_ytick_ip-chart_2.5"/>
          <p:cNvSpPr txBox="1"/>
          <p:nvPr/>
        </p:nvSpPr>
        <p:spPr>
          <a:xfrm>
            <a:off x="647700" y="5550694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2.5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39" name="mg_grid_ip-chart_5"/>
          <p:cNvSpPr/>
          <p:nvPr/>
        </p:nvSpPr>
        <p:spPr>
          <a:xfrm>
            <a:off x="1123950" y="5462588"/>
            <a:ext cx="10210800" cy="7620"/>
          </a:xfrm>
          <a:prstGeom prst="rect">
            <a:avLst/>
          </a:prstGeom>
          <a:solidFill>
            <a:srgbClr val="E5E7EB">
              <a:alpha val="45000"/>
            </a:srgbClr>
          </a:solidFill>
          <a:ln w="0" cap="flat">
            <a:noFill/>
          </a:ln>
        </p:spPr>
      </p:sp>
      <p:sp>
        <p:nvSpPr>
          <p:cNvPr id="40" name="mg_ytick_ip-chart_5"/>
          <p:cNvSpPr txBox="1"/>
          <p:nvPr/>
        </p:nvSpPr>
        <p:spPr>
          <a:xfrm>
            <a:off x="647700" y="5386388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5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1" name="mg_grid_ip-chart_7.5"/>
          <p:cNvSpPr/>
          <p:nvPr/>
        </p:nvSpPr>
        <p:spPr>
          <a:xfrm>
            <a:off x="1123950" y="5298281"/>
            <a:ext cx="10210800" cy="7620"/>
          </a:xfrm>
          <a:prstGeom prst="rect">
            <a:avLst/>
          </a:prstGeom>
          <a:solidFill>
            <a:srgbClr val="E5E7EB">
              <a:alpha val="45000"/>
            </a:srgbClr>
          </a:solidFill>
          <a:ln w="0" cap="flat">
            <a:noFill/>
          </a:ln>
        </p:spPr>
      </p:sp>
      <p:sp>
        <p:nvSpPr>
          <p:cNvPr id="42" name="mg_ytick_ip-chart_7.5"/>
          <p:cNvSpPr txBox="1"/>
          <p:nvPr/>
        </p:nvSpPr>
        <p:spPr>
          <a:xfrm>
            <a:off x="647700" y="5222081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7.5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3" name="mg_grid_ip-chart_10"/>
          <p:cNvSpPr/>
          <p:nvPr/>
        </p:nvSpPr>
        <p:spPr>
          <a:xfrm>
            <a:off x="1123950" y="5133975"/>
            <a:ext cx="10210800" cy="7620"/>
          </a:xfrm>
          <a:prstGeom prst="rect">
            <a:avLst/>
          </a:prstGeom>
          <a:solidFill>
            <a:srgbClr val="E5E7EB">
              <a:alpha val="45000"/>
            </a:srgbClr>
          </a:solidFill>
          <a:ln w="0" cap="flat">
            <a:noFill/>
          </a:ln>
        </p:spPr>
      </p:sp>
      <p:sp>
        <p:nvSpPr>
          <p:cNvPr id="44" name="mg_ytick_ip-chart_10"/>
          <p:cNvSpPr txBox="1"/>
          <p:nvPr/>
        </p:nvSpPr>
        <p:spPr>
          <a:xfrm>
            <a:off x="647700" y="5057775"/>
            <a:ext cx="428625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10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5" name="mg_axis_ip-chart"/>
          <p:cNvSpPr/>
          <p:nvPr/>
        </p:nvSpPr>
        <p:spPr>
          <a:xfrm>
            <a:off x="1123950" y="5791200"/>
            <a:ext cx="10210800" cy="11430"/>
          </a:xfrm>
          <a:prstGeom prst="rect">
            <a:avLst/>
          </a:prstGeom>
          <a:solidFill>
            <a:srgbClr val="E5E7EB"/>
          </a:solidFill>
          <a:ln w="0" cap="flat">
            <a:noFill/>
          </a:ln>
        </p:spPr>
      </p:sp>
      <p:sp>
        <p:nvSpPr>
          <p:cNvPr id="46" name="mg_xcat_ip-chart_0"/>
          <p:cNvSpPr txBox="1"/>
          <p:nvPr/>
        </p:nvSpPr>
        <p:spPr>
          <a:xfrm>
            <a:off x="1123950" y="5838825"/>
            <a:ext cx="340360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3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특허</a:t>
            </a:r>
            <a:endParaRPr lang="ko-KR" sz="13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7" name="mg_barseg_ip-chart_0_0_0"/>
          <p:cNvSpPr/>
          <p:nvPr/>
        </p:nvSpPr>
        <p:spPr>
          <a:xfrm>
            <a:off x="2549525" y="5758339"/>
            <a:ext cx="552450" cy="3667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48" name="mg_barseg_ip-chart_0_0_1"/>
          <p:cNvSpPr/>
          <p:nvPr/>
        </p:nvSpPr>
        <p:spPr>
          <a:xfrm>
            <a:off x="2549525" y="5725478"/>
            <a:ext cx="552450" cy="3667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49" name="mg_barseg_ip-chart_0_0_2"/>
          <p:cNvSpPr/>
          <p:nvPr/>
        </p:nvSpPr>
        <p:spPr>
          <a:xfrm>
            <a:off x="2549525" y="5692616"/>
            <a:ext cx="552450" cy="3667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0" name="mg_barseg_ip-chart_0_0_3"/>
          <p:cNvSpPr/>
          <p:nvPr/>
        </p:nvSpPr>
        <p:spPr>
          <a:xfrm>
            <a:off x="2549525" y="5659755"/>
            <a:ext cx="552450" cy="36671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1" name="mg_barlabel_ip-chart_0_0"/>
          <p:cNvSpPr txBox="1"/>
          <p:nvPr/>
        </p:nvSpPr>
        <p:spPr>
          <a:xfrm>
            <a:off x="2378075" y="5431155"/>
            <a:ext cx="89535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6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2</a:t>
            </a:r>
            <a:endParaRPr lang="ko-KR" sz="16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52" name="mg_xcat_ip-chart_1"/>
          <p:cNvSpPr txBox="1"/>
          <p:nvPr/>
        </p:nvSpPr>
        <p:spPr>
          <a:xfrm>
            <a:off x="4527550" y="5838825"/>
            <a:ext cx="340360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3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디자인권</a:t>
            </a:r>
            <a:endParaRPr lang="ko-KR" sz="13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53" name="mg_barseg_ip-chart_1_0_0"/>
          <p:cNvSpPr/>
          <p:nvPr/>
        </p:nvSpPr>
        <p:spPr>
          <a:xfrm>
            <a:off x="5953125" y="5686044"/>
            <a:ext cx="552450" cy="108966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4" name="mg_barseg_ip-chart_1_0_1"/>
          <p:cNvSpPr/>
          <p:nvPr/>
        </p:nvSpPr>
        <p:spPr>
          <a:xfrm>
            <a:off x="5953125" y="5580888"/>
            <a:ext cx="552450" cy="108966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5" name="mg_barseg_ip-chart_1_0_2"/>
          <p:cNvSpPr/>
          <p:nvPr/>
        </p:nvSpPr>
        <p:spPr>
          <a:xfrm>
            <a:off x="5953125" y="5475732"/>
            <a:ext cx="552450" cy="108966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6" name="mg_barseg_ip-chart_1_0_3"/>
          <p:cNvSpPr/>
          <p:nvPr/>
        </p:nvSpPr>
        <p:spPr>
          <a:xfrm>
            <a:off x="5953125" y="5370576"/>
            <a:ext cx="552450" cy="108966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7" name="mg_barseg_ip-chart_1_0_4"/>
          <p:cNvSpPr/>
          <p:nvPr/>
        </p:nvSpPr>
        <p:spPr>
          <a:xfrm>
            <a:off x="5953125" y="5265420"/>
            <a:ext cx="552450" cy="108966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8" name="mg_barlabel_ip-chart_1_0"/>
          <p:cNvSpPr txBox="1"/>
          <p:nvPr/>
        </p:nvSpPr>
        <p:spPr>
          <a:xfrm>
            <a:off x="5781675" y="5036820"/>
            <a:ext cx="89535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6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8</a:t>
            </a:r>
            <a:endParaRPr lang="ko-KR" sz="16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59" name="mg_xcat_ip-chart_2"/>
          <p:cNvSpPr txBox="1"/>
          <p:nvPr/>
        </p:nvSpPr>
        <p:spPr>
          <a:xfrm>
            <a:off x="7931150" y="5838825"/>
            <a:ext cx="3403600" cy="2857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t"/>
          <a:lstStyle/>
          <a:p>
            <a:pPr algn="ctr" eaLnBrk="0" latinLnBrk="0" hangingPunct="0"/>
            <a:r>
              <a:rPr lang="ko-KR" sz="13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상표권</a:t>
            </a:r>
            <a:endParaRPr lang="ko-KR" sz="13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0" name="mg_barseg_ip-chart_2_0_0"/>
          <p:cNvSpPr/>
          <p:nvPr/>
        </p:nvSpPr>
        <p:spPr>
          <a:xfrm>
            <a:off x="9356725" y="5725478"/>
            <a:ext cx="552450" cy="69532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1" name="mg_barseg_ip-chart_2_0_1"/>
          <p:cNvSpPr/>
          <p:nvPr/>
        </p:nvSpPr>
        <p:spPr>
          <a:xfrm>
            <a:off x="9356725" y="5659755"/>
            <a:ext cx="552450" cy="69532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2" name="mg_barseg_ip-chart_2_0_2"/>
          <p:cNvSpPr/>
          <p:nvPr/>
        </p:nvSpPr>
        <p:spPr>
          <a:xfrm>
            <a:off x="9356725" y="5594032"/>
            <a:ext cx="552450" cy="69532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3" name="mg_barseg_ip-chart_2_0_3"/>
          <p:cNvSpPr/>
          <p:nvPr/>
        </p:nvSpPr>
        <p:spPr>
          <a:xfrm>
            <a:off x="9356725" y="5528310"/>
            <a:ext cx="552450" cy="69532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4" name="mg_barlabel_ip-chart_2_0"/>
          <p:cNvSpPr txBox="1"/>
          <p:nvPr/>
        </p:nvSpPr>
        <p:spPr>
          <a:xfrm>
            <a:off x="9185275" y="5299710"/>
            <a:ext cx="89535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6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4</a:t>
            </a:r>
            <a:endParaRPr lang="ko-KR" sz="1600">
              <a:latin typeface="Malgun Gothic"/>
              <a:ea typeface="맑은 고딕"/>
              <a:cs typeface="Malgun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clickEffect" fill="hold">
                <p:childTnLst>
                  <p:par>
                    <p:cTn id="3" nodeType="clickEffect" fill="hold" presetClass="entr" presetID="10" presetSubtype="0">
                      <p:childTnLst>
                        <p:animEffect filter="wipe(up)" transition="in">
                          <p:cBhvr additive="repl">
                            <p:cTn id="4" dur="170" nodeType="clickEffect" fill="hold" presetClass="entr" presetID="10" presetSubtype="0">
                              <p:stCondLst>
                                <p:cond delay="120"/>
                              </p:stCondLst>
                            </p:cTn>
                            <p:tgtEl>
                              <p:spTgt spid="4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5" dur="170" nodeType="clickEffect" fill="hold" presetClass="entr" presetID="10" presetSubtype="0">
                              <p:stCondLst>
                                <p:cond delay="144"/>
                              </p:stCondLst>
                            </p:cTn>
                            <p:tgtEl>
                              <p:spTgt spid="48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6" dur="170" nodeType="clickEffect" fill="hold" presetClass="entr" presetID="10" presetSubtype="0">
                              <p:stCondLst>
                                <p:cond delay="168"/>
                              </p:stCondLst>
                            </p:cTn>
                            <p:tgtEl>
                              <p:spTgt spid="49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7" dur="170" nodeType="clickEffect" fill="hold" presetClass="entr" presetID="10" presetSubtype="0">
                              <p:stCondLst>
                                <p:cond delay="192"/>
                              </p:stCondLst>
                            </p:cTn>
                            <p:tgtEl>
                              <p:spTgt spid="50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8" dur="170" nodeType="clickEffect" fill="hold" presetClass="entr" presetID="10" presetSubtype="0">
                              <p:stCondLst>
                                <p:cond delay="255"/>
                              </p:stCondLst>
                            </p:cTn>
                            <p:tgtEl>
                              <p:spTgt spid="53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9" dur="160" nodeType="clickEffect" fill="hold" presetClass="entr" presetID="10" presetSubtype="0">
                              <p:stCondLst>
                                <p:cond delay="266"/>
                              </p:stCondLst>
                            </p:cTn>
                            <p:tgtEl>
                              <p:spTgt spid="51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0" dur="170" nodeType="clickEffect" fill="hold" presetClass="entr" presetID="10" presetSubtype="0">
                              <p:stCondLst>
                                <p:cond delay="279"/>
                              </p:stCondLst>
                            </p:cTn>
                            <p:tgtEl>
                              <p:spTgt spid="54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1" dur="170" nodeType="clickEffect" fill="hold" presetClass="entr" presetID="10" presetSubtype="0">
                              <p:stCondLst>
                                <p:cond delay="303"/>
                              </p:stCondLst>
                            </p:cTn>
                            <p:tgtEl>
                              <p:spTgt spid="55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2" dur="170" nodeType="clickEffect" fill="hold" presetClass="entr" presetID="10" presetSubtype="0">
                              <p:stCondLst>
                                <p:cond delay="327"/>
                              </p:stCondLst>
                            </p:cTn>
                            <p:tgtEl>
                              <p:spTgt spid="56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3" dur="170" nodeType="clickEffect" fill="hold" presetClass="entr" presetID="10" presetSubtype="0">
                              <p:stCondLst>
                                <p:cond delay="351"/>
                              </p:stCondLst>
                            </p:cTn>
                            <p:tgtEl>
                              <p:spTgt spid="57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4" dur="170" nodeType="clickEffect" fill="hold" presetClass="entr" presetID="10" presetSubtype="0">
                              <p:stCondLst>
                                <p:cond delay="390"/>
                              </p:stCondLst>
                            </p:cTn>
                            <p:tgtEl>
                              <p:spTgt spid="60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5" dur="170" nodeType="clickEffect" fill="hold" presetClass="entr" presetID="10" presetSubtype="0">
                              <p:stCondLst>
                                <p:cond delay="414"/>
                              </p:stCondLst>
                            </p:cTn>
                            <p:tgtEl>
                              <p:spTgt spid="61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16" dur="160" nodeType="clickEffect" fill="hold" presetClass="entr" presetID="10" presetSubtype="0">
                              <p:stCondLst>
                                <p:cond delay="425"/>
                              </p:stCondLst>
                            </p:cTn>
                            <p:tgtEl>
                              <p:spTgt spid="58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7" dur="170" nodeType="clickEffect" fill="hold" presetClass="entr" presetID="10" presetSubtype="0">
                              <p:stCondLst>
                                <p:cond delay="438"/>
                              </p:stCondLst>
                            </p:cTn>
                            <p:tgtEl>
                              <p:spTgt spid="62"/>
                            </p:tgtEl>
                          </p:cBhvr>
                        </p:animEffect>
                        <p:animEffect filter="wipe(up)" transition="in">
                          <p:cBhvr additive="repl">
                            <p:cTn id="18" dur="170" nodeType="clickEffect" fill="hold" presetClass="entr" presetID="10" presetSubtype="0">
                              <p:stCondLst>
                                <p:cond delay="462"/>
                              </p:stCondLst>
                            </p:cTn>
                            <p:tgtEl>
                              <p:spTgt spid="63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19" dur="160" nodeType="clickEffect" fill="hold" presetClass="entr" presetID="10" presetSubtype="0">
                              <p:stCondLst>
                                <p:cond delay="536"/>
                              </p:stCondLst>
                            </p:cTn>
                            <p:tgtEl>
                              <p:spTgt spid="64"/>
                            </p:tgtEl>
                          </p:cBhvr>
                        </p:animEffect>
                      </p:childTnLst>
                    </p:cTn>
                  </p:par>
                </p:childTnLst>
                <p:prevCondLst>
                  <p:cond evt="onPrev">
                    <p:tgtEl>
                      <p:sldTgt/>
                    </p:tgtEl>
                  </p:cond>
                </p:prevCondLst>
                <p:nextCondLst>
                  <p:cond evt="onNext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gg_peak_pil_render/slides/slide_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anim_chart_frame_funnel-chart"/>
          <p:cNvSpPr/>
          <p:nvPr/>
        </p:nvSpPr>
        <p:spPr>
          <a:xfrm>
            <a:off x="542925" y="4162425"/>
            <a:ext cx="11106150" cy="2152650"/>
          </a:xfrm>
          <a:prstGeom prst="roundRect">
            <a:avLst/>
          </a:prstGeom>
          <a:noFill/>
          <a:ln w="14605" cap="flat">
            <a:solidFill>
              <a:srgbClr val="FBBF24">
                <a:alpha val="26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1" name="anim_chart_baseline_funnel-chart"/>
          <p:cNvSpPr/>
          <p:nvPr/>
        </p:nvSpPr>
        <p:spPr>
          <a:xfrm>
            <a:off x="819150" y="5962650"/>
            <a:ext cx="10553700" cy="94298"/>
          </a:xfrm>
          <a:prstGeom prst="roundRect">
            <a:avLst/>
          </a:prstGeom>
          <a:solidFill>
            <a:srgbClr val="FBBF24">
              <a:alpha val="45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2" name="anim_chart_scan_funnel-chart_0"/>
          <p:cNvSpPr/>
          <p:nvPr/>
        </p:nvSpPr>
        <p:spPr>
          <a:xfrm>
            <a:off x="3333750" y="4419600"/>
            <a:ext cx="198882" cy="144780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23" name="anim_chart_scan_funnel-chart_1"/>
          <p:cNvSpPr/>
          <p:nvPr/>
        </p:nvSpPr>
        <p:spPr>
          <a:xfrm>
            <a:off x="6316980" y="4419600"/>
            <a:ext cx="198882" cy="144780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24" name="anim_chart_scan_funnel-chart_2"/>
          <p:cNvSpPr/>
          <p:nvPr/>
        </p:nvSpPr>
        <p:spPr>
          <a:xfrm>
            <a:off x="9189720" y="4419600"/>
            <a:ext cx="198882" cy="144780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25" name="anim_chart_dot_funnel-chart_0"/>
          <p:cNvSpPr/>
          <p:nvPr/>
        </p:nvSpPr>
        <p:spPr>
          <a:xfrm>
            <a:off x="3612832" y="5479732"/>
            <a:ext cx="104775" cy="104775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6" name="anim_chart_dot_funnel-chart_1"/>
          <p:cNvSpPr/>
          <p:nvPr/>
        </p:nvSpPr>
        <p:spPr>
          <a:xfrm>
            <a:off x="6927532" y="5144452"/>
            <a:ext cx="104775" cy="104775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7" name="anim_chart_dot_funnel-chart_2"/>
          <p:cNvSpPr/>
          <p:nvPr/>
        </p:nvSpPr>
        <p:spPr>
          <a:xfrm>
            <a:off x="9675495" y="4752975"/>
            <a:ext cx="133350" cy="133350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8" name="anim_box_frame_step1-bg"/>
          <p:cNvSpPr/>
          <p:nvPr/>
        </p:nvSpPr>
        <p:spPr>
          <a:xfrm>
            <a:off x="552450" y="1409700"/>
            <a:ext cx="3276600" cy="2514600"/>
          </a:xfrm>
          <a:prstGeom prst="roundRect">
            <a:avLst/>
          </a:prstGeom>
          <a:noFill/>
          <a:ln w="16510" cap="flat">
            <a:solidFill>
              <a:srgbClr val="7C3AED">
                <a:alpha val="17000"/>
              </a:srgbClr>
            </a:solidFill>
            <a:prstDash val="solid"/>
          </a:ln>
        </p:spPr>
      </p:sp>
      <p:sp>
        <p:nvSpPr>
          <p:cNvPr id="29" name="anim_box_bar_step1-bg"/>
          <p:cNvSpPr/>
          <p:nvPr/>
        </p:nvSpPr>
        <p:spPr>
          <a:xfrm>
            <a:off x="704850" y="1495425"/>
            <a:ext cx="712470" cy="28575"/>
          </a:xfrm>
          <a:prstGeom prst="roundRect">
            <a:avLst/>
          </a:prstGeom>
          <a:solidFill>
            <a:srgbClr val="FBBF24">
              <a:alpha val="22000"/>
            </a:srgbClr>
          </a:solidFill>
          <a:ln>
            <a:noFill/>
          </a:ln>
        </p:spPr>
      </p:sp>
      <p:sp>
        <p:nvSpPr>
          <p:cNvPr id="30" name="anim_box_frame_step2-bg"/>
          <p:cNvSpPr/>
          <p:nvPr/>
        </p:nvSpPr>
        <p:spPr>
          <a:xfrm>
            <a:off x="4171950" y="1409700"/>
            <a:ext cx="3276600" cy="2514600"/>
          </a:xfrm>
          <a:prstGeom prst="roundRect">
            <a:avLst/>
          </a:prstGeom>
          <a:noFill/>
          <a:ln w="16510" cap="flat">
            <a:solidFill>
              <a:srgbClr val="7C3AED">
                <a:alpha val="17000"/>
              </a:srgbClr>
            </a:solidFill>
            <a:prstDash val="solid"/>
          </a:ln>
        </p:spPr>
      </p:sp>
      <p:sp>
        <p:nvSpPr>
          <p:cNvPr id="31" name="anim_box_bar_step2-bg"/>
          <p:cNvSpPr/>
          <p:nvPr/>
        </p:nvSpPr>
        <p:spPr>
          <a:xfrm>
            <a:off x="4324350" y="1495425"/>
            <a:ext cx="712470" cy="28575"/>
          </a:xfrm>
          <a:prstGeom prst="roundRect">
            <a:avLst/>
          </a:prstGeom>
          <a:solidFill>
            <a:srgbClr val="FBBF24">
              <a:alpha val="22000"/>
            </a:srgbClr>
          </a:solidFill>
          <a:ln>
            <a:noFill/>
          </a:ln>
        </p:spPr>
      </p:sp>
      <p:sp>
        <p:nvSpPr>
          <p:cNvPr id="32" name="anim_box_frame_step3-bg"/>
          <p:cNvSpPr/>
          <p:nvPr/>
        </p:nvSpPr>
        <p:spPr>
          <a:xfrm>
            <a:off x="7791450" y="1409700"/>
            <a:ext cx="3848100" cy="2514600"/>
          </a:xfrm>
          <a:prstGeom prst="roundRect">
            <a:avLst/>
          </a:prstGeom>
          <a:noFill/>
          <a:ln w="16510" cap="flat">
            <a:solidFill>
              <a:srgbClr val="7C3AED">
                <a:alpha val="17000"/>
              </a:srgbClr>
            </a:solidFill>
            <a:prstDash val="solid"/>
          </a:ln>
        </p:spPr>
      </p:sp>
      <p:sp>
        <p:nvSpPr>
          <p:cNvPr id="33" name="anim_box_bar_step3-bg"/>
          <p:cNvSpPr/>
          <p:nvPr/>
        </p:nvSpPr>
        <p:spPr>
          <a:xfrm>
            <a:off x="7943850" y="1495425"/>
            <a:ext cx="838200" cy="28575"/>
          </a:xfrm>
          <a:prstGeom prst="roundRect">
            <a:avLst/>
          </a:prstGeom>
          <a:solidFill>
            <a:srgbClr val="FBBF24">
              <a:alpha val="22000"/>
            </a:srgbClr>
          </a:solidFill>
          <a:ln>
            <a:noFill/>
          </a:ln>
        </p:spPr>
      </p:sp>
      <p:sp>
        <p:nvSpPr>
          <p:cNvPr id="34" name="mg_cover_funnel-chart"/>
          <p:cNvSpPr/>
          <p:nvPr/>
        </p:nvSpPr>
        <p:spPr>
          <a:xfrm>
            <a:off x="571500" y="4191000"/>
            <a:ext cx="11049000" cy="20955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E5E7EB"/>
            </a:solidFill>
          </a:ln>
          <a:effectLst>
            <a:outerShdw blurRad="76200" dist="19050" dir="5400000" algn="ctr" rotWithShape="0">
              <a:srgbClr val="000000">
                <a:alpha val="18000"/>
              </a:srgbClr>
            </a:outerShdw>
          </a:effectLst>
        </p:spPr>
      </p:sp>
      <p:sp>
        <p:nvSpPr>
          <p:cNvPr id="35" name="mg_hgrid_funnel-chart_0"/>
          <p:cNvSpPr/>
          <p:nvPr/>
        </p:nvSpPr>
        <p:spPr>
          <a:xfrm>
            <a:off x="2809875" y="4705350"/>
            <a:ext cx="7620" cy="1247775"/>
          </a:xfrm>
          <a:prstGeom prst="rect">
            <a:avLst/>
          </a:prstGeom>
          <a:solidFill>
            <a:srgbClr val="E5E7EB">
              <a:alpha val="35000"/>
            </a:srgbClr>
          </a:solidFill>
          <a:ln w="0" cap="flat">
            <a:noFill/>
          </a:ln>
        </p:spPr>
      </p:sp>
      <p:sp>
        <p:nvSpPr>
          <p:cNvPr id="36" name="mg_htick_funnel-chart_0"/>
          <p:cNvSpPr txBox="1"/>
          <p:nvPr/>
        </p:nvSpPr>
        <p:spPr>
          <a:xfrm>
            <a:off x="2600325" y="6000750"/>
            <a:ext cx="419100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37" name="mg_hgrid_funnel-chart_1,000"/>
          <p:cNvSpPr/>
          <p:nvPr/>
        </p:nvSpPr>
        <p:spPr>
          <a:xfrm>
            <a:off x="4898231" y="4705350"/>
            <a:ext cx="7620" cy="1247775"/>
          </a:xfrm>
          <a:prstGeom prst="rect">
            <a:avLst/>
          </a:prstGeom>
          <a:solidFill>
            <a:srgbClr val="E5E7EB">
              <a:alpha val="35000"/>
            </a:srgbClr>
          </a:solidFill>
          <a:ln w="0" cap="flat">
            <a:noFill/>
          </a:ln>
        </p:spPr>
      </p:sp>
      <p:sp>
        <p:nvSpPr>
          <p:cNvPr id="38" name="mg_htick_funnel-chart_1,000"/>
          <p:cNvSpPr txBox="1"/>
          <p:nvPr/>
        </p:nvSpPr>
        <p:spPr>
          <a:xfrm>
            <a:off x="4688681" y="6000750"/>
            <a:ext cx="419100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1,000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39" name="mg_hgrid_funnel-chart_2,000"/>
          <p:cNvSpPr/>
          <p:nvPr/>
        </p:nvSpPr>
        <p:spPr>
          <a:xfrm>
            <a:off x="6986588" y="4705350"/>
            <a:ext cx="7620" cy="1247775"/>
          </a:xfrm>
          <a:prstGeom prst="rect">
            <a:avLst/>
          </a:prstGeom>
          <a:solidFill>
            <a:srgbClr val="E5E7EB">
              <a:alpha val="35000"/>
            </a:srgbClr>
          </a:solidFill>
          <a:ln w="0" cap="flat">
            <a:noFill/>
          </a:ln>
        </p:spPr>
      </p:sp>
      <p:sp>
        <p:nvSpPr>
          <p:cNvPr id="40" name="mg_htick_funnel-chart_2,000"/>
          <p:cNvSpPr txBox="1"/>
          <p:nvPr/>
        </p:nvSpPr>
        <p:spPr>
          <a:xfrm>
            <a:off x="6777038" y="6000750"/>
            <a:ext cx="419100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2,000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1" name="mg_hgrid_funnel-chart_3,000"/>
          <p:cNvSpPr/>
          <p:nvPr/>
        </p:nvSpPr>
        <p:spPr>
          <a:xfrm>
            <a:off x="9074944" y="4705350"/>
            <a:ext cx="7620" cy="1247775"/>
          </a:xfrm>
          <a:prstGeom prst="rect">
            <a:avLst/>
          </a:prstGeom>
          <a:solidFill>
            <a:srgbClr val="E5E7EB">
              <a:alpha val="35000"/>
            </a:srgbClr>
          </a:solidFill>
          <a:ln w="0" cap="flat">
            <a:noFill/>
          </a:ln>
        </p:spPr>
      </p:sp>
      <p:sp>
        <p:nvSpPr>
          <p:cNvPr id="42" name="mg_htick_funnel-chart_3,000"/>
          <p:cNvSpPr txBox="1"/>
          <p:nvPr/>
        </p:nvSpPr>
        <p:spPr>
          <a:xfrm>
            <a:off x="8865394" y="6000750"/>
            <a:ext cx="419100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3,000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3" name="mg_hgrid_funnel-chart_4,000"/>
          <p:cNvSpPr/>
          <p:nvPr/>
        </p:nvSpPr>
        <p:spPr>
          <a:xfrm>
            <a:off x="11163300" y="4705350"/>
            <a:ext cx="7620" cy="1247775"/>
          </a:xfrm>
          <a:prstGeom prst="rect">
            <a:avLst/>
          </a:prstGeom>
          <a:solidFill>
            <a:srgbClr val="E5E7EB">
              <a:alpha val="35000"/>
            </a:srgbClr>
          </a:solidFill>
          <a:ln w="0" cap="flat">
            <a:noFill/>
          </a:ln>
        </p:spPr>
      </p:sp>
      <p:sp>
        <p:nvSpPr>
          <p:cNvPr id="44" name="mg_htick_funnel-chart_4,000"/>
          <p:cNvSpPr txBox="1"/>
          <p:nvPr/>
        </p:nvSpPr>
        <p:spPr>
          <a:xfrm>
            <a:off x="10953750" y="6000750"/>
            <a:ext cx="419100" cy="1524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050" kern="1200">
                <a:solidFill>
                  <a:srgbClr val="9CA3AF"/>
                </a:solidFill>
                <a:latin typeface="Malgun Gothic"/>
                <a:ea typeface="맑은 고딕"/>
                <a:cs typeface="Malgun Gothic"/>
              </a:rPr>
              <a:t>4,000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5" name="mg_haxis_funnel-chart"/>
          <p:cNvSpPr/>
          <p:nvPr/>
        </p:nvSpPr>
        <p:spPr>
          <a:xfrm>
            <a:off x="2809875" y="5953125"/>
            <a:ext cx="8353425" cy="11430"/>
          </a:xfrm>
          <a:prstGeom prst="rect">
            <a:avLst/>
          </a:prstGeom>
          <a:solidFill>
            <a:srgbClr val="E5E7EB"/>
          </a:solidFill>
          <a:ln w="0" cap="flat">
            <a:noFill/>
          </a:ln>
        </p:spPr>
      </p:sp>
      <p:sp>
        <p:nvSpPr>
          <p:cNvPr id="46" name="mg_hcat_funnel-chart_0"/>
          <p:cNvSpPr txBox="1"/>
          <p:nvPr/>
        </p:nvSpPr>
        <p:spPr>
          <a:xfrm>
            <a:off x="647700" y="4827588"/>
            <a:ext cx="2066925" cy="1714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1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STEP 3 파트너 확장</a:t>
            </a:r>
            <a:endParaRPr lang="ko-KR" sz="11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47" name="mg_hbarseg_funnel-chart_0_0_0"/>
          <p:cNvSpPr/>
          <p:nvPr/>
        </p:nvSpPr>
        <p:spPr>
          <a:xfrm>
            <a:off x="2809875" y="4837112"/>
            <a:ext cx="573362" cy="15240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48" name="mg_hbarseg_funnel-chart_0_0_1"/>
          <p:cNvSpPr/>
          <p:nvPr/>
        </p:nvSpPr>
        <p:spPr>
          <a:xfrm>
            <a:off x="3379427" y="4837112"/>
            <a:ext cx="573362" cy="15240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49" name="mg_hbarseg_funnel-chart_0_0_2"/>
          <p:cNvSpPr/>
          <p:nvPr/>
        </p:nvSpPr>
        <p:spPr>
          <a:xfrm>
            <a:off x="3948978" y="4837112"/>
            <a:ext cx="573362" cy="15240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0" name="mg_hbarseg_funnel-chart_0_0_3"/>
          <p:cNvSpPr/>
          <p:nvPr/>
        </p:nvSpPr>
        <p:spPr>
          <a:xfrm>
            <a:off x="4518530" y="4837112"/>
            <a:ext cx="573362" cy="15240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1" name="mg_hbarseg_funnel-chart_0_0_4"/>
          <p:cNvSpPr/>
          <p:nvPr/>
        </p:nvSpPr>
        <p:spPr>
          <a:xfrm>
            <a:off x="5088082" y="4837112"/>
            <a:ext cx="573362" cy="15240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2" name="mg_hbarseg_funnel-chart_0_0_5"/>
          <p:cNvSpPr/>
          <p:nvPr/>
        </p:nvSpPr>
        <p:spPr>
          <a:xfrm>
            <a:off x="5657634" y="4837112"/>
            <a:ext cx="573362" cy="15240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3" name="mg_hbarseg_funnel-chart_0_0_6"/>
          <p:cNvSpPr/>
          <p:nvPr/>
        </p:nvSpPr>
        <p:spPr>
          <a:xfrm>
            <a:off x="6227185" y="4837112"/>
            <a:ext cx="573362" cy="15240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4" name="mg_hbarseg_funnel-chart_0_0_7"/>
          <p:cNvSpPr/>
          <p:nvPr/>
        </p:nvSpPr>
        <p:spPr>
          <a:xfrm>
            <a:off x="6796737" y="4837112"/>
            <a:ext cx="573362" cy="15240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5" name="mg_hbarseg_funnel-chart_0_0_8"/>
          <p:cNvSpPr/>
          <p:nvPr/>
        </p:nvSpPr>
        <p:spPr>
          <a:xfrm>
            <a:off x="7366289" y="4837112"/>
            <a:ext cx="573362" cy="15240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6" name="mg_hbarseg_funnel-chart_0_0_9"/>
          <p:cNvSpPr/>
          <p:nvPr/>
        </p:nvSpPr>
        <p:spPr>
          <a:xfrm>
            <a:off x="7935840" y="4837112"/>
            <a:ext cx="573362" cy="15240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7" name="mg_hbarseg_funnel-chart_0_0_10"/>
          <p:cNvSpPr/>
          <p:nvPr/>
        </p:nvSpPr>
        <p:spPr>
          <a:xfrm>
            <a:off x="8505392" y="4837112"/>
            <a:ext cx="573362" cy="15240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58" name="mg_hbarlabel_funnel-chart_0_0"/>
          <p:cNvSpPr txBox="1"/>
          <p:nvPr/>
        </p:nvSpPr>
        <p:spPr>
          <a:xfrm>
            <a:off x="9122569" y="4799012"/>
            <a:ext cx="476250" cy="2286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3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3,000</a:t>
            </a:r>
            <a:endParaRPr lang="ko-KR" sz="13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59" name="mg_hcat_funnel-chart_1"/>
          <p:cNvSpPr txBox="1"/>
          <p:nvPr/>
        </p:nvSpPr>
        <p:spPr>
          <a:xfrm>
            <a:off x="647700" y="5243512"/>
            <a:ext cx="2066925" cy="1714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1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STEP 2 사례 확산</a:t>
            </a:r>
            <a:endParaRPr lang="ko-KR" sz="11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0" name="mg_hbarseg_funnel-chart_1_0_0"/>
          <p:cNvSpPr/>
          <p:nvPr/>
        </p:nvSpPr>
        <p:spPr>
          <a:xfrm>
            <a:off x="2809875" y="5253038"/>
            <a:ext cx="264855" cy="15240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1" name="mg_hbarseg_funnel-chart_1_0_1"/>
          <p:cNvSpPr/>
          <p:nvPr/>
        </p:nvSpPr>
        <p:spPr>
          <a:xfrm>
            <a:off x="3070920" y="5253038"/>
            <a:ext cx="264855" cy="15240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2" name="mg_hbarseg_funnel-chart_1_0_2"/>
          <p:cNvSpPr/>
          <p:nvPr/>
        </p:nvSpPr>
        <p:spPr>
          <a:xfrm>
            <a:off x="3331964" y="5253038"/>
            <a:ext cx="264855" cy="15240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3" name="mg_hbarseg_funnel-chart_1_0_3"/>
          <p:cNvSpPr/>
          <p:nvPr/>
        </p:nvSpPr>
        <p:spPr>
          <a:xfrm>
            <a:off x="3593009" y="5253038"/>
            <a:ext cx="264855" cy="15240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4" name="mg_hbarlabel_funnel-chart_1_0"/>
          <p:cNvSpPr txBox="1"/>
          <p:nvPr/>
        </p:nvSpPr>
        <p:spPr>
          <a:xfrm>
            <a:off x="3901678" y="5214938"/>
            <a:ext cx="476250" cy="2286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3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500</a:t>
            </a:r>
            <a:endParaRPr lang="ko-KR" sz="13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5" name="mg_hcat_funnel-chart_2"/>
          <p:cNvSpPr txBox="1"/>
          <p:nvPr/>
        </p:nvSpPr>
        <p:spPr>
          <a:xfrm>
            <a:off x="647700" y="5659438"/>
            <a:ext cx="2066925" cy="1714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1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STEP 1 직접 영업</a:t>
            </a:r>
            <a:endParaRPr lang="ko-KR" sz="11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6" name="mg_hbarseg_funnel-chart_2_0_0"/>
          <p:cNvSpPr/>
          <p:nvPr/>
        </p:nvSpPr>
        <p:spPr>
          <a:xfrm>
            <a:off x="2809875" y="5668963"/>
            <a:ext cx="29914" cy="15240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7" name="mg_hbarseg_funnel-chart_2_0_1"/>
          <p:cNvSpPr/>
          <p:nvPr/>
        </p:nvSpPr>
        <p:spPr>
          <a:xfrm>
            <a:off x="2835979" y="5668963"/>
            <a:ext cx="29914" cy="15240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8" name="mg_hbarseg_funnel-chart_2_0_2"/>
          <p:cNvSpPr/>
          <p:nvPr/>
        </p:nvSpPr>
        <p:spPr>
          <a:xfrm>
            <a:off x="2862084" y="5668963"/>
            <a:ext cx="29914" cy="15240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69" name="mg_hbarseg_funnel-chart_2_0_3"/>
          <p:cNvSpPr/>
          <p:nvPr/>
        </p:nvSpPr>
        <p:spPr>
          <a:xfrm>
            <a:off x="2888188" y="5668963"/>
            <a:ext cx="29914" cy="152400"/>
          </a:xfrm>
          <a:prstGeom prst="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70" name="mg_hbarlabel_funnel-chart_2_0"/>
          <p:cNvSpPr txBox="1"/>
          <p:nvPr/>
        </p:nvSpPr>
        <p:spPr>
          <a:xfrm>
            <a:off x="2961918" y="5630863"/>
            <a:ext cx="476250" cy="2286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30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50</a:t>
            </a:r>
            <a:endParaRPr lang="ko-KR" sz="1300">
              <a:latin typeface="Malgun Gothic"/>
              <a:ea typeface="맑은 고딕"/>
              <a:cs typeface="Malgun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clickEffect" fill="hold">
                <p:childTnLst>
                  <p:par>
                    <p:cTn id="3" nodeType="clickEffect" fill="hold" presetClass="entr" presetID="10" presetSubtype="0">
                      <p:childTnLst>
                        <p:animEffect filter="wipe(right)" transition="in">
                          <p:cBhvr additive="repl">
                            <p:cTn id="4" dur="150" nodeType="clickEffect" fill="hold" presetClass="entr" presetID="10" presetSubtype="0">
                              <p:stCondLst>
                                <p:cond delay="120"/>
                              </p:stCondLst>
                            </p:cTn>
                            <p:tgtEl>
                              <p:spTgt spid="47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5" dur="150" nodeType="clickEffect" fill="hold" presetClass="entr" presetID="10" presetSubtype="0">
                              <p:stCondLst>
                                <p:cond delay="138"/>
                              </p:stCondLst>
                            </p:cTn>
                            <p:tgtEl>
                              <p:spTgt spid="48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6" dur="150" nodeType="clickEffect" fill="hold" presetClass="entr" presetID="10" presetSubtype="0">
                              <p:stCondLst>
                                <p:cond delay="156"/>
                              </p:stCondLst>
                            </p:cTn>
                            <p:tgtEl>
                              <p:spTgt spid="49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7" dur="150" nodeType="clickEffect" fill="hold" presetClass="entr" presetID="10" presetSubtype="0">
                              <p:stCondLst>
                                <p:cond delay="174"/>
                              </p:stCondLst>
                            </p:cTn>
                            <p:tgtEl>
                              <p:spTgt spid="50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8" dur="150" nodeType="clickEffect" fill="hold" presetClass="entr" presetID="10" presetSubtype="0">
                              <p:stCondLst>
                                <p:cond delay="192"/>
                              </p:stCondLst>
                            </p:cTn>
                            <p:tgtEl>
                              <p:spTgt spid="51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9" dur="150" nodeType="clickEffect" fill="hold" presetClass="entr" presetID="10" presetSubtype="0">
                              <p:stCondLst>
                                <p:cond delay="210"/>
                              </p:stCondLst>
                            </p:cTn>
                            <p:tgtEl>
                              <p:spTgt spid="52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10" dur="150" nodeType="clickEffect" fill="hold" presetClass="entr" presetID="10" presetSubtype="0">
                              <p:stCondLst>
                                <p:cond delay="228"/>
                              </p:stCondLst>
                            </p:cTn>
                            <p:tgtEl>
                              <p:spTgt spid="53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11" dur="150" nodeType="clickEffect" fill="hold" presetClass="entr" presetID="10" presetSubtype="0">
                              <p:stCondLst>
                                <p:cond delay="245"/>
                              </p:stCondLst>
                            </p:cTn>
                            <p:tgtEl>
                              <p:spTgt spid="60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12" dur="150" nodeType="clickEffect" fill="hold" presetClass="entr" presetID="10" presetSubtype="0">
                              <p:stCondLst>
                                <p:cond delay="246"/>
                              </p:stCondLst>
                            </p:cTn>
                            <p:tgtEl>
                              <p:spTgt spid="54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13" dur="150" nodeType="clickEffect" fill="hold" presetClass="entr" presetID="10" presetSubtype="0">
                              <p:stCondLst>
                                <p:cond delay="263"/>
                              </p:stCondLst>
                            </p:cTn>
                            <p:tgtEl>
                              <p:spTgt spid="61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14" dur="150" nodeType="clickEffect" fill="hold" presetClass="entr" presetID="10" presetSubtype="0">
                              <p:stCondLst>
                                <p:cond delay="264"/>
                              </p:stCondLst>
                            </p:cTn>
                            <p:tgtEl>
                              <p:spTgt spid="55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15" dur="150" nodeType="clickEffect" fill="hold" presetClass="entr" presetID="10" presetSubtype="0">
                              <p:stCondLst>
                                <p:cond delay="281"/>
                              </p:stCondLst>
                            </p:cTn>
                            <p:tgtEl>
                              <p:spTgt spid="62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16" dur="150" nodeType="clickEffect" fill="hold" presetClass="entr" presetID="10" presetSubtype="0">
                              <p:stCondLst>
                                <p:cond delay="282"/>
                              </p:stCondLst>
                            </p:cTn>
                            <p:tgtEl>
                              <p:spTgt spid="56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17" dur="150" nodeType="clickEffect" fill="hold" presetClass="entr" presetID="10" presetSubtype="0">
                              <p:stCondLst>
                                <p:cond delay="299"/>
                              </p:stCondLst>
                            </p:cTn>
                            <p:tgtEl>
                              <p:spTgt spid="63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18" dur="150" nodeType="clickEffect" fill="hold" presetClass="entr" presetID="10" presetSubtype="0">
                              <p:stCondLst>
                                <p:cond delay="300"/>
                              </p:stCondLst>
                            </p:cTn>
                            <p:tgtEl>
                              <p:spTgt spid="57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19" dur="150" nodeType="clickEffect" fill="hold" presetClass="entr" presetID="10" presetSubtype="0">
                              <p:stCondLst>
                                <p:cond delay="362"/>
                              </p:stCondLst>
                            </p:cTn>
                            <p:tgtEl>
                              <p:spTgt spid="64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20" dur="150" nodeType="clickEffect" fill="hold" presetClass="entr" presetID="10" presetSubtype="0">
                              <p:stCondLst>
                                <p:cond delay="363"/>
                              </p:stCondLst>
                            </p:cTn>
                            <p:tgtEl>
                              <p:spTgt spid="58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21" dur="150" nodeType="clickEffect" fill="hold" presetClass="entr" presetID="10" presetSubtype="0">
                              <p:stCondLst>
                                <p:cond delay="370"/>
                              </p:stCondLst>
                            </p:cTn>
                            <p:tgtEl>
                              <p:spTgt spid="66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22" dur="150" nodeType="clickEffect" fill="hold" presetClass="entr" presetID="10" presetSubtype="0">
                              <p:stCondLst>
                                <p:cond delay="388"/>
                              </p:stCondLst>
                            </p:cTn>
                            <p:tgtEl>
                              <p:spTgt spid="67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23" dur="150" nodeType="clickEffect" fill="hold" presetClass="entr" presetID="10" presetSubtype="0">
                              <p:stCondLst>
                                <p:cond delay="406"/>
                              </p:stCondLst>
                            </p:cTn>
                            <p:tgtEl>
                              <p:spTgt spid="68"/>
                            </p:tgtEl>
                          </p:cBhvr>
                        </p:animEffect>
                        <p:animEffect filter="wipe(right)" transition="in">
                          <p:cBhvr additive="repl">
                            <p:cTn id="24" dur="150" nodeType="clickEffect" fill="hold" presetClass="entr" presetID="10" presetSubtype="0">
                              <p:stCondLst>
                                <p:cond delay="424"/>
                              </p:stCondLst>
                            </p:cTn>
                            <p:tgtEl>
                              <p:spTgt spid="69"/>
                            </p:tgtEl>
                          </p:cBhvr>
                        </p:animEffect>
                        <p:animEffect filter="fade" transition="in">
                          <p:cBhvr additive="repl">
                            <p:cTn id="25" dur="150" nodeType="clickEffect" fill="hold" presetClass="entr" presetID="10" presetSubtype="0">
                              <p:stCondLst>
                                <p:cond delay="487"/>
                              </p:stCondLst>
                            </p:cTn>
                            <p:tgtEl>
                              <p:spTgt spid="70"/>
                            </p:tgtEl>
                          </p:cBhvr>
                        </p:animEffect>
                      </p:childTnLst>
                    </p:cTn>
                  </p:par>
                </p:childTnLst>
                <p:prevCondLst>
                  <p:cond evt="onPrev">
                    <p:tgtEl>
                      <p:sldTgt/>
                    </p:tgtEl>
                  </p:cond>
                </p:prevCondLst>
                <p:nextCondLst>
                  <p:cond evt="onNext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gg_peak_pil_render/slides/slide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anim_chart_frame_radar-chart"/>
          <p:cNvSpPr/>
          <p:nvPr/>
        </p:nvSpPr>
        <p:spPr>
          <a:xfrm>
            <a:off x="542925" y="1447800"/>
            <a:ext cx="4629150" cy="3676650"/>
          </a:xfrm>
          <a:prstGeom prst="roundRect">
            <a:avLst/>
          </a:prstGeom>
          <a:noFill/>
          <a:ln w="14605" cap="flat">
            <a:solidFill>
              <a:srgbClr val="7C3AED">
                <a:alpha val="26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1" name="anim_radar_focus_radar-chart"/>
          <p:cNvSpPr/>
          <p:nvPr/>
        </p:nvSpPr>
        <p:spPr>
          <a:xfrm>
            <a:off x="1806892" y="2399348"/>
            <a:ext cx="1918335" cy="1918335"/>
          </a:xfrm>
          <a:prstGeom prst="ellipse">
            <a:avLst/>
          </a:prstGeom>
          <a:solidFill>
            <a:srgbClr val="7C3AED">
              <a:alpha val="4500"/>
            </a:srgbClr>
          </a:solidFill>
          <a:ln w="19050" cap="flat">
            <a:solidFill>
              <a:srgbClr val="FBBF24">
                <a:alpha val="30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2" name="anim_radar_node_radar-chart_0"/>
          <p:cNvSpPr/>
          <p:nvPr/>
        </p:nvSpPr>
        <p:spPr>
          <a:xfrm>
            <a:off x="2726055" y="2455259"/>
            <a:ext cx="80010" cy="80010"/>
          </a:xfrm>
          <a:prstGeom prst="ellipse">
            <a:avLst/>
          </a:prstGeom>
          <a:solidFill>
            <a:srgbClr val="FBBF24">
              <a:alpha val="42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3" name="anim_radar_node_radar-chart_1"/>
          <p:cNvSpPr/>
          <p:nvPr/>
        </p:nvSpPr>
        <p:spPr>
          <a:xfrm>
            <a:off x="3550939" y="3126677"/>
            <a:ext cx="80010" cy="80010"/>
          </a:xfrm>
          <a:prstGeom prst="ellipse">
            <a:avLst/>
          </a:prstGeom>
          <a:solidFill>
            <a:srgbClr val="FBBF24">
              <a:alpha val="42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4" name="anim_radar_node_radar-chart_2"/>
          <p:cNvSpPr/>
          <p:nvPr/>
        </p:nvSpPr>
        <p:spPr>
          <a:xfrm>
            <a:off x="3148089" y="4124211"/>
            <a:ext cx="80010" cy="80010"/>
          </a:xfrm>
          <a:prstGeom prst="ellipse">
            <a:avLst/>
          </a:prstGeom>
          <a:solidFill>
            <a:srgbClr val="FBBF24">
              <a:alpha val="42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5" name="anim_radar_node_radar-chart_3"/>
          <p:cNvSpPr/>
          <p:nvPr/>
        </p:nvSpPr>
        <p:spPr>
          <a:xfrm>
            <a:off x="1997088" y="3798094"/>
            <a:ext cx="80010" cy="80010"/>
          </a:xfrm>
          <a:prstGeom prst="ellipse">
            <a:avLst/>
          </a:prstGeom>
          <a:solidFill>
            <a:srgbClr val="FBBF24">
              <a:alpha val="42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6" name="anim_radar_node_radar-chart_4"/>
          <p:cNvSpPr/>
          <p:nvPr/>
        </p:nvSpPr>
        <p:spPr>
          <a:xfrm>
            <a:off x="1920354" y="2973210"/>
            <a:ext cx="80010" cy="80010"/>
          </a:xfrm>
          <a:prstGeom prst="ellipse">
            <a:avLst/>
          </a:prstGeom>
          <a:solidFill>
            <a:srgbClr val="FBBF24">
              <a:alpha val="42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7" name="mg_cover_radar-chart"/>
          <p:cNvSpPr/>
          <p:nvPr/>
        </p:nvSpPr>
        <p:spPr>
          <a:xfrm>
            <a:off x="571500" y="1476375"/>
            <a:ext cx="4572000" cy="36195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E5E7EB"/>
            </a:solidFill>
          </a:ln>
          <a:effectLst>
            <a:outerShdw blurRad="76200" dist="19050" dir="5400000" algn="ctr" rotWithShape="0">
              <a:srgbClr val="000000">
                <a:alpha val="18000"/>
              </a:srgbClr>
            </a:outerShdw>
          </a:effectLst>
        </p:spPr>
      </p:sp>
      <p:sp>
        <p:nvSpPr>
          <p:cNvPr id="28" name="mg_radar_title_radar-chart"/>
          <p:cNvSpPr txBox="1"/>
          <p:nvPr/>
        </p:nvSpPr>
        <p:spPr>
          <a:xfrm>
            <a:off x="685800" y="1571625"/>
            <a:ext cx="4343400" cy="20955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400" kern="1200" b="1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에그피크 경쟁 우위 레이더</a:t>
            </a:r>
            <a:endParaRPr lang="ko-KR" sz="140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29" name="mg_radar_legend_sq_0"/>
          <p:cNvSpPr/>
          <p:nvPr/>
        </p:nvSpPr>
        <p:spPr>
          <a:xfrm>
            <a:off x="1333500" y="1924050"/>
            <a:ext cx="85725" cy="85725"/>
          </a:xfrm>
          <a:prstGeom prst="roundRect">
            <a:avLst/>
          </a:prstGeom>
          <a:solidFill>
            <a:srgbClr val="FBBF24"/>
          </a:solidFill>
          <a:ln w="0" cap="flat">
            <a:noFill/>
          </a:ln>
        </p:spPr>
      </p:sp>
      <p:sp>
        <p:nvSpPr>
          <p:cNvPr id="30" name="mg_radar_legend_tx_0"/>
          <p:cNvSpPr txBox="1"/>
          <p:nvPr/>
        </p:nvSpPr>
        <p:spPr>
          <a:xfrm>
            <a:off x="1466850" y="1876425"/>
            <a:ext cx="139065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에그피크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31" name="mg_radar_legend_sq_1"/>
          <p:cNvSpPr/>
          <p:nvPr/>
        </p:nvSpPr>
        <p:spPr>
          <a:xfrm>
            <a:off x="2857500" y="1924050"/>
            <a:ext cx="85725" cy="85725"/>
          </a:xfrm>
          <a:prstGeom prst="roundRect">
            <a:avLst/>
          </a:prstGeom>
          <a:solidFill>
            <a:srgbClr val="9CA3AF"/>
          </a:solidFill>
          <a:ln w="0" cap="flat">
            <a:noFill/>
          </a:ln>
        </p:spPr>
      </p:sp>
      <p:sp>
        <p:nvSpPr>
          <p:cNvPr id="32" name="mg_radar_legend_tx_1"/>
          <p:cNvSpPr txBox="1"/>
          <p:nvPr/>
        </p:nvSpPr>
        <p:spPr>
          <a:xfrm>
            <a:off x="2990850" y="1876425"/>
            <a:ext cx="1390650" cy="1905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경쟁사 평균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33" name="mg_radar_grid_0.25_0"/>
          <p:cNvSpPr/>
          <p:nvPr/>
        </p:nvSpPr>
        <p:spPr>
          <a:xfrm>
            <a:off x="2857500" y="3304222"/>
            <a:ext cx="235093" cy="135731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34" name="mg_radar_grid_0.25_1"/>
          <p:cNvSpPr/>
          <p:nvPr/>
        </p:nvSpPr>
        <p:spPr>
          <a:xfrm>
            <a:off x="3092593" y="3439954"/>
            <a:ext cx="0" cy="271462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35" name="mg_radar_grid_0.25_2"/>
          <p:cNvSpPr/>
          <p:nvPr/>
        </p:nvSpPr>
        <p:spPr>
          <a:xfrm flipH="1">
            <a:off x="2857500" y="3711416"/>
            <a:ext cx="235093" cy="135731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36" name="mg_radar_grid_0.25_3"/>
          <p:cNvSpPr/>
          <p:nvPr/>
        </p:nvSpPr>
        <p:spPr>
          <a:xfrm flipH="1" flipV="1">
            <a:off x="2622407" y="3711416"/>
            <a:ext cx="235093" cy="135731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37" name="mg_radar_grid_0.25_4"/>
          <p:cNvSpPr/>
          <p:nvPr/>
        </p:nvSpPr>
        <p:spPr>
          <a:xfrm flipV="1">
            <a:off x="2622407" y="3439954"/>
            <a:ext cx="0" cy="271462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38" name="mg_radar_grid_0.25_5"/>
          <p:cNvSpPr/>
          <p:nvPr/>
        </p:nvSpPr>
        <p:spPr>
          <a:xfrm flipV="1">
            <a:off x="2622407" y="3304222"/>
            <a:ext cx="235093" cy="135731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39" name="mg_radar_grid_0.5_0"/>
          <p:cNvSpPr/>
          <p:nvPr/>
        </p:nvSpPr>
        <p:spPr>
          <a:xfrm>
            <a:off x="2857500" y="3032760"/>
            <a:ext cx="470187" cy="271462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40" name="mg_radar_grid_0.5_1"/>
          <p:cNvSpPr/>
          <p:nvPr/>
        </p:nvSpPr>
        <p:spPr>
          <a:xfrm>
            <a:off x="3327687" y="3304222"/>
            <a:ext cx="0" cy="542925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41" name="mg_radar_grid_0.5_2"/>
          <p:cNvSpPr/>
          <p:nvPr/>
        </p:nvSpPr>
        <p:spPr>
          <a:xfrm flipH="1">
            <a:off x="2857500" y="3847148"/>
            <a:ext cx="470187" cy="271462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42" name="mg_radar_grid_0.5_3"/>
          <p:cNvSpPr/>
          <p:nvPr/>
        </p:nvSpPr>
        <p:spPr>
          <a:xfrm flipH="1" flipV="1">
            <a:off x="2387313" y="3847148"/>
            <a:ext cx="470187" cy="271462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43" name="mg_radar_grid_0.5_4"/>
          <p:cNvSpPr/>
          <p:nvPr/>
        </p:nvSpPr>
        <p:spPr>
          <a:xfrm flipV="1">
            <a:off x="2387313" y="3304222"/>
            <a:ext cx="0" cy="542925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44" name="mg_radar_grid_0.5_5"/>
          <p:cNvSpPr/>
          <p:nvPr/>
        </p:nvSpPr>
        <p:spPr>
          <a:xfrm flipV="1">
            <a:off x="2387313" y="3032760"/>
            <a:ext cx="470187" cy="271462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45" name="mg_radar_grid_0.75_0"/>
          <p:cNvSpPr/>
          <p:nvPr/>
        </p:nvSpPr>
        <p:spPr>
          <a:xfrm>
            <a:off x="2857500" y="2761298"/>
            <a:ext cx="705280" cy="407194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46" name="mg_radar_grid_0.75_1"/>
          <p:cNvSpPr/>
          <p:nvPr/>
        </p:nvSpPr>
        <p:spPr>
          <a:xfrm>
            <a:off x="3562780" y="3168491"/>
            <a:ext cx="0" cy="814388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47" name="mg_radar_grid_0.75_2"/>
          <p:cNvSpPr/>
          <p:nvPr/>
        </p:nvSpPr>
        <p:spPr>
          <a:xfrm flipH="1">
            <a:off x="2857500" y="3982879"/>
            <a:ext cx="705280" cy="407194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48" name="mg_radar_grid_0.75_3"/>
          <p:cNvSpPr/>
          <p:nvPr/>
        </p:nvSpPr>
        <p:spPr>
          <a:xfrm flipH="1" flipV="1">
            <a:off x="2152220" y="3982879"/>
            <a:ext cx="705280" cy="407194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49" name="mg_radar_grid_0.75_4"/>
          <p:cNvSpPr/>
          <p:nvPr/>
        </p:nvSpPr>
        <p:spPr>
          <a:xfrm flipH="1" flipV="1">
            <a:off x="2152220" y="3168491"/>
            <a:ext cx="0" cy="814388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50" name="mg_radar_grid_0.75_5"/>
          <p:cNvSpPr/>
          <p:nvPr/>
        </p:nvSpPr>
        <p:spPr>
          <a:xfrm flipV="1">
            <a:off x="2152220" y="2761298"/>
            <a:ext cx="705280" cy="407194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51" name="mg_radar_grid_1.0_0"/>
          <p:cNvSpPr/>
          <p:nvPr/>
        </p:nvSpPr>
        <p:spPr>
          <a:xfrm>
            <a:off x="2857500" y="2489835"/>
            <a:ext cx="940374" cy="542925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52" name="mg_radar_grid_1.0_1"/>
          <p:cNvSpPr/>
          <p:nvPr/>
        </p:nvSpPr>
        <p:spPr>
          <a:xfrm>
            <a:off x="3797874" y="3032760"/>
            <a:ext cx="0" cy="1085850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53" name="mg_radar_grid_1.0_2"/>
          <p:cNvSpPr/>
          <p:nvPr/>
        </p:nvSpPr>
        <p:spPr>
          <a:xfrm flipH="1">
            <a:off x="2857500" y="4118610"/>
            <a:ext cx="940374" cy="542925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54" name="mg_radar_grid_1.0_3"/>
          <p:cNvSpPr/>
          <p:nvPr/>
        </p:nvSpPr>
        <p:spPr>
          <a:xfrm flipH="1" flipV="1">
            <a:off x="1917126" y="4118610"/>
            <a:ext cx="940374" cy="542925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55" name="mg_radar_grid_1.0_4"/>
          <p:cNvSpPr/>
          <p:nvPr/>
        </p:nvSpPr>
        <p:spPr>
          <a:xfrm flipV="1">
            <a:off x="1917126" y="3032760"/>
            <a:ext cx="0" cy="1085850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56" name="mg_radar_grid_1.0_5"/>
          <p:cNvSpPr/>
          <p:nvPr/>
        </p:nvSpPr>
        <p:spPr>
          <a:xfrm flipV="1">
            <a:off x="1917126" y="2489835"/>
            <a:ext cx="940374" cy="542925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57" name="mg_radar_axis_0"/>
          <p:cNvSpPr/>
          <p:nvPr/>
        </p:nvSpPr>
        <p:spPr>
          <a:xfrm flipV="1">
            <a:off x="2857500" y="2489835"/>
            <a:ext cx="0" cy="1085850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58" name="mg_radar_label_0"/>
          <p:cNvSpPr txBox="1"/>
          <p:nvPr/>
        </p:nvSpPr>
        <p:spPr>
          <a:xfrm>
            <a:off x="2362200" y="1975485"/>
            <a:ext cx="990600" cy="3810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AI 분석</a:t>
            </a:r>
            <a:endParaRPr lang="ko-KR" sz="1050">
              <a:latin typeface="Malgun Gothic"/>
              <a:ea typeface="맑은 고딕"/>
              <a:cs typeface="Malgun Gothic"/>
            </a:endParaRPr>
          </a:p>
          <a:p>
            <a:pPr algn="ctr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역량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59" name="mg_radar_axis_1"/>
          <p:cNvSpPr/>
          <p:nvPr/>
        </p:nvSpPr>
        <p:spPr>
          <a:xfrm flipV="1">
            <a:off x="2857500" y="3032760"/>
            <a:ext cx="940374" cy="542925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60" name="mg_radar_label_1"/>
          <p:cNvSpPr txBox="1"/>
          <p:nvPr/>
        </p:nvSpPr>
        <p:spPr>
          <a:xfrm>
            <a:off x="4226816" y="2680335"/>
            <a:ext cx="990600" cy="3810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현장</a:t>
            </a:r>
            <a:endParaRPr lang="ko-KR" sz="1050">
              <a:latin typeface="Malgun Gothic"/>
              <a:ea typeface="맑은 고딕"/>
              <a:cs typeface="Malgun Gothic"/>
            </a:endParaRPr>
          </a:p>
          <a:p>
            <a:pPr algn="l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전문성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1" name="mg_radar_axis_2"/>
          <p:cNvSpPr/>
          <p:nvPr/>
        </p:nvSpPr>
        <p:spPr>
          <a:xfrm>
            <a:off x="2857500" y="3575685"/>
            <a:ext cx="940374" cy="542925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62" name="mg_radar_label_2"/>
          <p:cNvSpPr txBox="1"/>
          <p:nvPr/>
        </p:nvSpPr>
        <p:spPr>
          <a:xfrm>
            <a:off x="4226816" y="4090035"/>
            <a:ext cx="990600" cy="3810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l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지식재산</a:t>
            </a:r>
            <a:endParaRPr lang="ko-KR" sz="1050">
              <a:latin typeface="Malgun Gothic"/>
              <a:ea typeface="맑은 고딕"/>
              <a:cs typeface="Malgun Gothic"/>
            </a:endParaRPr>
          </a:p>
          <a:p>
            <a:pPr algn="l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포트폴리오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3" name="mg_radar_axis_3"/>
          <p:cNvSpPr/>
          <p:nvPr/>
        </p:nvSpPr>
        <p:spPr>
          <a:xfrm>
            <a:off x="2857500" y="3575685"/>
            <a:ext cx="0" cy="1085850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64" name="mg_radar_label_3"/>
          <p:cNvSpPr txBox="1"/>
          <p:nvPr/>
        </p:nvSpPr>
        <p:spPr>
          <a:xfrm>
            <a:off x="2362200" y="4794885"/>
            <a:ext cx="990600" cy="3810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ctr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역량</a:t>
            </a:r>
            <a:endParaRPr lang="ko-KR" sz="1050">
              <a:latin typeface="Malgun Gothic"/>
              <a:ea typeface="맑은 고딕"/>
              <a:cs typeface="Malgun Gothic"/>
            </a:endParaRPr>
          </a:p>
          <a:p>
            <a:pPr algn="ctr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내재화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5" name="mg_radar_axis_4"/>
          <p:cNvSpPr/>
          <p:nvPr/>
        </p:nvSpPr>
        <p:spPr>
          <a:xfrm flipH="1">
            <a:off x="1917126" y="3575685"/>
            <a:ext cx="940374" cy="542925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66" name="mg_radar_label_4"/>
          <p:cNvSpPr txBox="1"/>
          <p:nvPr/>
        </p:nvSpPr>
        <p:spPr>
          <a:xfrm>
            <a:off x="497584" y="4090035"/>
            <a:ext cx="990600" cy="3810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실제</a:t>
            </a:r>
            <a:endParaRPr lang="ko-KR" sz="1050">
              <a:latin typeface="Malgun Gothic"/>
              <a:ea typeface="맑은 고딕"/>
              <a:cs typeface="Malgun Gothic"/>
            </a:endParaRPr>
          </a:p>
          <a:p>
            <a:pPr algn="r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검증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7" name="mg_radar_axis_5"/>
          <p:cNvSpPr/>
          <p:nvPr/>
        </p:nvSpPr>
        <p:spPr>
          <a:xfrm flipH="1" flipV="1">
            <a:off x="1917126" y="3032760"/>
            <a:ext cx="940374" cy="542925"/>
          </a:xfrm>
          <a:prstGeom prst="line">
            <a:avLst/>
          </a:prstGeom>
          <a:ln w="7620" cap="flat">
            <a:solidFill>
              <a:srgbClr val="E5E7EB">
                <a:alpha val="60000"/>
              </a:srgbClr>
            </a:solidFill>
          </a:ln>
        </p:spPr>
      </p:sp>
      <p:sp>
        <p:nvSpPr>
          <p:cNvPr id="68" name="mg_radar_label_5"/>
          <p:cNvSpPr txBox="1"/>
          <p:nvPr/>
        </p:nvSpPr>
        <p:spPr>
          <a:xfrm>
            <a:off x="497584" y="2680335"/>
            <a:ext cx="990600" cy="381000"/>
          </a:xfrm>
          <a:prstGeom prst="rect">
            <a:avLst/>
          </a:prstGeom>
          <a:noFill/>
          <a:ln w="0" cap="flat">
            <a:noFill/>
          </a:ln>
        </p:spPr>
        <p:txBody>
          <a:bodyPr wrap="square" lIns="0" tIns="0" rIns="0" bIns="0" anchor="ctr"/>
          <a:lstStyle/>
          <a:p>
            <a:pPr algn="r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수익</a:t>
            </a:r>
            <a:endParaRPr lang="ko-KR" sz="1050">
              <a:latin typeface="Malgun Gothic"/>
              <a:ea typeface="맑은 고딕"/>
              <a:cs typeface="Malgun Gothic"/>
            </a:endParaRPr>
          </a:p>
          <a:p>
            <a:pPr algn="r" eaLnBrk="0" latinLnBrk="0" hangingPunct="0"/>
            <a:r>
              <a:rPr lang="ko-KR" sz="1050" kern="1200">
                <a:solidFill>
                  <a:srgbClr val="1F1F2E"/>
                </a:solidFill>
                <a:latin typeface="Malgun Gothic"/>
                <a:ea typeface="맑은 고딕"/>
                <a:cs typeface="Malgun Gothic"/>
              </a:rPr>
              <a:t>창출</a:t>
            </a:r>
            <a:endParaRPr lang="ko-KR" sz="1050">
              <a:latin typeface="Malgun Gothic"/>
              <a:ea typeface="맑은 고딕"/>
              <a:cs typeface="Malgun Gothic"/>
            </a:endParaRPr>
          </a:p>
        </p:txBody>
      </p:sp>
      <p:sp>
        <p:nvSpPr>
          <p:cNvPr id="69" name="mg_radar_poly_egg"/>
          <p:cNvSpPr/>
          <p:nvPr/>
        </p:nvSpPr>
        <p:spPr>
          <a:xfrm>
            <a:off x="2011164" y="2544127"/>
            <a:ext cx="1692673" cy="2030540"/>
          </a:xfrm>
          <a:custGeom>
            <a:avLst/>
            <a:gdLst/>
            <a:ahLst/>
            <a:cxnLst/>
            <a:rect l="l" t="t" r="r" b="b"/>
            <a:pathLst>
              <a:path w="1692673" h="2030540">
                <a:moveTo>
                  <a:pt x="846336" y="0"/>
                </a:moveTo>
                <a:lnTo>
                  <a:pt x="1692673" y="542925"/>
                </a:lnTo>
                <a:lnTo>
                  <a:pt x="1645654" y="1493044"/>
                </a:lnTo>
                <a:lnTo>
                  <a:pt x="846336" y="2030540"/>
                </a:lnTo>
                <a:lnTo>
                  <a:pt x="18807" y="1509332"/>
                </a:lnTo>
                <a:lnTo>
                  <a:pt x="0" y="542925"/>
                </a:lnTo>
                <a:close/>
              </a:path>
            </a:pathLst>
          </a:custGeom>
          <a:solidFill>
            <a:srgbClr val="FBBF24">
              <a:alpha val="13000"/>
            </a:srgbClr>
          </a:solidFill>
          <a:ln w="16510" cap="flat">
            <a:solidFill>
              <a:srgbClr val="FBBF24">
                <a:alpha val="65000"/>
              </a:srgbClr>
            </a:solidFill>
          </a:ln>
        </p:spPr>
      </p:sp>
      <p:sp>
        <p:nvSpPr>
          <p:cNvPr id="70" name="mg_radar_dot_egg_0"/>
          <p:cNvSpPr/>
          <p:nvPr/>
        </p:nvSpPr>
        <p:spPr>
          <a:xfrm>
            <a:off x="2833688" y="2520315"/>
            <a:ext cx="47625" cy="47625"/>
          </a:xfrm>
          <a:prstGeom prst="ellipse">
            <a:avLst/>
          </a:prstGeom>
          <a:solidFill>
            <a:srgbClr val="FBBF24"/>
          </a:solidFill>
          <a:ln w="6350" cap="flat">
            <a:solidFill>
              <a:srgbClr val="FFFFFF"/>
            </a:solidFill>
          </a:ln>
        </p:spPr>
      </p:sp>
      <p:sp>
        <p:nvSpPr>
          <p:cNvPr id="71" name="mg_radar_dot_egg_1"/>
          <p:cNvSpPr/>
          <p:nvPr/>
        </p:nvSpPr>
        <p:spPr>
          <a:xfrm>
            <a:off x="3680024" y="3063240"/>
            <a:ext cx="47625" cy="47625"/>
          </a:xfrm>
          <a:prstGeom prst="ellipse">
            <a:avLst/>
          </a:prstGeom>
          <a:solidFill>
            <a:srgbClr val="FBBF24"/>
          </a:solidFill>
          <a:ln w="6350" cap="flat">
            <a:solidFill>
              <a:srgbClr val="FFFFFF"/>
            </a:solidFill>
          </a:ln>
        </p:spPr>
      </p:sp>
      <p:sp>
        <p:nvSpPr>
          <p:cNvPr id="72" name="mg_radar_dot_egg_2"/>
          <p:cNvSpPr/>
          <p:nvPr/>
        </p:nvSpPr>
        <p:spPr>
          <a:xfrm>
            <a:off x="3633005" y="4013359"/>
            <a:ext cx="47625" cy="47625"/>
          </a:xfrm>
          <a:prstGeom prst="ellipse">
            <a:avLst/>
          </a:prstGeom>
          <a:solidFill>
            <a:srgbClr val="FBBF24"/>
          </a:solidFill>
          <a:ln w="6350" cap="flat">
            <a:solidFill>
              <a:srgbClr val="FFFFFF"/>
            </a:solidFill>
          </a:ln>
        </p:spPr>
      </p:sp>
      <p:sp>
        <p:nvSpPr>
          <p:cNvPr id="73" name="mg_radar_dot_egg_3"/>
          <p:cNvSpPr/>
          <p:nvPr/>
        </p:nvSpPr>
        <p:spPr>
          <a:xfrm>
            <a:off x="2833688" y="4550854"/>
            <a:ext cx="47625" cy="47625"/>
          </a:xfrm>
          <a:prstGeom prst="ellipse">
            <a:avLst/>
          </a:prstGeom>
          <a:solidFill>
            <a:srgbClr val="FBBF24"/>
          </a:solidFill>
          <a:ln w="6350" cap="flat">
            <a:solidFill>
              <a:srgbClr val="FFFFFF"/>
            </a:solidFill>
          </a:ln>
        </p:spPr>
      </p:sp>
      <p:sp>
        <p:nvSpPr>
          <p:cNvPr id="74" name="mg_radar_dot_egg_4"/>
          <p:cNvSpPr/>
          <p:nvPr/>
        </p:nvSpPr>
        <p:spPr>
          <a:xfrm>
            <a:off x="2006159" y="4029646"/>
            <a:ext cx="47625" cy="47625"/>
          </a:xfrm>
          <a:prstGeom prst="ellipse">
            <a:avLst/>
          </a:prstGeom>
          <a:solidFill>
            <a:srgbClr val="FBBF24"/>
          </a:solidFill>
          <a:ln w="6350" cap="flat">
            <a:solidFill>
              <a:srgbClr val="FFFFFF"/>
            </a:solidFill>
          </a:ln>
        </p:spPr>
      </p:sp>
      <p:sp>
        <p:nvSpPr>
          <p:cNvPr id="75" name="mg_radar_dot_egg_5"/>
          <p:cNvSpPr/>
          <p:nvPr/>
        </p:nvSpPr>
        <p:spPr>
          <a:xfrm>
            <a:off x="1987351" y="3063240"/>
            <a:ext cx="47625" cy="47625"/>
          </a:xfrm>
          <a:prstGeom prst="ellipse">
            <a:avLst/>
          </a:prstGeom>
          <a:solidFill>
            <a:srgbClr val="FBBF24"/>
          </a:solidFill>
          <a:ln w="6350" cap="flat">
            <a:solidFill>
              <a:srgbClr val="FFFFFF"/>
            </a:solidFill>
          </a:ln>
        </p:spPr>
      </p:sp>
      <p:sp>
        <p:nvSpPr>
          <p:cNvPr id="76" name="mg_radar_poly_competitor"/>
          <p:cNvSpPr/>
          <p:nvPr/>
        </p:nvSpPr>
        <p:spPr>
          <a:xfrm>
            <a:off x="2528369" y="2924175"/>
            <a:ext cx="799318" cy="1248727"/>
          </a:xfrm>
          <a:custGeom>
            <a:avLst/>
            <a:gdLst/>
            <a:ahLst/>
            <a:cxnLst/>
            <a:rect l="l" t="t" r="r" b="b"/>
            <a:pathLst>
              <a:path w="799318" h="1248727">
                <a:moveTo>
                  <a:pt x="329131" y="0"/>
                </a:moveTo>
                <a:lnTo>
                  <a:pt x="705280" y="434340"/>
                </a:lnTo>
                <a:lnTo>
                  <a:pt x="799318" y="922972"/>
                </a:lnTo>
                <a:lnTo>
                  <a:pt x="329131" y="1248727"/>
                </a:lnTo>
                <a:lnTo>
                  <a:pt x="47019" y="814388"/>
                </a:lnTo>
                <a:lnTo>
                  <a:pt x="0" y="461486"/>
                </a:lnTo>
                <a:close/>
              </a:path>
            </a:pathLst>
          </a:custGeom>
          <a:solidFill>
            <a:srgbClr val="9CA3AF">
              <a:alpha val="17000"/>
            </a:srgbClr>
          </a:solidFill>
          <a:ln w="21590" cap="flat">
            <a:solidFill>
              <a:srgbClr val="9CA3AF"/>
            </a:solidFill>
          </a:ln>
        </p:spPr>
      </p:sp>
      <p:sp>
        <p:nvSpPr>
          <p:cNvPr id="77" name="mg_radar_dot_competitor_0"/>
          <p:cNvSpPr/>
          <p:nvPr/>
        </p:nvSpPr>
        <p:spPr>
          <a:xfrm>
            <a:off x="2824162" y="2890838"/>
            <a:ext cx="66675" cy="66675"/>
          </a:xfrm>
          <a:prstGeom prst="ellipse">
            <a:avLst/>
          </a:prstGeom>
          <a:solidFill>
            <a:srgbClr val="9CA3AF"/>
          </a:solidFill>
          <a:ln w="6350" cap="flat">
            <a:solidFill>
              <a:srgbClr val="FFFFFF"/>
            </a:solidFill>
          </a:ln>
          <a:effectLst>
            <a:glow rad="47625">
              <a:srgbClr val="FBBF24">
                <a:alpha val="26000"/>
              </a:srgbClr>
            </a:glow>
          </a:effectLst>
        </p:spPr>
      </p:sp>
      <p:sp>
        <p:nvSpPr>
          <p:cNvPr id="78" name="mg_radar_dot_competitor_1"/>
          <p:cNvSpPr/>
          <p:nvPr/>
        </p:nvSpPr>
        <p:spPr>
          <a:xfrm>
            <a:off x="3200312" y="3325177"/>
            <a:ext cx="66675" cy="66675"/>
          </a:xfrm>
          <a:prstGeom prst="ellipse">
            <a:avLst/>
          </a:prstGeom>
          <a:solidFill>
            <a:srgbClr val="9CA3AF"/>
          </a:solidFill>
          <a:ln w="6350" cap="flat">
            <a:solidFill>
              <a:srgbClr val="FFFFFF"/>
            </a:solidFill>
          </a:ln>
          <a:effectLst>
            <a:glow rad="47625">
              <a:srgbClr val="FBBF24">
                <a:alpha val="26000"/>
              </a:srgbClr>
            </a:glow>
          </a:effectLst>
        </p:spPr>
      </p:sp>
      <p:sp>
        <p:nvSpPr>
          <p:cNvPr id="79" name="mg_radar_dot_competitor_2"/>
          <p:cNvSpPr/>
          <p:nvPr/>
        </p:nvSpPr>
        <p:spPr>
          <a:xfrm>
            <a:off x="3294349" y="3813810"/>
            <a:ext cx="66675" cy="66675"/>
          </a:xfrm>
          <a:prstGeom prst="ellipse">
            <a:avLst/>
          </a:prstGeom>
          <a:solidFill>
            <a:srgbClr val="9CA3AF"/>
          </a:solidFill>
          <a:ln w="6350" cap="flat">
            <a:solidFill>
              <a:srgbClr val="FFFFFF"/>
            </a:solidFill>
          </a:ln>
          <a:effectLst>
            <a:glow rad="47625">
              <a:srgbClr val="FBBF24">
                <a:alpha val="26000"/>
              </a:srgbClr>
            </a:glow>
          </a:effectLst>
        </p:spPr>
      </p:sp>
      <p:sp>
        <p:nvSpPr>
          <p:cNvPr id="80" name="mg_radar_dot_competitor_3"/>
          <p:cNvSpPr/>
          <p:nvPr/>
        </p:nvSpPr>
        <p:spPr>
          <a:xfrm>
            <a:off x="2824162" y="4139565"/>
            <a:ext cx="66675" cy="66675"/>
          </a:xfrm>
          <a:prstGeom prst="ellipse">
            <a:avLst/>
          </a:prstGeom>
          <a:solidFill>
            <a:srgbClr val="9CA3AF"/>
          </a:solidFill>
          <a:ln w="6350" cap="flat">
            <a:solidFill>
              <a:srgbClr val="FFFFFF"/>
            </a:solidFill>
          </a:ln>
          <a:effectLst>
            <a:glow rad="47625">
              <a:srgbClr val="FBBF24">
                <a:alpha val="26000"/>
              </a:srgbClr>
            </a:glow>
          </a:effectLst>
        </p:spPr>
      </p:sp>
      <p:sp>
        <p:nvSpPr>
          <p:cNvPr id="81" name="mg_radar_dot_competitor_4"/>
          <p:cNvSpPr/>
          <p:nvPr/>
        </p:nvSpPr>
        <p:spPr>
          <a:xfrm>
            <a:off x="2542050" y="3705225"/>
            <a:ext cx="66675" cy="66675"/>
          </a:xfrm>
          <a:prstGeom prst="ellipse">
            <a:avLst/>
          </a:prstGeom>
          <a:solidFill>
            <a:srgbClr val="9CA3AF"/>
          </a:solidFill>
          <a:ln w="6350" cap="flat">
            <a:solidFill>
              <a:srgbClr val="FFFFFF"/>
            </a:solidFill>
          </a:ln>
          <a:effectLst>
            <a:glow rad="47625">
              <a:srgbClr val="FBBF24">
                <a:alpha val="26000"/>
              </a:srgbClr>
            </a:glow>
          </a:effectLst>
        </p:spPr>
      </p:sp>
      <p:sp>
        <p:nvSpPr>
          <p:cNvPr id="82" name="mg_radar_dot_competitor_5"/>
          <p:cNvSpPr/>
          <p:nvPr/>
        </p:nvSpPr>
        <p:spPr>
          <a:xfrm>
            <a:off x="2495032" y="3352324"/>
            <a:ext cx="66675" cy="66675"/>
          </a:xfrm>
          <a:prstGeom prst="ellipse">
            <a:avLst/>
          </a:prstGeom>
          <a:solidFill>
            <a:srgbClr val="9CA3AF"/>
          </a:solidFill>
          <a:ln w="6350" cap="flat">
            <a:solidFill>
              <a:srgbClr val="FFFFFF"/>
            </a:solidFill>
          </a:ln>
          <a:effectLst>
            <a:glow rad="47625">
              <a:srgbClr val="FBBF24">
                <a:alpha val="26000"/>
              </a:srgbClr>
            </a:glow>
          </a:effectLst>
        </p:spPr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gg_peak_pil_render/slides/slide_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anim_chapter_bar"/>
          <p:cNvSpPr/>
          <p:nvPr/>
        </p:nvSpPr>
        <p:spPr>
          <a:xfrm>
            <a:off x="1000125" y="2476500"/>
            <a:ext cx="876300" cy="38100"/>
          </a:xfrm>
          <a:prstGeom prst="roundRect">
            <a:avLst/>
          </a:prstGeom>
          <a:solidFill>
            <a:srgbClr val="FBBF24">
              <a:alpha val="43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1" name="anim_chapter_orb"/>
          <p:cNvSpPr/>
          <p:nvPr/>
        </p:nvSpPr>
        <p:spPr>
          <a:xfrm>
            <a:off x="8667750" y="4524375"/>
            <a:ext cx="647700" cy="647700"/>
          </a:xfrm>
          <a:prstGeom prst="ellipse">
            <a:avLst/>
          </a:prstGeom>
          <a:solidFill>
            <a:srgbClr val="FBBF24">
              <a:alpha val="2800"/>
            </a:srgbClr>
          </a:solidFill>
          <a:ln w="8890" cap="flat">
            <a:solidFill>
              <a:srgbClr val="FBBF24">
                <a:alpha val="12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gg_peak_pil_render/slides/slide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anim_chart_frame_revenue_chart"/>
          <p:cNvSpPr/>
          <p:nvPr/>
        </p:nvSpPr>
        <p:spPr>
          <a:xfrm>
            <a:off x="828675" y="3400425"/>
            <a:ext cx="10534650" cy="2628900"/>
          </a:xfrm>
          <a:prstGeom prst="roundRect">
            <a:avLst/>
          </a:prstGeom>
          <a:noFill/>
          <a:ln w="14605" cap="flat">
            <a:solidFill>
              <a:srgbClr val="FBBF24">
                <a:alpha val="26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1" name="anim_chart_baseline_revenue_chart"/>
          <p:cNvSpPr/>
          <p:nvPr/>
        </p:nvSpPr>
        <p:spPr>
          <a:xfrm>
            <a:off x="1104900" y="5676900"/>
            <a:ext cx="9982200" cy="115729"/>
          </a:xfrm>
          <a:prstGeom prst="roundRect">
            <a:avLst/>
          </a:prstGeom>
          <a:solidFill>
            <a:srgbClr val="FBBF24">
              <a:alpha val="45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2" name="anim_chart_scan_revenue_chart_0"/>
          <p:cNvSpPr/>
          <p:nvPr/>
        </p:nvSpPr>
        <p:spPr>
          <a:xfrm>
            <a:off x="3476625" y="3657600"/>
            <a:ext cx="188595" cy="192405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23" name="anim_chart_scan_revenue_chart_1"/>
          <p:cNvSpPr/>
          <p:nvPr/>
        </p:nvSpPr>
        <p:spPr>
          <a:xfrm>
            <a:off x="6305550" y="3657600"/>
            <a:ext cx="188595" cy="192405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24" name="anim_chart_scan_revenue_chart_2"/>
          <p:cNvSpPr/>
          <p:nvPr/>
        </p:nvSpPr>
        <p:spPr>
          <a:xfrm>
            <a:off x="9029700" y="3657600"/>
            <a:ext cx="188595" cy="1924050"/>
          </a:xfrm>
          <a:prstGeom prst="roundRect">
            <a:avLst/>
          </a:prstGeom>
          <a:solidFill>
            <a:srgbClr val="FBBF24">
              <a:alpha val="3500"/>
            </a:srgbClr>
          </a:solidFill>
          <a:ln>
            <a:noFill/>
          </a:ln>
        </p:spPr>
      </p:sp>
      <p:sp>
        <p:nvSpPr>
          <p:cNvPr id="25" name="anim_chart_dot_revenue_chart_0"/>
          <p:cNvSpPr/>
          <p:nvPr/>
        </p:nvSpPr>
        <p:spPr>
          <a:xfrm>
            <a:off x="3738563" y="5022532"/>
            <a:ext cx="104775" cy="104775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6" name="anim_chart_dot_revenue_chart_1"/>
          <p:cNvSpPr/>
          <p:nvPr/>
        </p:nvSpPr>
        <p:spPr>
          <a:xfrm>
            <a:off x="6881812" y="4611052"/>
            <a:ext cx="104775" cy="104775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7" name="anim_chart_dot_revenue_chart_2"/>
          <p:cNvSpPr/>
          <p:nvPr/>
        </p:nvSpPr>
        <p:spPr>
          <a:xfrm>
            <a:off x="9486900" y="4133850"/>
            <a:ext cx="133350" cy="133350"/>
          </a:xfrm>
          <a:prstGeom prst="ellipse">
            <a:avLst/>
          </a:prstGeom>
          <a:solidFill>
            <a:srgbClr val="FBBF24">
              <a:alpha val="47000"/>
            </a:srgbClr>
          </a:solidFill>
          <a:ln w="8890" cap="flat">
            <a:solidFill>
              <a:srgbClr val="FFFFFF">
                <a:alpha val="4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8" name="anim_chart_trendline_revenue_chart"/>
          <p:cNvSpPr/>
          <p:nvPr/>
        </p:nvSpPr>
        <p:spPr>
          <a:xfrm>
            <a:off x="2743200" y="4200525"/>
            <a:ext cx="7124700" cy="1028700"/>
          </a:xfrm>
          <a:prstGeom prst="line">
            <a:avLst/>
          </a:prstGeom>
          <a:noFill/>
          <a:ln w="17780" cap="flat">
            <a:solidFill>
              <a:srgbClr val="FBBF24">
                <a:alpha val="2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9" name="anim_box_frame_phase1_bg"/>
          <p:cNvSpPr/>
          <p:nvPr/>
        </p:nvSpPr>
        <p:spPr>
          <a:xfrm>
            <a:off x="838200" y="1219200"/>
            <a:ext cx="3276600" cy="1895475"/>
          </a:xfrm>
          <a:prstGeom prst="roundRect">
            <a:avLst/>
          </a:prstGeom>
          <a:noFill/>
          <a:ln w="16510" cap="flat">
            <a:solidFill>
              <a:srgbClr val="7C3AED">
                <a:alpha val="17000"/>
              </a:srgbClr>
            </a:solidFill>
            <a:prstDash val="solid"/>
          </a:ln>
        </p:spPr>
      </p:sp>
      <p:sp>
        <p:nvSpPr>
          <p:cNvPr id="30" name="anim_box_bar_phase1_bg"/>
          <p:cNvSpPr/>
          <p:nvPr/>
        </p:nvSpPr>
        <p:spPr>
          <a:xfrm>
            <a:off x="990600" y="1304925"/>
            <a:ext cx="712470" cy="28575"/>
          </a:xfrm>
          <a:prstGeom prst="roundRect">
            <a:avLst/>
          </a:prstGeom>
          <a:solidFill>
            <a:srgbClr val="FBBF24">
              <a:alpha val="22000"/>
            </a:srgbClr>
          </a:solidFill>
          <a:ln>
            <a:noFill/>
          </a:ln>
        </p:spPr>
      </p:sp>
      <p:sp>
        <p:nvSpPr>
          <p:cNvPr id="31" name="anim_box_frame_phase2_bg"/>
          <p:cNvSpPr/>
          <p:nvPr/>
        </p:nvSpPr>
        <p:spPr>
          <a:xfrm>
            <a:off x="4648200" y="1219200"/>
            <a:ext cx="3276600" cy="1895475"/>
          </a:xfrm>
          <a:prstGeom prst="roundRect">
            <a:avLst/>
          </a:prstGeom>
          <a:noFill/>
          <a:ln w="16510" cap="flat">
            <a:solidFill>
              <a:srgbClr val="7C3AED">
                <a:alpha val="17000"/>
              </a:srgbClr>
            </a:solidFill>
            <a:prstDash val="solid"/>
          </a:ln>
        </p:spPr>
      </p:sp>
      <p:sp>
        <p:nvSpPr>
          <p:cNvPr id="32" name="anim_box_bar_phase2_bg"/>
          <p:cNvSpPr/>
          <p:nvPr/>
        </p:nvSpPr>
        <p:spPr>
          <a:xfrm>
            <a:off x="4800600" y="1304925"/>
            <a:ext cx="712470" cy="28575"/>
          </a:xfrm>
          <a:prstGeom prst="roundRect">
            <a:avLst/>
          </a:prstGeom>
          <a:solidFill>
            <a:srgbClr val="FBBF24">
              <a:alpha val="22000"/>
            </a:srgbClr>
          </a:solidFill>
          <a:ln>
            <a:noFill/>
          </a:ln>
        </p:spPr>
      </p:sp>
      <p:sp>
        <p:nvSpPr>
          <p:cNvPr id="33" name="anim_box_frame_phase3_bg"/>
          <p:cNvSpPr/>
          <p:nvPr/>
        </p:nvSpPr>
        <p:spPr>
          <a:xfrm>
            <a:off x="8458200" y="1219200"/>
            <a:ext cx="3276600" cy="1895475"/>
          </a:xfrm>
          <a:prstGeom prst="roundRect">
            <a:avLst/>
          </a:prstGeom>
          <a:noFill/>
          <a:ln w="16510" cap="flat">
            <a:solidFill>
              <a:srgbClr val="7C3AED">
                <a:alpha val="17000"/>
              </a:srgbClr>
            </a:solidFill>
            <a:prstDash val="solid"/>
          </a:ln>
        </p:spPr>
      </p:sp>
      <p:sp>
        <p:nvSpPr>
          <p:cNvPr id="34" name="anim_box_bar_phase3_bg"/>
          <p:cNvSpPr/>
          <p:nvPr/>
        </p:nvSpPr>
        <p:spPr>
          <a:xfrm>
            <a:off x="8610600" y="1304925"/>
            <a:ext cx="712470" cy="28575"/>
          </a:xfrm>
          <a:prstGeom prst="roundRect">
            <a:avLst/>
          </a:prstGeom>
          <a:solidFill>
            <a:srgbClr val="FBBF24">
              <a:alpha val="22000"/>
            </a:srgbClr>
          </a:solidFill>
          <a:ln>
            <a:noFill/>
          </a:ln>
        </p:spPr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gg_peak_pil_render/slides/slide_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anim_chart_frame_fund_chart"/>
          <p:cNvSpPr/>
          <p:nvPr/>
        </p:nvSpPr>
        <p:spPr>
          <a:xfrm>
            <a:off x="6067425" y="1304925"/>
            <a:ext cx="5295900" cy="3867150"/>
          </a:xfrm>
          <a:prstGeom prst="roundRect">
            <a:avLst/>
          </a:prstGeom>
          <a:noFill/>
          <a:ln w="14605" cap="flat">
            <a:solidFill>
              <a:srgbClr val="7C3AED">
                <a:alpha val="26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1" name="anim_pie_ring_fund_chart"/>
          <p:cNvSpPr/>
          <p:nvPr/>
        </p:nvSpPr>
        <p:spPr>
          <a:xfrm>
            <a:off x="7943850" y="2362200"/>
            <a:ext cx="1752600" cy="1752600"/>
          </a:xfrm>
          <a:prstGeom prst="ellipse">
            <a:avLst/>
          </a:prstGeom>
          <a:noFill/>
          <a:ln w="27940" cap="flat">
            <a:solidFill>
              <a:srgbClr val="FBBF24">
                <a:alpha val="35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2" name="anim_pie_dot_fund_chart_0"/>
          <p:cNvSpPr/>
          <p:nvPr/>
        </p:nvSpPr>
        <p:spPr>
          <a:xfrm>
            <a:off x="10234612" y="2652712"/>
            <a:ext cx="104775" cy="104775"/>
          </a:xfrm>
          <a:prstGeom prst="ellipse">
            <a:avLst/>
          </a:prstGeom>
          <a:solidFill>
            <a:srgbClr val="FBBF24">
              <a:alpha val="42000"/>
            </a:srgbClr>
          </a:solidFill>
          <a:ln w="7620" cap="flat">
            <a:solidFill>
              <a:srgbClr val="FFFFFF">
                <a:alpha val="33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3" name="anim_pie_dot_fund_chart_1"/>
          <p:cNvSpPr/>
          <p:nvPr/>
        </p:nvSpPr>
        <p:spPr>
          <a:xfrm>
            <a:off x="8924925" y="2119312"/>
            <a:ext cx="104775" cy="104775"/>
          </a:xfrm>
          <a:prstGeom prst="ellipse">
            <a:avLst/>
          </a:prstGeom>
          <a:solidFill>
            <a:srgbClr val="FBBF24">
              <a:alpha val="42000"/>
            </a:srgbClr>
          </a:solidFill>
          <a:ln w="7620" cap="flat">
            <a:solidFill>
              <a:srgbClr val="FFFFFF">
                <a:alpha val="33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4" name="anim_pie_dot_fund_chart_2"/>
          <p:cNvSpPr/>
          <p:nvPr/>
        </p:nvSpPr>
        <p:spPr>
          <a:xfrm>
            <a:off x="7981950" y="3871912"/>
            <a:ext cx="104775" cy="104775"/>
          </a:xfrm>
          <a:prstGeom prst="ellipse">
            <a:avLst/>
          </a:prstGeom>
          <a:solidFill>
            <a:srgbClr val="FBBF24">
              <a:alpha val="42000"/>
            </a:srgbClr>
          </a:solidFill>
          <a:ln w="7620" cap="flat">
            <a:solidFill>
              <a:srgbClr val="FFFFFF">
                <a:alpha val="33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gg_peak_pil_render/slides/slide_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anim_logo_pulse"/>
          <p:cNvSpPr/>
          <p:nvPr/>
        </p:nvSpPr>
        <p:spPr>
          <a:xfrm>
            <a:off x="5753100" y="1447800"/>
            <a:ext cx="1162050" cy="1162050"/>
          </a:xfrm>
          <a:prstGeom prst="ellipse">
            <a:avLst/>
          </a:prstGeom>
          <a:noFill/>
          <a:ln w="17780" cap="flat">
            <a:solidFill>
              <a:srgbClr val="FBBF24">
                <a:alpha val="26000"/>
              </a:srgbClr>
            </a:solidFill>
            <a:prstDash val="solid"/>
          </a:ln>
          <a:effectLst>
            <a:glow rad="53340">
              <a:srgbClr val="FBBF24">
                <a:alpha val="42000"/>
              </a:srgbClr>
            </a:glow>
          </a:effectLst>
        </p:spPr>
      </p:sp>
      <p:sp>
        <p:nvSpPr>
          <p:cNvPr id="21" name="anim_final_microbar"/>
          <p:cNvSpPr/>
          <p:nvPr/>
        </p:nvSpPr>
        <p:spPr>
          <a:xfrm>
            <a:off x="3143250" y="4905375"/>
            <a:ext cx="1714500" cy="28575"/>
          </a:xfrm>
          <a:prstGeom prst="roundRect">
            <a:avLst/>
          </a:prstGeom>
          <a:solidFill>
            <a:srgbClr val="FBBF24">
              <a:alpha val="36000"/>
            </a:srgbClr>
          </a:solidFill>
          <a:ln>
            <a:noFill/>
          </a:ln>
          <a:effectLst>
            <a:glow rad="53340">
              <a:srgbClr val="FBBF24">
                <a:alpha val="42000"/>
              </a:srgbClr>
            </a:glow>
          </a:effectLst>
        </p:spPr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맑은 고딕"/>
        <a:cs typeface="Malgun Gothic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맑은 고딕"/>
        <a:cs typeface="Malgun Gothic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EGG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EGG PEAK IR 2026</dc:title>
  <dc:subject>EGG PEAK IR 2026 - PPTD extracted font-safe deck</dc:subject>
  <dc:creator>EGG</dc:creator>
  <cp:lastModifiedBy>EGG</cp:lastModifiedBy>
  <cp:revision>1</cp:revision>
  <dcterms:created xsi:type="dcterms:W3CDTF">2026-04-29T23:37:57Z</dcterms:created>
  <dcterms:modified xsi:type="dcterms:W3CDTF">2026-04-29T23:37:57Z</dcterms:modified>
</cp:coreProperties>
</file>